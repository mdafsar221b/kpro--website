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2" r:id="rId2"/>
    <p:sldMasterId id="2147483694" r:id="rId3"/>
    <p:sldMasterId id="2147483696" r:id="rId4"/>
    <p:sldMasterId id="2147483698" r:id="rId5"/>
  </p:sldMasterIdLst>
  <p:notesMasterIdLst>
    <p:notesMasterId r:id="rId28"/>
  </p:notesMasterIdLst>
  <p:sldIdLst>
    <p:sldId id="275" r:id="rId6"/>
    <p:sldId id="3439" r:id="rId7"/>
    <p:sldId id="286" r:id="rId8"/>
    <p:sldId id="290" r:id="rId9"/>
    <p:sldId id="383" r:id="rId10"/>
    <p:sldId id="3447" r:id="rId11"/>
    <p:sldId id="3456" r:id="rId12"/>
    <p:sldId id="3463" r:id="rId13"/>
    <p:sldId id="3457" r:id="rId14"/>
    <p:sldId id="3464" r:id="rId15"/>
    <p:sldId id="285" r:id="rId16"/>
    <p:sldId id="382" r:id="rId17"/>
    <p:sldId id="3458" r:id="rId18"/>
    <p:sldId id="3460" r:id="rId19"/>
    <p:sldId id="3459" r:id="rId20"/>
    <p:sldId id="3436" r:id="rId21"/>
    <p:sldId id="3442" r:id="rId22"/>
    <p:sldId id="3449" r:id="rId23"/>
    <p:sldId id="3450" r:id="rId24"/>
    <p:sldId id="3448" r:id="rId25"/>
    <p:sldId id="3455" r:id="rId26"/>
    <p:sldId id="345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077"/>
    <a:srgbClr val="5C8688"/>
    <a:srgbClr val="007A37"/>
    <a:srgbClr val="004C22"/>
    <a:srgbClr val="39639D"/>
    <a:srgbClr val="2DA2BF"/>
    <a:srgbClr val="464646"/>
    <a:srgbClr val="EB641B"/>
    <a:srgbClr val="F9741B"/>
    <a:srgbClr val="909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93" autoAdjust="0"/>
    <p:restoredTop sz="94726"/>
  </p:normalViewPr>
  <p:slideViewPr>
    <p:cSldViewPr snapToGrid="0">
      <p:cViewPr varScale="1">
        <p:scale>
          <a:sx n="120" d="100"/>
          <a:sy n="120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32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8BB0C2-CF45-4086-A474-7829EED8E2B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5384A-2140-4D72-95E9-49A366816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57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Description:</a:t>
            </a:r>
          </a:p>
          <a:p>
            <a:r>
              <a:rPr lang="en-US" dirty="0"/>
              <a:t>Description: Transitioning from a private to a public company through an IPO allows investors to sell their shares on the open market.</a:t>
            </a:r>
          </a:p>
          <a:p>
            <a:r>
              <a:rPr lang="en-US" dirty="0"/>
              <a:t>Strategy: Set milestones to reach the public market readiness, focusing on scalability and profitability to attract public investors.</a:t>
            </a:r>
          </a:p>
          <a:p>
            <a:r>
              <a:rPr lang="en-US" dirty="0"/>
              <a:t>Secondary Sale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5384A-2140-4D72-95E9-49A366816C1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92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ECD99-EAC7-9939-E24F-BCA474D8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E19F0-C710-FA85-4B04-680243CE9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5D1F8-E61E-EBD2-C129-BC7A6385D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Description:</a:t>
            </a:r>
          </a:p>
          <a:p>
            <a:r>
              <a:rPr lang="en-US" dirty="0"/>
              <a:t>Description: Transitioning from a private to a public company through an IPO allows investors to sell their shares on the open market.</a:t>
            </a:r>
          </a:p>
          <a:p>
            <a:r>
              <a:rPr lang="en-US" dirty="0"/>
              <a:t>Strategy: Set milestones to reach the public market readiness, focusing on scalability and profitability to attract public investors.</a:t>
            </a:r>
          </a:p>
          <a:p>
            <a:r>
              <a:rPr lang="en-US" dirty="0"/>
              <a:t>Secondary Sale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7AA77-7F3B-EB35-3BEE-C199089C0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5384A-2140-4D72-95E9-49A366816C1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68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302CC-8202-B510-39E2-ED3D8B462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EA37C-409B-8C6E-78BE-96066AA3E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E3DC2-A8B7-D414-4D4D-8AED0182A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Description:</a:t>
            </a:r>
          </a:p>
          <a:p>
            <a:r>
              <a:rPr lang="en-US" dirty="0"/>
              <a:t>Description: Transitioning from a private to a public company through an IPO allows investors to sell their shares on the open market.</a:t>
            </a:r>
          </a:p>
          <a:p>
            <a:r>
              <a:rPr lang="en-US" dirty="0"/>
              <a:t>Strategy: Set milestones to reach the public market readiness, focusing on scalability and profitability to attract public investors.</a:t>
            </a:r>
          </a:p>
          <a:p>
            <a:r>
              <a:rPr lang="en-US" dirty="0"/>
              <a:t>Secondary Sale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7A616-F645-E542-3880-DBCEED344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5384A-2140-4D72-95E9-49A366816C1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5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573" y="76200"/>
            <a:ext cx="11204027" cy="685800"/>
          </a:xfrm>
        </p:spPr>
        <p:txBody>
          <a:bodyPr anchor="ctr" anchorCtr="0">
            <a:normAutofit/>
          </a:bodyPr>
          <a:lstStyle>
            <a:lvl1pPr algn="l">
              <a:defRPr sz="4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0"/>
          <p:cNvSpPr txBox="1"/>
          <p:nvPr/>
        </p:nvSpPr>
        <p:spPr>
          <a:xfrm>
            <a:off x="46567" y="6394451"/>
            <a:ext cx="1921933" cy="338554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IN" sz="16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Slide</a:t>
            </a:r>
            <a:r>
              <a:rPr lang="en-IN" sz="16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fld id="{616AAFF0-0E81-4129-9957-916924B3B8FB}" type="slidenum">
              <a:rPr lang="en-IN" sz="160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>
                <a:defRPr/>
              </a:pPr>
              <a:t>‹#›</a:t>
            </a:fld>
            <a:endParaRPr lang="en-IN" sz="1600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46567" y="6394451"/>
            <a:ext cx="1921933" cy="338554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IN" sz="1600" b="1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Slide</a:t>
            </a:r>
            <a:r>
              <a:rPr lang="en-IN" sz="16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fld id="{616AAFF0-0E81-4129-9957-916924B3B8FB}" type="slidenum">
              <a:rPr lang="en-IN" sz="160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>
                <a:defRPr/>
              </a:pPr>
              <a:t>‹#›</a:t>
            </a:fld>
            <a:endParaRPr lang="en-IN" sz="1600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4" name="Picture 13" descr="ppt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06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C05C64-4CA9-4E62-965A-F65148339F4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716505"/>
            <a:ext cx="12192000" cy="19705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95020F2-7366-4750-8D66-99E1FCCB505E}"/>
              </a:ext>
            </a:extLst>
          </p:cNvPr>
          <p:cNvSpPr/>
          <p:nvPr/>
        </p:nvSpPr>
        <p:spPr>
          <a:xfrm flipV="1">
            <a:off x="666805" y="952443"/>
            <a:ext cx="11525195" cy="24384"/>
          </a:xfrm>
          <a:prstGeom prst="rect">
            <a:avLst/>
          </a:prstGeom>
          <a:solidFill>
            <a:srgbClr val="003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E1AE1A-0493-4E2C-9CC6-EC12A7D86049}"/>
              </a:ext>
            </a:extLst>
          </p:cNvPr>
          <p:cNvSpPr/>
          <p:nvPr/>
        </p:nvSpPr>
        <p:spPr>
          <a:xfrm>
            <a:off x="0" y="949200"/>
            <a:ext cx="609600" cy="24384"/>
          </a:xfrm>
          <a:prstGeom prst="rect">
            <a:avLst/>
          </a:prstGeom>
          <a:solidFill>
            <a:srgbClr val="F97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33D54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074D02-3081-41DE-8606-5F8F9DC88BD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407555" y="123628"/>
            <a:ext cx="1652365" cy="7422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88FBB7-71BC-46BC-9551-B10048DD0D23}"/>
              </a:ext>
            </a:extLst>
          </p:cNvPr>
          <p:cNvSpPr txBox="1"/>
          <p:nvPr userDrawn="1"/>
        </p:nvSpPr>
        <p:spPr>
          <a:xfrm>
            <a:off x="9568873" y="6394451"/>
            <a:ext cx="2623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10475D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www.kproai.com</a:t>
            </a:r>
            <a:endParaRPr lang="en-IN" sz="1600" dirty="0">
              <a:solidFill>
                <a:srgbClr val="10475D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FA9CCE7A-DD9D-4B45-8D90-0EDB2E20C4C6}"/>
              </a:ext>
            </a:extLst>
          </p:cNvPr>
          <p:cNvSpPr txBox="1"/>
          <p:nvPr userDrawn="1"/>
        </p:nvSpPr>
        <p:spPr>
          <a:xfrm>
            <a:off x="486501" y="6394451"/>
            <a:ext cx="1921933" cy="338554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616AAFF0-0E81-4129-9957-916924B3B8FB}" type="slidenum">
              <a:rPr lang="en-IN" sz="1600" smtClean="0">
                <a:solidFill>
                  <a:srgbClr val="10475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>
                <a:defRPr/>
              </a:pPr>
              <a:t>‹#›</a:t>
            </a:fld>
            <a:endParaRPr lang="en-IN" sz="1600" dirty="0">
              <a:solidFill>
                <a:srgbClr val="10475D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C05C64-4CA9-4E62-965A-F65148339F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716505"/>
            <a:ext cx="12192000" cy="19705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95020F2-7366-4750-8D66-99E1FCCB505E}"/>
              </a:ext>
            </a:extLst>
          </p:cNvPr>
          <p:cNvSpPr/>
          <p:nvPr userDrawn="1"/>
        </p:nvSpPr>
        <p:spPr>
          <a:xfrm flipV="1">
            <a:off x="666805" y="952443"/>
            <a:ext cx="11525195" cy="24384"/>
          </a:xfrm>
          <a:prstGeom prst="rect">
            <a:avLst/>
          </a:prstGeom>
          <a:solidFill>
            <a:srgbClr val="003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E1AE1A-0493-4E2C-9CC6-EC12A7D86049}"/>
              </a:ext>
            </a:extLst>
          </p:cNvPr>
          <p:cNvSpPr/>
          <p:nvPr userDrawn="1"/>
        </p:nvSpPr>
        <p:spPr>
          <a:xfrm>
            <a:off x="0" y="949200"/>
            <a:ext cx="609600" cy="24384"/>
          </a:xfrm>
          <a:prstGeom prst="rect">
            <a:avLst/>
          </a:prstGeom>
          <a:solidFill>
            <a:srgbClr val="F975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033D54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4074D02-3081-41DE-8606-5F8F9DC88BD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407555" y="123628"/>
            <a:ext cx="1652365" cy="74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77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0BD3-7448-41F4-9B97-1ABB3281F202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B2797-8001-4CB7-BB2D-25E204C6D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67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05156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3916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rgbClr val="CDCDCD"/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05156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181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05156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5930DF0-104B-4293-A7F6-66AEFF3E6AF8}"/>
              </a:ext>
            </a:extLst>
          </p:cNvPr>
          <p:cNvGrpSpPr/>
          <p:nvPr userDrawn="1"/>
        </p:nvGrpSpPr>
        <p:grpSpPr>
          <a:xfrm>
            <a:off x="12554553" y="1"/>
            <a:ext cx="1647523" cy="1816099"/>
            <a:chOff x="12554553" y="1"/>
            <a:chExt cx="1647523" cy="1816099"/>
          </a:xfrm>
          <a:solidFill>
            <a:schemeClr val="accent6"/>
          </a:solidFill>
        </p:grpSpPr>
        <p:sp>
          <p:nvSpPr>
            <p:cNvPr id="4" name="Rectangle: Folded Corner 3">
              <a:extLst>
                <a:ext uri="{FF2B5EF4-FFF2-40B4-BE49-F238E27FC236}">
                  <a16:creationId xmlns:a16="http://schemas.microsoft.com/office/drawing/2014/main" id="{9FDF5E90-AE29-4303-979F-161F791D98BB}"/>
                </a:ext>
              </a:extLst>
            </p:cNvPr>
            <p:cNvSpPr/>
            <p:nvPr userDrawn="1"/>
          </p:nvSpPr>
          <p:spPr>
            <a:xfrm>
              <a:off x="12554553" y="1"/>
              <a:ext cx="1644047" cy="1816099"/>
            </a:xfrm>
            <a:prstGeom prst="foldedCorner">
              <a:avLst/>
            </a:prstGeom>
            <a:grpFill/>
            <a:ln>
              <a:noFill/>
            </a:ln>
            <a:effectLst>
              <a:outerShdw blurRad="1016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Ins="0" rtlCol="0" anchor="t"/>
            <a:lstStyle/>
            <a:p>
              <a:r>
                <a:rPr lang="en-US" sz="1400">
                  <a:solidFill>
                    <a:schemeClr val="accent6">
                      <a:lumMod val="50000"/>
                    </a:schemeClr>
                  </a:solidFill>
                </a:rPr>
                <a:t>To insert your own icons*:</a:t>
              </a:r>
            </a:p>
            <a:p>
              <a:endParaRPr lang="en-US" sz="1400">
                <a:solidFill>
                  <a:schemeClr val="accent6">
                    <a:lumMod val="50000"/>
                  </a:schemeClr>
                </a:solidFill>
              </a:endParaRPr>
            </a:p>
            <a:p>
              <a:r>
                <a:rPr lang="en-US" sz="1400" b="1">
                  <a:solidFill>
                    <a:schemeClr val="accent6">
                      <a:lumMod val="50000"/>
                    </a:schemeClr>
                  </a:solidFill>
                </a:rPr>
                <a:t>Insert</a:t>
              </a:r>
              <a:r>
                <a:rPr lang="en-US" sz="1400">
                  <a:solidFill>
                    <a:schemeClr val="accent6">
                      <a:lumMod val="50000"/>
                    </a:schemeClr>
                  </a:solidFill>
                </a:rPr>
                <a:t> &gt;&gt; </a:t>
              </a:r>
              <a:r>
                <a:rPr lang="en-US" sz="1400" b="1">
                  <a:solidFill>
                    <a:schemeClr val="accent6">
                      <a:lumMod val="50000"/>
                    </a:schemeClr>
                  </a:solidFill>
                </a:rPr>
                <a:t>Icons</a:t>
              </a:r>
            </a:p>
            <a:p>
              <a:endParaRPr lang="en-US" sz="1400">
                <a:solidFill>
                  <a:schemeClr val="accent6">
                    <a:lumMod val="50000"/>
                  </a:schemeClr>
                </a:solidFill>
              </a:endParaRPr>
            </a:p>
            <a:p>
              <a:r>
                <a:rPr lang="en-US" sz="1200" i="1">
                  <a:solidFill>
                    <a:schemeClr val="accent6">
                      <a:lumMod val="50000"/>
                    </a:schemeClr>
                  </a:solidFill>
                </a:rPr>
                <a:t>(*Only available to Office 365 subscribers)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C25032D-D31A-446E-BBAA-A896C50E8C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802026" y="424090"/>
              <a:ext cx="400050" cy="657225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91594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05156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5930DF0-104B-4293-A7F6-66AEFF3E6AF8}"/>
              </a:ext>
            </a:extLst>
          </p:cNvPr>
          <p:cNvGrpSpPr/>
          <p:nvPr userDrawn="1"/>
        </p:nvGrpSpPr>
        <p:grpSpPr>
          <a:xfrm>
            <a:off x="12554553" y="1"/>
            <a:ext cx="1647523" cy="1816099"/>
            <a:chOff x="12554553" y="1"/>
            <a:chExt cx="1647523" cy="1816099"/>
          </a:xfrm>
        </p:grpSpPr>
        <p:sp>
          <p:nvSpPr>
            <p:cNvPr id="4" name="Rectangle: Folded Corner 3">
              <a:extLst>
                <a:ext uri="{FF2B5EF4-FFF2-40B4-BE49-F238E27FC236}">
                  <a16:creationId xmlns:a16="http://schemas.microsoft.com/office/drawing/2014/main" id="{9FDF5E90-AE29-4303-979F-161F791D98BB}"/>
                </a:ext>
              </a:extLst>
            </p:cNvPr>
            <p:cNvSpPr/>
            <p:nvPr userDrawn="1"/>
          </p:nvSpPr>
          <p:spPr>
            <a:xfrm>
              <a:off x="12554553" y="1"/>
              <a:ext cx="1644047" cy="1816099"/>
            </a:xfrm>
            <a:prstGeom prst="foldedCorner">
              <a:avLst/>
            </a:prstGeom>
            <a:ln>
              <a:noFill/>
            </a:ln>
            <a:effectLst>
              <a:outerShdw blurRad="1016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Ins="0" rtlCol="0" anchor="t"/>
            <a:lstStyle/>
            <a:p>
              <a:r>
                <a:rPr lang="en-US" sz="1400">
                  <a:solidFill>
                    <a:schemeClr val="accent2">
                      <a:lumMod val="50000"/>
                    </a:schemeClr>
                  </a:solidFill>
                </a:rPr>
                <a:t>To insert your own icons*:</a:t>
              </a:r>
            </a:p>
            <a:p>
              <a:endParaRPr lang="en-US" sz="1400">
                <a:solidFill>
                  <a:schemeClr val="accent2">
                    <a:lumMod val="50000"/>
                  </a:schemeClr>
                </a:solidFill>
              </a:endParaRPr>
            </a:p>
            <a:p>
              <a:r>
                <a:rPr lang="en-US" sz="1400" b="1">
                  <a:solidFill>
                    <a:schemeClr val="accent2">
                      <a:lumMod val="50000"/>
                    </a:schemeClr>
                  </a:solidFill>
                </a:rPr>
                <a:t>Insert</a:t>
              </a:r>
              <a:r>
                <a:rPr lang="en-US" sz="1400">
                  <a:solidFill>
                    <a:schemeClr val="accent2">
                      <a:lumMod val="50000"/>
                    </a:schemeClr>
                  </a:solidFill>
                </a:rPr>
                <a:t> &gt;&gt; </a:t>
              </a:r>
              <a:r>
                <a:rPr lang="en-US" sz="1400" b="1">
                  <a:solidFill>
                    <a:schemeClr val="accent2">
                      <a:lumMod val="50000"/>
                    </a:schemeClr>
                  </a:solidFill>
                </a:rPr>
                <a:t>Icons</a:t>
              </a:r>
            </a:p>
            <a:p>
              <a:endParaRPr lang="en-US" sz="1400">
                <a:solidFill>
                  <a:schemeClr val="accent2">
                    <a:lumMod val="50000"/>
                  </a:schemeClr>
                </a:solidFill>
              </a:endParaRPr>
            </a:p>
            <a:p>
              <a:r>
                <a:rPr lang="en-US" sz="1200" i="1">
                  <a:solidFill>
                    <a:schemeClr val="accent2">
                      <a:lumMod val="50000"/>
                    </a:schemeClr>
                  </a:solidFill>
                </a:rPr>
                <a:t>(*Only available to Office 365 subscribers)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C25032D-D31A-446E-BBAA-A896C50E8C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802026" y="424090"/>
              <a:ext cx="400050" cy="657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4189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8050E-B668-4FA7-85AD-C750C80A6E9B}" type="datetimeFigureOut">
              <a:rPr lang="en-US" smtClean="0"/>
              <a:pPr/>
              <a:t>9/30/26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rgbClr val="FF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74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691" r:id="rId3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.com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2701" y="6959601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3" tooltip="PresentationGo!"/>
              </a:rPr>
              <a:t>presentationgo.com</a:t>
            </a:r>
            <a:endParaRPr lang="en-US" sz="1100" dirty="0"/>
          </a:p>
        </p:txBody>
      </p:sp>
      <p:sp>
        <p:nvSpPr>
          <p:cNvPr id="13" name="Freeform 12"/>
          <p:cNvSpPr/>
          <p:nvPr userDrawn="1"/>
        </p:nvSpPr>
        <p:spPr>
          <a:xfrm rot="5400000">
            <a:off x="91178" y="173588"/>
            <a:ext cx="369496" cy="570902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-1654908" y="-16654"/>
            <a:ext cx="1569183" cy="612144"/>
            <a:chOff x="-2096383" y="21447"/>
            <a:chExt cx="1569183" cy="612144"/>
          </a:xfrm>
        </p:grpSpPr>
        <p:sp>
          <p:nvSpPr>
            <p:cNvPr id="15" name="TextBox 14"/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6" name="TextBox 15"/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5140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.com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2701" y="6959601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3" tooltip="PresentationGo!"/>
              </a:rPr>
              <a:t>presentationgo.com</a:t>
            </a:r>
            <a:endParaRPr lang="en-US" sz="1100" dirty="0"/>
          </a:p>
        </p:txBody>
      </p:sp>
      <p:sp>
        <p:nvSpPr>
          <p:cNvPr id="13" name="Freeform 12"/>
          <p:cNvSpPr/>
          <p:nvPr userDrawn="1"/>
        </p:nvSpPr>
        <p:spPr>
          <a:xfrm rot="5400000">
            <a:off x="91178" y="173588"/>
            <a:ext cx="369496" cy="570902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-1654908" y="-16654"/>
            <a:ext cx="1569183" cy="612144"/>
            <a:chOff x="-2096383" y="21447"/>
            <a:chExt cx="1569183" cy="612144"/>
          </a:xfrm>
        </p:grpSpPr>
        <p:sp>
          <p:nvSpPr>
            <p:cNvPr id="15" name="TextBox 14"/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6" name="TextBox 15"/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1869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.com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2701" y="6959601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3" tooltip="PresentationGo!"/>
              </a:rPr>
              <a:t>presentationgo.com</a:t>
            </a:r>
            <a:endParaRPr lang="en-US" sz="1100" dirty="0"/>
          </a:p>
        </p:txBody>
      </p:sp>
      <p:sp>
        <p:nvSpPr>
          <p:cNvPr id="13" name="Freeform 12"/>
          <p:cNvSpPr/>
          <p:nvPr userDrawn="1"/>
        </p:nvSpPr>
        <p:spPr>
          <a:xfrm rot="5400000">
            <a:off x="91178" y="173588"/>
            <a:ext cx="369496" cy="570902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-1654908" y="-16654"/>
            <a:ext cx="1569183" cy="612144"/>
            <a:chOff x="-2096383" y="21447"/>
            <a:chExt cx="1569183" cy="612144"/>
          </a:xfrm>
        </p:grpSpPr>
        <p:sp>
          <p:nvSpPr>
            <p:cNvPr id="15" name="TextBox 14"/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6" name="TextBox 15"/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4177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1"/>
            <a:ext cx="12192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.com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2701" y="6959601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3" tooltip="PresentationGo!"/>
              </a:rPr>
              <a:t>presentationgo.com</a:t>
            </a:r>
            <a:endParaRPr lang="en-US" sz="1100" dirty="0"/>
          </a:p>
        </p:txBody>
      </p:sp>
      <p:sp>
        <p:nvSpPr>
          <p:cNvPr id="13" name="Freeform 12"/>
          <p:cNvSpPr/>
          <p:nvPr userDrawn="1"/>
        </p:nvSpPr>
        <p:spPr>
          <a:xfrm rot="5400000">
            <a:off x="91178" y="173588"/>
            <a:ext cx="369496" cy="570902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-1654908" y="-16654"/>
            <a:ext cx="1569183" cy="612144"/>
            <a:chOff x="-2096383" y="21447"/>
            <a:chExt cx="1569183" cy="612144"/>
          </a:xfrm>
        </p:grpSpPr>
        <p:sp>
          <p:nvSpPr>
            <p:cNvPr id="15" name="TextBox 14"/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6" name="TextBox 15"/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1556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tiff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nkd.in/ggdyvE9w" TargetMode="External"/><Relationship Id="rId4" Type="http://schemas.openxmlformats.org/officeDocument/2006/relationships/hyperlink" Target="https://lnkd.in/ggPKKHQU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7" Type="http://schemas.openxmlformats.org/officeDocument/2006/relationships/image" Target="../media/image38.png"/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263768" y="287507"/>
            <a:ext cx="11664462" cy="6282984"/>
          </a:xfrm>
          <a:prstGeom prst="rect">
            <a:avLst/>
          </a:prstGeom>
          <a:solidFill>
            <a:srgbClr val="033D5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263768" y="393895"/>
            <a:ext cx="5321099" cy="6114172"/>
          </a:xfrm>
          <a:custGeom>
            <a:avLst/>
            <a:gdLst>
              <a:gd name="connsiteX0" fmla="*/ 0 w 5321099"/>
              <a:gd name="connsiteY0" fmla="*/ 0 h 6114172"/>
              <a:gd name="connsiteX1" fmla="*/ 1752885 w 5321099"/>
              <a:gd name="connsiteY1" fmla="*/ 0 h 6114172"/>
              <a:gd name="connsiteX2" fmla="*/ 1756329 w 5321099"/>
              <a:gd name="connsiteY2" fmla="*/ 1754 h 6114172"/>
              <a:gd name="connsiteX3" fmla="*/ 5232844 w 5321099"/>
              <a:gd name="connsiteY3" fmla="*/ 2962374 h 6114172"/>
              <a:gd name="connsiteX4" fmla="*/ 4127342 w 5321099"/>
              <a:gd name="connsiteY4" fmla="*/ 5165300 h 6114172"/>
              <a:gd name="connsiteX5" fmla="*/ 2702123 w 5321099"/>
              <a:gd name="connsiteY5" fmla="*/ 6053689 h 6114172"/>
              <a:gd name="connsiteX6" fmla="*/ 2447590 w 5321099"/>
              <a:gd name="connsiteY6" fmla="*/ 6114172 h 6114172"/>
              <a:gd name="connsiteX7" fmla="*/ 0 w 5321099"/>
              <a:gd name="connsiteY7" fmla="*/ 6114172 h 611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21099" h="6114172">
                <a:moveTo>
                  <a:pt x="0" y="0"/>
                </a:moveTo>
                <a:lnTo>
                  <a:pt x="1752885" y="0"/>
                </a:lnTo>
                <a:lnTo>
                  <a:pt x="1756329" y="1754"/>
                </a:lnTo>
                <a:cubicBezTo>
                  <a:pt x="2716371" y="492851"/>
                  <a:pt x="4837675" y="2101782"/>
                  <a:pt x="5232844" y="2962374"/>
                </a:cubicBezTo>
                <a:cubicBezTo>
                  <a:pt x="5628012" y="3822964"/>
                  <a:pt x="4595241" y="4639123"/>
                  <a:pt x="4127342" y="5165300"/>
                </a:cubicBezTo>
                <a:cubicBezTo>
                  <a:pt x="3717930" y="5625706"/>
                  <a:pt x="3315943" y="5887368"/>
                  <a:pt x="2702123" y="6053689"/>
                </a:cubicBezTo>
                <a:lnTo>
                  <a:pt x="2447590" y="6114172"/>
                </a:lnTo>
                <a:lnTo>
                  <a:pt x="0" y="6114172"/>
                </a:lnTo>
                <a:close/>
              </a:path>
            </a:pathLst>
          </a:custGeom>
          <a:solidFill>
            <a:srgbClr val="F9751C"/>
          </a:solidFill>
          <a:ln cmpd="sng">
            <a:solidFill>
              <a:srgbClr val="F975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252317" y="287508"/>
            <a:ext cx="5129517" cy="6282984"/>
          </a:xfrm>
          <a:custGeom>
            <a:avLst/>
            <a:gdLst>
              <a:gd name="connsiteX0" fmla="*/ 0 w 5118063"/>
              <a:gd name="connsiteY0" fmla="*/ 0 h 6282984"/>
              <a:gd name="connsiteX1" fmla="*/ 1624127 w 5118063"/>
              <a:gd name="connsiteY1" fmla="*/ 0 h 6282984"/>
              <a:gd name="connsiteX2" fmla="*/ 1627500 w 5118063"/>
              <a:gd name="connsiteY2" fmla="*/ 1802 h 6282984"/>
              <a:gd name="connsiteX3" fmla="*/ 5031645 w 5118063"/>
              <a:gd name="connsiteY3" fmla="*/ 3044165 h 6282984"/>
              <a:gd name="connsiteX4" fmla="*/ 3949156 w 5118063"/>
              <a:gd name="connsiteY4" fmla="*/ 5307914 h 6282984"/>
              <a:gd name="connsiteX5" fmla="*/ 2553606 w 5118063"/>
              <a:gd name="connsiteY5" fmla="*/ 6220831 h 6282984"/>
              <a:gd name="connsiteX6" fmla="*/ 2304371 w 5118063"/>
              <a:gd name="connsiteY6" fmla="*/ 6282984 h 6282984"/>
              <a:gd name="connsiteX7" fmla="*/ 0 w 5118063"/>
              <a:gd name="connsiteY7" fmla="*/ 6282984 h 6282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18063" h="6282984">
                <a:moveTo>
                  <a:pt x="0" y="0"/>
                </a:moveTo>
                <a:lnTo>
                  <a:pt x="1624127" y="0"/>
                </a:lnTo>
                <a:lnTo>
                  <a:pt x="1627500" y="1802"/>
                </a:lnTo>
                <a:cubicBezTo>
                  <a:pt x="2567557" y="506459"/>
                  <a:pt x="4644703" y="2159812"/>
                  <a:pt x="5031645" y="3044165"/>
                </a:cubicBezTo>
                <a:cubicBezTo>
                  <a:pt x="5418587" y="3928516"/>
                  <a:pt x="4407315" y="4767209"/>
                  <a:pt x="3949156" y="5307914"/>
                </a:cubicBezTo>
                <a:cubicBezTo>
                  <a:pt x="3548266" y="5781031"/>
                  <a:pt x="3154648" y="6049918"/>
                  <a:pt x="2553606" y="6220831"/>
                </a:cubicBezTo>
                <a:lnTo>
                  <a:pt x="2304371" y="6282984"/>
                </a:lnTo>
                <a:lnTo>
                  <a:pt x="0" y="6282984"/>
                </a:lnTo>
                <a:close/>
              </a:path>
            </a:pathLst>
          </a:custGeom>
          <a:blipFill dpi="0" rotWithShape="1">
            <a:blip r:embed="rId2"/>
            <a:srcRect/>
            <a:tile tx="0" ty="4445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57" y="3015832"/>
            <a:ext cx="2993888" cy="1424511"/>
          </a:xfrm>
          <a:prstGeom prst="rect">
            <a:avLst/>
          </a:prstGeom>
          <a:gradFill flip="none" rotWithShape="1">
            <a:gsLst>
              <a:gs pos="14000">
                <a:srgbClr val="97AFBB">
                  <a:lumMod val="0"/>
                  <a:lumOff val="100000"/>
                </a:srgbClr>
              </a:gs>
              <a:gs pos="72000">
                <a:srgbClr val="7EA1D3">
                  <a:alpha val="1000"/>
                </a:srgbClr>
              </a:gs>
            </a:gsLst>
            <a:lin ang="16200000" scaled="0"/>
            <a:tileRect/>
          </a:gradFill>
          <a:effectLst>
            <a:outerShdw sx="1000" sy="1000" algn="ctr" rotWithShape="0">
              <a:srgbClr val="000000"/>
            </a:outerShdw>
            <a:softEdge rad="0"/>
          </a:effectLst>
        </p:spPr>
      </p:pic>
      <p:sp>
        <p:nvSpPr>
          <p:cNvPr id="18" name="Freeform 17"/>
          <p:cNvSpPr/>
          <p:nvPr/>
        </p:nvSpPr>
        <p:spPr>
          <a:xfrm flipH="1">
            <a:off x="10241279" y="287507"/>
            <a:ext cx="1675496" cy="1801544"/>
          </a:xfrm>
          <a:custGeom>
            <a:avLst/>
            <a:gdLst>
              <a:gd name="connsiteX0" fmla="*/ 1066750 w 1486483"/>
              <a:gd name="connsiteY0" fmla="*/ 0 h 1725050"/>
              <a:gd name="connsiteX1" fmla="*/ 0 w 1486483"/>
              <a:gd name="connsiteY1" fmla="*/ 0 h 1725050"/>
              <a:gd name="connsiteX2" fmla="*/ 0 w 1486483"/>
              <a:gd name="connsiteY2" fmla="*/ 1725050 h 1725050"/>
              <a:gd name="connsiteX3" fmla="*/ 560305 w 1486483"/>
              <a:gd name="connsiteY3" fmla="*/ 1725050 h 1725050"/>
              <a:gd name="connsiteX4" fmla="*/ 642345 w 1486483"/>
              <a:gd name="connsiteY4" fmla="*/ 1701880 h 1725050"/>
              <a:gd name="connsiteX5" fmla="*/ 1101716 w 1486483"/>
              <a:gd name="connsiteY5" fmla="*/ 1361548 h 1725050"/>
              <a:gd name="connsiteX6" fmla="*/ 1458037 w 1486483"/>
              <a:gd name="connsiteY6" fmla="*/ 517632 h 1725050"/>
              <a:gd name="connsiteX7" fmla="*/ 1129110 w 1486483"/>
              <a:gd name="connsiteY7" fmla="*/ 63496 h 172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6483" h="1725050">
                <a:moveTo>
                  <a:pt x="1066750" y="0"/>
                </a:moveTo>
                <a:lnTo>
                  <a:pt x="0" y="0"/>
                </a:lnTo>
                <a:lnTo>
                  <a:pt x="0" y="1725050"/>
                </a:lnTo>
                <a:lnTo>
                  <a:pt x="560305" y="1725050"/>
                </a:lnTo>
                <a:lnTo>
                  <a:pt x="642345" y="1701880"/>
                </a:lnTo>
                <a:cubicBezTo>
                  <a:pt x="840189" y="1638164"/>
                  <a:pt x="969756" y="1537924"/>
                  <a:pt x="1101716" y="1361548"/>
                </a:cubicBezTo>
                <a:cubicBezTo>
                  <a:pt x="1252527" y="1159975"/>
                  <a:pt x="1585406" y="847314"/>
                  <a:pt x="1458037" y="517632"/>
                </a:cubicBezTo>
                <a:cubicBezTo>
                  <a:pt x="1410274" y="394001"/>
                  <a:pt x="1284272" y="230055"/>
                  <a:pt x="1129110" y="63496"/>
                </a:cubicBezTo>
                <a:close/>
              </a:path>
            </a:pathLst>
          </a:custGeom>
          <a:solidFill>
            <a:srgbClr val="F9751C"/>
          </a:solidFill>
          <a:ln>
            <a:solidFill>
              <a:srgbClr val="F975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 18"/>
          <p:cNvSpPr/>
          <p:nvPr/>
        </p:nvSpPr>
        <p:spPr>
          <a:xfrm flipH="1">
            <a:off x="10342094" y="287506"/>
            <a:ext cx="1586135" cy="1829681"/>
          </a:xfrm>
          <a:custGeom>
            <a:avLst/>
            <a:gdLst>
              <a:gd name="connsiteX0" fmla="*/ 1066750 w 1486483"/>
              <a:gd name="connsiteY0" fmla="*/ 0 h 1725050"/>
              <a:gd name="connsiteX1" fmla="*/ 0 w 1486483"/>
              <a:gd name="connsiteY1" fmla="*/ 0 h 1725050"/>
              <a:gd name="connsiteX2" fmla="*/ 0 w 1486483"/>
              <a:gd name="connsiteY2" fmla="*/ 1725050 h 1725050"/>
              <a:gd name="connsiteX3" fmla="*/ 560305 w 1486483"/>
              <a:gd name="connsiteY3" fmla="*/ 1725050 h 1725050"/>
              <a:gd name="connsiteX4" fmla="*/ 642345 w 1486483"/>
              <a:gd name="connsiteY4" fmla="*/ 1701880 h 1725050"/>
              <a:gd name="connsiteX5" fmla="*/ 1101716 w 1486483"/>
              <a:gd name="connsiteY5" fmla="*/ 1361548 h 1725050"/>
              <a:gd name="connsiteX6" fmla="*/ 1458037 w 1486483"/>
              <a:gd name="connsiteY6" fmla="*/ 517632 h 1725050"/>
              <a:gd name="connsiteX7" fmla="*/ 1129110 w 1486483"/>
              <a:gd name="connsiteY7" fmla="*/ 63496 h 172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6483" h="1725050">
                <a:moveTo>
                  <a:pt x="1066750" y="0"/>
                </a:moveTo>
                <a:lnTo>
                  <a:pt x="0" y="0"/>
                </a:lnTo>
                <a:lnTo>
                  <a:pt x="0" y="1725050"/>
                </a:lnTo>
                <a:lnTo>
                  <a:pt x="560305" y="1725050"/>
                </a:lnTo>
                <a:lnTo>
                  <a:pt x="642345" y="1701880"/>
                </a:lnTo>
                <a:cubicBezTo>
                  <a:pt x="840189" y="1638164"/>
                  <a:pt x="969756" y="1537924"/>
                  <a:pt x="1101716" y="1361548"/>
                </a:cubicBezTo>
                <a:cubicBezTo>
                  <a:pt x="1252527" y="1159975"/>
                  <a:pt x="1585406" y="847314"/>
                  <a:pt x="1458037" y="517632"/>
                </a:cubicBezTo>
                <a:cubicBezTo>
                  <a:pt x="1410274" y="394001"/>
                  <a:pt x="1284272" y="230055"/>
                  <a:pt x="1129110" y="63496"/>
                </a:cubicBezTo>
                <a:close/>
              </a:path>
            </a:pathLst>
          </a:custGeom>
          <a:blipFill dpi="0" rotWithShape="0">
            <a:blip r:embed="rId4"/>
            <a:srcRect/>
            <a:stretch>
              <a:fillRect l="-37000" t="-1000" r="-49000" b="1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89296" y="3312588"/>
            <a:ext cx="5936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srgbClr val="F9751C"/>
                </a:solidFill>
                <a:latin typeface="Calibri" panose="020F0502020204030204"/>
              </a:rPr>
              <a:t>Kpro Solutions Pvt. Ltd.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F9751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66700" y="4493078"/>
            <a:ext cx="4023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97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www.kpro</a:t>
            </a:r>
            <a:r>
              <a:rPr lang="en-US" sz="2000" dirty="0">
                <a:solidFill>
                  <a:srgbClr val="F9751C"/>
                </a:solidFill>
                <a:latin typeface="Calibri" panose="020F0502020204030204"/>
              </a:rPr>
              <a:t>ai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97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.com</a:t>
            </a:r>
          </a:p>
        </p:txBody>
      </p:sp>
    </p:spTree>
    <p:extLst>
      <p:ext uri="{BB962C8B-B14F-4D97-AF65-F5344CB8AC3E}">
        <p14:creationId xmlns:p14="http://schemas.microsoft.com/office/powerpoint/2010/main" val="2501903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4439B3-F851-BB45-968A-6C8EADD973DF}"/>
              </a:ext>
            </a:extLst>
          </p:cNvPr>
          <p:cNvSpPr txBox="1"/>
          <p:nvPr/>
        </p:nvSpPr>
        <p:spPr>
          <a:xfrm>
            <a:off x="146997" y="75659"/>
            <a:ext cx="9245600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1219170">
              <a:lnSpc>
                <a:spcPct val="150000"/>
              </a:lnSpc>
              <a:buClr>
                <a:srgbClr val="0070C0"/>
              </a:buClr>
              <a:defRPr/>
            </a:pPr>
            <a:r>
              <a:rPr lang="en-US" sz="3200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99305F-F879-584E-A2F2-2CA704B74207}"/>
              </a:ext>
            </a:extLst>
          </p:cNvPr>
          <p:cNvSpPr txBox="1"/>
          <p:nvPr/>
        </p:nvSpPr>
        <p:spPr>
          <a:xfrm>
            <a:off x="2075957" y="1325012"/>
            <a:ext cx="49421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About Kpro	</a:t>
            </a:r>
            <a:endParaRPr lang="en-US" dirty="0"/>
          </a:p>
          <a:p>
            <a:r>
              <a:rPr lang="en-US" sz="2400" dirty="0"/>
              <a:t>Our Clients</a:t>
            </a:r>
          </a:p>
          <a:p>
            <a:r>
              <a:rPr lang="en-US" sz="2400" dirty="0"/>
              <a:t>Our Team</a:t>
            </a:r>
            <a:endParaRPr lang="en-US" dirty="0"/>
          </a:p>
          <a:p>
            <a:pPr marL="0" lvl="2"/>
            <a:r>
              <a:rPr lang="en-US" sz="2400" dirty="0"/>
              <a:t>Our Products</a:t>
            </a:r>
          </a:p>
          <a:p>
            <a:pPr marL="0" lvl="2"/>
            <a:endParaRPr lang="en-US" sz="2400" dirty="0"/>
          </a:p>
          <a:p>
            <a:pPr marL="0" lvl="2"/>
            <a:endParaRPr lang="en-US" sz="2400" dirty="0"/>
          </a:p>
        </p:txBody>
      </p:sp>
      <p:sp>
        <p:nvSpPr>
          <p:cNvPr id="21" name="矩形 35">
            <a:extLst>
              <a:ext uri="{FF2B5EF4-FFF2-40B4-BE49-F238E27FC236}">
                <a16:creationId xmlns:a16="http://schemas.microsoft.com/office/drawing/2014/main" id="{2450EAEE-CCBF-BB5C-8BC6-1D491033D669}"/>
              </a:ext>
            </a:extLst>
          </p:cNvPr>
          <p:cNvSpPr/>
          <p:nvPr/>
        </p:nvSpPr>
        <p:spPr>
          <a:xfrm>
            <a:off x="1911485" y="1840968"/>
            <a:ext cx="180000" cy="180000"/>
          </a:xfrm>
          <a:prstGeom prst="rect">
            <a:avLst/>
          </a:prstGeom>
          <a:solidFill>
            <a:srgbClr val="2C99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59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35">
            <a:extLst>
              <a:ext uri="{FF2B5EF4-FFF2-40B4-BE49-F238E27FC236}">
                <a16:creationId xmlns:a16="http://schemas.microsoft.com/office/drawing/2014/main" id="{38542EBF-CFDE-DF21-6D14-DCDB87BC20FF}"/>
              </a:ext>
            </a:extLst>
          </p:cNvPr>
          <p:cNvSpPr/>
          <p:nvPr/>
        </p:nvSpPr>
        <p:spPr>
          <a:xfrm>
            <a:off x="1911485" y="2210935"/>
            <a:ext cx="180000" cy="180000"/>
          </a:xfrm>
          <a:prstGeom prst="rect">
            <a:avLst/>
          </a:prstGeom>
          <a:solidFill>
            <a:srgbClr val="2C99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59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矩形 35">
            <a:extLst>
              <a:ext uri="{FF2B5EF4-FFF2-40B4-BE49-F238E27FC236}">
                <a16:creationId xmlns:a16="http://schemas.microsoft.com/office/drawing/2014/main" id="{CF1DA4FE-B474-6198-4B33-947D2B5AF24E}"/>
              </a:ext>
            </a:extLst>
          </p:cNvPr>
          <p:cNvSpPr/>
          <p:nvPr/>
        </p:nvSpPr>
        <p:spPr>
          <a:xfrm>
            <a:off x="1911485" y="2580902"/>
            <a:ext cx="180000" cy="180000"/>
          </a:xfrm>
          <a:prstGeom prst="rect">
            <a:avLst/>
          </a:prstGeom>
          <a:solidFill>
            <a:srgbClr val="2C99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59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矩形 35">
            <a:extLst>
              <a:ext uri="{FF2B5EF4-FFF2-40B4-BE49-F238E27FC236}">
                <a16:creationId xmlns:a16="http://schemas.microsoft.com/office/drawing/2014/main" id="{9CD6B4B9-4226-9F25-FDCD-FCECC403BEFC}"/>
              </a:ext>
            </a:extLst>
          </p:cNvPr>
          <p:cNvSpPr/>
          <p:nvPr/>
        </p:nvSpPr>
        <p:spPr>
          <a:xfrm>
            <a:off x="1911485" y="1471001"/>
            <a:ext cx="164472" cy="180000"/>
          </a:xfrm>
          <a:prstGeom prst="rect">
            <a:avLst/>
          </a:prstGeom>
          <a:solidFill>
            <a:srgbClr val="2C99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59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9069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2"/>
          <p:cNvSpPr txBox="1">
            <a:spLocks/>
          </p:cNvSpPr>
          <p:nvPr/>
        </p:nvSpPr>
        <p:spPr>
          <a:xfrm>
            <a:off x="-32004" y="179168"/>
            <a:ext cx="5080410" cy="828731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rgbClr val="063D54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Kpro Introduction</a:t>
            </a:r>
            <a:endParaRPr lang="en-US" sz="2000" dirty="0">
              <a:solidFill>
                <a:srgbClr val="063D54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646778" y="2369824"/>
            <a:ext cx="1994241" cy="1833307"/>
            <a:chOff x="4630108" y="2132231"/>
            <a:chExt cx="3036408" cy="2881722"/>
          </a:xfrm>
        </p:grpSpPr>
        <p:grpSp>
          <p:nvGrpSpPr>
            <p:cNvPr id="120" name="Group 4"/>
            <p:cNvGrpSpPr>
              <a:grpSpLocks noChangeAspect="1"/>
            </p:cNvGrpSpPr>
            <p:nvPr/>
          </p:nvGrpSpPr>
          <p:grpSpPr bwMode="auto">
            <a:xfrm>
              <a:off x="4630108" y="2132231"/>
              <a:ext cx="3036408" cy="2881722"/>
              <a:chOff x="1563" y="-1"/>
              <a:chExt cx="4554" cy="4322"/>
            </a:xfrm>
          </p:grpSpPr>
          <p:sp>
            <p:nvSpPr>
              <p:cNvPr id="121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1563" y="0"/>
                <a:ext cx="4554" cy="4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Freeform 5"/>
              <p:cNvSpPr>
                <a:spLocks/>
              </p:cNvSpPr>
              <p:nvPr/>
            </p:nvSpPr>
            <p:spPr bwMode="auto">
              <a:xfrm>
                <a:off x="3091" y="3026"/>
                <a:ext cx="1498" cy="1295"/>
              </a:xfrm>
              <a:custGeom>
                <a:avLst/>
                <a:gdLst>
                  <a:gd name="T0" fmla="*/ 749 w 1498"/>
                  <a:gd name="T1" fmla="*/ 0 h 1295"/>
                  <a:gd name="T2" fmla="*/ 1498 w 1498"/>
                  <a:gd name="T3" fmla="*/ 1295 h 1295"/>
                  <a:gd name="T4" fmla="*/ 0 w 1498"/>
                  <a:gd name="T5" fmla="*/ 1295 h 1295"/>
                  <a:gd name="T6" fmla="*/ 749 w 1498"/>
                  <a:gd name="T7" fmla="*/ 0 h 1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8" h="1295">
                    <a:moveTo>
                      <a:pt x="749" y="0"/>
                    </a:moveTo>
                    <a:lnTo>
                      <a:pt x="1498" y="1295"/>
                    </a:lnTo>
                    <a:lnTo>
                      <a:pt x="0" y="1295"/>
                    </a:lnTo>
                    <a:lnTo>
                      <a:pt x="749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Freeform 6"/>
              <p:cNvSpPr>
                <a:spLocks/>
              </p:cNvSpPr>
              <p:nvPr/>
            </p:nvSpPr>
            <p:spPr bwMode="auto">
              <a:xfrm>
                <a:off x="3091" y="3026"/>
                <a:ext cx="1498" cy="1295"/>
              </a:xfrm>
              <a:custGeom>
                <a:avLst/>
                <a:gdLst>
                  <a:gd name="T0" fmla="*/ 749 w 1498"/>
                  <a:gd name="T1" fmla="*/ 0 h 1295"/>
                  <a:gd name="T2" fmla="*/ 1498 w 1498"/>
                  <a:gd name="T3" fmla="*/ 1295 h 1295"/>
                  <a:gd name="T4" fmla="*/ 0 w 1498"/>
                  <a:gd name="T5" fmla="*/ 1295 h 1295"/>
                  <a:gd name="T6" fmla="*/ 749 w 1498"/>
                  <a:gd name="T7" fmla="*/ 0 h 1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8" h="1295">
                    <a:moveTo>
                      <a:pt x="749" y="0"/>
                    </a:moveTo>
                    <a:lnTo>
                      <a:pt x="1498" y="1295"/>
                    </a:lnTo>
                    <a:lnTo>
                      <a:pt x="0" y="1295"/>
                    </a:lnTo>
                    <a:lnTo>
                      <a:pt x="74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Freeform 7"/>
              <p:cNvSpPr>
                <a:spLocks/>
              </p:cNvSpPr>
              <p:nvPr/>
            </p:nvSpPr>
            <p:spPr bwMode="auto">
              <a:xfrm>
                <a:off x="1593" y="435"/>
                <a:ext cx="1498" cy="1295"/>
              </a:xfrm>
              <a:custGeom>
                <a:avLst/>
                <a:gdLst>
                  <a:gd name="T0" fmla="*/ 749 w 1498"/>
                  <a:gd name="T1" fmla="*/ 0 h 1295"/>
                  <a:gd name="T2" fmla="*/ 1498 w 1498"/>
                  <a:gd name="T3" fmla="*/ 1295 h 1295"/>
                  <a:gd name="T4" fmla="*/ 0 w 1498"/>
                  <a:gd name="T5" fmla="*/ 1295 h 1295"/>
                  <a:gd name="T6" fmla="*/ 749 w 1498"/>
                  <a:gd name="T7" fmla="*/ 0 h 1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8" h="1295">
                    <a:moveTo>
                      <a:pt x="749" y="0"/>
                    </a:moveTo>
                    <a:lnTo>
                      <a:pt x="1498" y="1295"/>
                    </a:lnTo>
                    <a:lnTo>
                      <a:pt x="0" y="1295"/>
                    </a:lnTo>
                    <a:lnTo>
                      <a:pt x="749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Freeform 8"/>
              <p:cNvSpPr>
                <a:spLocks/>
              </p:cNvSpPr>
              <p:nvPr/>
            </p:nvSpPr>
            <p:spPr bwMode="auto">
              <a:xfrm>
                <a:off x="1593" y="435"/>
                <a:ext cx="1498" cy="1295"/>
              </a:xfrm>
              <a:custGeom>
                <a:avLst/>
                <a:gdLst>
                  <a:gd name="T0" fmla="*/ 749 w 1498"/>
                  <a:gd name="T1" fmla="*/ 0 h 1295"/>
                  <a:gd name="T2" fmla="*/ 1498 w 1498"/>
                  <a:gd name="T3" fmla="*/ 1295 h 1295"/>
                  <a:gd name="T4" fmla="*/ 0 w 1498"/>
                  <a:gd name="T5" fmla="*/ 1295 h 1295"/>
                  <a:gd name="T6" fmla="*/ 749 w 1498"/>
                  <a:gd name="T7" fmla="*/ 0 h 1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8" h="1295">
                    <a:moveTo>
                      <a:pt x="749" y="0"/>
                    </a:moveTo>
                    <a:lnTo>
                      <a:pt x="1498" y="1295"/>
                    </a:lnTo>
                    <a:lnTo>
                      <a:pt x="0" y="1295"/>
                    </a:lnTo>
                    <a:lnTo>
                      <a:pt x="74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Freeform 9"/>
              <p:cNvSpPr>
                <a:spLocks/>
              </p:cNvSpPr>
              <p:nvPr/>
            </p:nvSpPr>
            <p:spPr bwMode="auto">
              <a:xfrm>
                <a:off x="1593" y="1730"/>
                <a:ext cx="2247" cy="2591"/>
              </a:xfrm>
              <a:custGeom>
                <a:avLst/>
                <a:gdLst>
                  <a:gd name="T0" fmla="*/ 1498 w 2247"/>
                  <a:gd name="T1" fmla="*/ 2591 h 2591"/>
                  <a:gd name="T2" fmla="*/ 2247 w 2247"/>
                  <a:gd name="T3" fmla="*/ 1296 h 2591"/>
                  <a:gd name="T4" fmla="*/ 1498 w 2247"/>
                  <a:gd name="T5" fmla="*/ 0 h 2591"/>
                  <a:gd name="T6" fmla="*/ 0 w 2247"/>
                  <a:gd name="T7" fmla="*/ 0 h 2591"/>
                  <a:gd name="T8" fmla="*/ 1498 w 2247"/>
                  <a:gd name="T9" fmla="*/ 2591 h 2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47" h="2591">
                    <a:moveTo>
                      <a:pt x="1498" y="2591"/>
                    </a:moveTo>
                    <a:lnTo>
                      <a:pt x="2247" y="1296"/>
                    </a:lnTo>
                    <a:lnTo>
                      <a:pt x="1498" y="0"/>
                    </a:lnTo>
                    <a:lnTo>
                      <a:pt x="0" y="0"/>
                    </a:lnTo>
                    <a:lnTo>
                      <a:pt x="1498" y="2591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Freeform 10"/>
              <p:cNvSpPr>
                <a:spLocks/>
              </p:cNvSpPr>
              <p:nvPr/>
            </p:nvSpPr>
            <p:spPr bwMode="auto">
              <a:xfrm>
                <a:off x="1593" y="1730"/>
                <a:ext cx="2247" cy="2591"/>
              </a:xfrm>
              <a:custGeom>
                <a:avLst/>
                <a:gdLst>
                  <a:gd name="T0" fmla="*/ 1498 w 2247"/>
                  <a:gd name="T1" fmla="*/ 2591 h 2591"/>
                  <a:gd name="T2" fmla="*/ 2247 w 2247"/>
                  <a:gd name="T3" fmla="*/ 1296 h 2591"/>
                  <a:gd name="T4" fmla="*/ 1498 w 2247"/>
                  <a:gd name="T5" fmla="*/ 0 h 2591"/>
                  <a:gd name="T6" fmla="*/ 0 w 2247"/>
                  <a:gd name="T7" fmla="*/ 0 h 2591"/>
                  <a:gd name="T8" fmla="*/ 1498 w 2247"/>
                  <a:gd name="T9" fmla="*/ 2591 h 2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47" h="2591">
                    <a:moveTo>
                      <a:pt x="1498" y="2591"/>
                    </a:moveTo>
                    <a:lnTo>
                      <a:pt x="2247" y="1296"/>
                    </a:lnTo>
                    <a:lnTo>
                      <a:pt x="1498" y="0"/>
                    </a:lnTo>
                    <a:lnTo>
                      <a:pt x="0" y="0"/>
                    </a:lnTo>
                    <a:lnTo>
                      <a:pt x="1498" y="25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11"/>
              <p:cNvSpPr>
                <a:spLocks/>
              </p:cNvSpPr>
              <p:nvPr/>
            </p:nvSpPr>
            <p:spPr bwMode="auto">
              <a:xfrm>
                <a:off x="2342" y="435"/>
                <a:ext cx="2996" cy="1295"/>
              </a:xfrm>
              <a:custGeom>
                <a:avLst/>
                <a:gdLst>
                  <a:gd name="T0" fmla="*/ 0 w 2996"/>
                  <a:gd name="T1" fmla="*/ 0 h 1295"/>
                  <a:gd name="T2" fmla="*/ 749 w 2996"/>
                  <a:gd name="T3" fmla="*/ 1295 h 1295"/>
                  <a:gd name="T4" fmla="*/ 2247 w 2996"/>
                  <a:gd name="T5" fmla="*/ 1295 h 1295"/>
                  <a:gd name="T6" fmla="*/ 2996 w 2996"/>
                  <a:gd name="T7" fmla="*/ 0 h 1295"/>
                  <a:gd name="T8" fmla="*/ 0 w 2996"/>
                  <a:gd name="T9" fmla="*/ 0 h 1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96" h="1295">
                    <a:moveTo>
                      <a:pt x="0" y="0"/>
                    </a:moveTo>
                    <a:lnTo>
                      <a:pt x="749" y="1295"/>
                    </a:lnTo>
                    <a:lnTo>
                      <a:pt x="2247" y="1295"/>
                    </a:lnTo>
                    <a:lnTo>
                      <a:pt x="299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Freeform 12"/>
              <p:cNvSpPr>
                <a:spLocks/>
              </p:cNvSpPr>
              <p:nvPr/>
            </p:nvSpPr>
            <p:spPr bwMode="auto">
              <a:xfrm>
                <a:off x="2342" y="435"/>
                <a:ext cx="2996" cy="1295"/>
              </a:xfrm>
              <a:custGeom>
                <a:avLst/>
                <a:gdLst>
                  <a:gd name="T0" fmla="*/ 0 w 2996"/>
                  <a:gd name="T1" fmla="*/ 0 h 1295"/>
                  <a:gd name="T2" fmla="*/ 749 w 2996"/>
                  <a:gd name="T3" fmla="*/ 1295 h 1295"/>
                  <a:gd name="T4" fmla="*/ 2247 w 2996"/>
                  <a:gd name="T5" fmla="*/ 1295 h 1295"/>
                  <a:gd name="T6" fmla="*/ 2996 w 2996"/>
                  <a:gd name="T7" fmla="*/ 0 h 1295"/>
                  <a:gd name="T8" fmla="*/ 0 w 2996"/>
                  <a:gd name="T9" fmla="*/ 0 h 1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96" h="1295">
                    <a:moveTo>
                      <a:pt x="0" y="0"/>
                    </a:moveTo>
                    <a:lnTo>
                      <a:pt x="749" y="1295"/>
                    </a:lnTo>
                    <a:lnTo>
                      <a:pt x="2247" y="1295"/>
                    </a:lnTo>
                    <a:lnTo>
                      <a:pt x="2996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13"/>
              <p:cNvSpPr>
                <a:spLocks/>
              </p:cNvSpPr>
              <p:nvPr/>
            </p:nvSpPr>
            <p:spPr bwMode="auto">
              <a:xfrm>
                <a:off x="3840" y="1730"/>
                <a:ext cx="2247" cy="2591"/>
              </a:xfrm>
              <a:custGeom>
                <a:avLst/>
                <a:gdLst>
                  <a:gd name="T0" fmla="*/ 749 w 2247"/>
                  <a:gd name="T1" fmla="*/ 2591 h 2591"/>
                  <a:gd name="T2" fmla="*/ 0 w 2247"/>
                  <a:gd name="T3" fmla="*/ 1296 h 2591"/>
                  <a:gd name="T4" fmla="*/ 749 w 2247"/>
                  <a:gd name="T5" fmla="*/ 0 h 2591"/>
                  <a:gd name="T6" fmla="*/ 2247 w 2247"/>
                  <a:gd name="T7" fmla="*/ 0 h 2591"/>
                  <a:gd name="T8" fmla="*/ 749 w 2247"/>
                  <a:gd name="T9" fmla="*/ 2591 h 2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47" h="2591">
                    <a:moveTo>
                      <a:pt x="749" y="2591"/>
                    </a:moveTo>
                    <a:lnTo>
                      <a:pt x="0" y="1296"/>
                    </a:lnTo>
                    <a:lnTo>
                      <a:pt x="749" y="0"/>
                    </a:lnTo>
                    <a:lnTo>
                      <a:pt x="2247" y="0"/>
                    </a:lnTo>
                    <a:lnTo>
                      <a:pt x="749" y="2591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14"/>
              <p:cNvSpPr>
                <a:spLocks/>
              </p:cNvSpPr>
              <p:nvPr/>
            </p:nvSpPr>
            <p:spPr bwMode="auto">
              <a:xfrm>
                <a:off x="3840" y="1730"/>
                <a:ext cx="2247" cy="2591"/>
              </a:xfrm>
              <a:custGeom>
                <a:avLst/>
                <a:gdLst>
                  <a:gd name="T0" fmla="*/ 749 w 2247"/>
                  <a:gd name="T1" fmla="*/ 2591 h 2591"/>
                  <a:gd name="T2" fmla="*/ 0 w 2247"/>
                  <a:gd name="T3" fmla="*/ 1296 h 2591"/>
                  <a:gd name="T4" fmla="*/ 749 w 2247"/>
                  <a:gd name="T5" fmla="*/ 0 h 2591"/>
                  <a:gd name="T6" fmla="*/ 2247 w 2247"/>
                  <a:gd name="T7" fmla="*/ 0 h 2591"/>
                  <a:gd name="T8" fmla="*/ 749 w 2247"/>
                  <a:gd name="T9" fmla="*/ 2591 h 2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47" h="2591">
                    <a:moveTo>
                      <a:pt x="749" y="2591"/>
                    </a:moveTo>
                    <a:lnTo>
                      <a:pt x="0" y="1296"/>
                    </a:lnTo>
                    <a:lnTo>
                      <a:pt x="749" y="0"/>
                    </a:lnTo>
                    <a:lnTo>
                      <a:pt x="2247" y="0"/>
                    </a:lnTo>
                    <a:lnTo>
                      <a:pt x="749" y="25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15"/>
              <p:cNvSpPr>
                <a:spLocks/>
              </p:cNvSpPr>
              <p:nvPr/>
            </p:nvSpPr>
            <p:spPr bwMode="auto">
              <a:xfrm>
                <a:off x="1593" y="1730"/>
                <a:ext cx="1601" cy="179"/>
              </a:xfrm>
              <a:custGeom>
                <a:avLst/>
                <a:gdLst>
                  <a:gd name="T0" fmla="*/ 1498 w 1601"/>
                  <a:gd name="T1" fmla="*/ 0 h 179"/>
                  <a:gd name="T2" fmla="*/ 0 w 1601"/>
                  <a:gd name="T3" fmla="*/ 0 h 179"/>
                  <a:gd name="T4" fmla="*/ 0 w 1601"/>
                  <a:gd name="T5" fmla="*/ 0 h 179"/>
                  <a:gd name="T6" fmla="*/ 0 w 1601"/>
                  <a:gd name="T7" fmla="*/ 0 h 179"/>
                  <a:gd name="T8" fmla="*/ 1498 w 1601"/>
                  <a:gd name="T9" fmla="*/ 0 h 179"/>
                  <a:gd name="T10" fmla="*/ 1601 w 1601"/>
                  <a:gd name="T11" fmla="*/ 179 h 179"/>
                  <a:gd name="T12" fmla="*/ 1601 w 1601"/>
                  <a:gd name="T13" fmla="*/ 179 h 179"/>
                  <a:gd name="T14" fmla="*/ 1498 w 1601"/>
                  <a:gd name="T15" fmla="*/ 0 h 179"/>
                  <a:gd name="T16" fmla="*/ 1498 w 1601"/>
                  <a:gd name="T1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01" h="179">
                    <a:moveTo>
                      <a:pt x="1498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498" y="0"/>
                    </a:lnTo>
                    <a:lnTo>
                      <a:pt x="1601" y="179"/>
                    </a:lnTo>
                    <a:lnTo>
                      <a:pt x="1601" y="179"/>
                    </a:lnTo>
                    <a:lnTo>
                      <a:pt x="1498" y="0"/>
                    </a:lnTo>
                    <a:lnTo>
                      <a:pt x="1498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Freeform 16"/>
              <p:cNvSpPr>
                <a:spLocks/>
              </p:cNvSpPr>
              <p:nvPr/>
            </p:nvSpPr>
            <p:spPr bwMode="auto">
              <a:xfrm>
                <a:off x="1593" y="1730"/>
                <a:ext cx="1601" cy="179"/>
              </a:xfrm>
              <a:custGeom>
                <a:avLst/>
                <a:gdLst>
                  <a:gd name="T0" fmla="*/ 1498 w 1601"/>
                  <a:gd name="T1" fmla="*/ 0 h 179"/>
                  <a:gd name="T2" fmla="*/ 0 w 1601"/>
                  <a:gd name="T3" fmla="*/ 0 h 179"/>
                  <a:gd name="T4" fmla="*/ 0 w 1601"/>
                  <a:gd name="T5" fmla="*/ 0 h 179"/>
                  <a:gd name="T6" fmla="*/ 0 w 1601"/>
                  <a:gd name="T7" fmla="*/ 0 h 179"/>
                  <a:gd name="T8" fmla="*/ 1498 w 1601"/>
                  <a:gd name="T9" fmla="*/ 0 h 179"/>
                  <a:gd name="T10" fmla="*/ 1601 w 1601"/>
                  <a:gd name="T11" fmla="*/ 179 h 179"/>
                  <a:gd name="T12" fmla="*/ 1601 w 1601"/>
                  <a:gd name="T13" fmla="*/ 179 h 179"/>
                  <a:gd name="T14" fmla="*/ 1498 w 1601"/>
                  <a:gd name="T15" fmla="*/ 0 h 179"/>
                  <a:gd name="T16" fmla="*/ 1498 w 1601"/>
                  <a:gd name="T17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01" h="179">
                    <a:moveTo>
                      <a:pt x="1498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498" y="0"/>
                    </a:lnTo>
                    <a:lnTo>
                      <a:pt x="1601" y="179"/>
                    </a:lnTo>
                    <a:lnTo>
                      <a:pt x="1601" y="179"/>
                    </a:lnTo>
                    <a:lnTo>
                      <a:pt x="1498" y="0"/>
                    </a:lnTo>
                    <a:lnTo>
                      <a:pt x="149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Rectangle 17"/>
              <p:cNvSpPr>
                <a:spLocks noChangeArrowheads="1"/>
              </p:cNvSpPr>
              <p:nvPr/>
            </p:nvSpPr>
            <p:spPr bwMode="auto">
              <a:xfrm>
                <a:off x="1593" y="1730"/>
                <a:ext cx="1498" cy="1"/>
              </a:xfrm>
              <a:prstGeom prst="rect">
                <a:avLst/>
              </a:prstGeom>
              <a:solidFill>
                <a:srgbClr val="3232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Rectangle 18"/>
              <p:cNvSpPr>
                <a:spLocks noChangeArrowheads="1"/>
              </p:cNvSpPr>
              <p:nvPr/>
            </p:nvSpPr>
            <p:spPr bwMode="auto">
              <a:xfrm>
                <a:off x="1593" y="1730"/>
                <a:ext cx="1498" cy="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19"/>
              <p:cNvSpPr>
                <a:spLocks/>
              </p:cNvSpPr>
              <p:nvPr/>
            </p:nvSpPr>
            <p:spPr bwMode="auto">
              <a:xfrm>
                <a:off x="1593" y="1730"/>
                <a:ext cx="1601" cy="179"/>
              </a:xfrm>
              <a:custGeom>
                <a:avLst/>
                <a:gdLst>
                  <a:gd name="T0" fmla="*/ 1498 w 1601"/>
                  <a:gd name="T1" fmla="*/ 0 h 179"/>
                  <a:gd name="T2" fmla="*/ 0 w 1601"/>
                  <a:gd name="T3" fmla="*/ 0 h 179"/>
                  <a:gd name="T4" fmla="*/ 103 w 1601"/>
                  <a:gd name="T5" fmla="*/ 179 h 179"/>
                  <a:gd name="T6" fmla="*/ 1601 w 1601"/>
                  <a:gd name="T7" fmla="*/ 179 h 179"/>
                  <a:gd name="T8" fmla="*/ 1498 w 1601"/>
                  <a:gd name="T9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01" h="179">
                    <a:moveTo>
                      <a:pt x="1498" y="0"/>
                    </a:moveTo>
                    <a:lnTo>
                      <a:pt x="0" y="0"/>
                    </a:lnTo>
                    <a:lnTo>
                      <a:pt x="103" y="179"/>
                    </a:lnTo>
                    <a:lnTo>
                      <a:pt x="1601" y="179"/>
                    </a:lnTo>
                    <a:lnTo>
                      <a:pt x="1498" y="0"/>
                    </a:lnTo>
                    <a:close/>
                  </a:path>
                </a:pathLst>
              </a:custGeom>
              <a:solidFill>
                <a:srgbClr val="3232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Freeform 20"/>
              <p:cNvSpPr>
                <a:spLocks/>
              </p:cNvSpPr>
              <p:nvPr/>
            </p:nvSpPr>
            <p:spPr bwMode="auto">
              <a:xfrm>
                <a:off x="1593" y="1730"/>
                <a:ext cx="1601" cy="179"/>
              </a:xfrm>
              <a:custGeom>
                <a:avLst/>
                <a:gdLst>
                  <a:gd name="T0" fmla="*/ 1498 w 1601"/>
                  <a:gd name="T1" fmla="*/ 0 h 179"/>
                  <a:gd name="T2" fmla="*/ 0 w 1601"/>
                  <a:gd name="T3" fmla="*/ 0 h 179"/>
                  <a:gd name="T4" fmla="*/ 103 w 1601"/>
                  <a:gd name="T5" fmla="*/ 179 h 179"/>
                  <a:gd name="T6" fmla="*/ 1601 w 1601"/>
                  <a:gd name="T7" fmla="*/ 179 h 179"/>
                  <a:gd name="T8" fmla="*/ 1498 w 1601"/>
                  <a:gd name="T9" fmla="*/ 0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01" h="179">
                    <a:moveTo>
                      <a:pt x="1498" y="0"/>
                    </a:moveTo>
                    <a:lnTo>
                      <a:pt x="0" y="0"/>
                    </a:lnTo>
                    <a:lnTo>
                      <a:pt x="103" y="179"/>
                    </a:lnTo>
                    <a:lnTo>
                      <a:pt x="1601" y="179"/>
                    </a:lnTo>
                    <a:lnTo>
                      <a:pt x="149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Freeform 21"/>
              <p:cNvSpPr>
                <a:spLocks noEditPoints="1"/>
              </p:cNvSpPr>
              <p:nvPr/>
            </p:nvSpPr>
            <p:spPr bwMode="auto">
              <a:xfrm>
                <a:off x="3840" y="2847"/>
                <a:ext cx="749" cy="1474"/>
              </a:xfrm>
              <a:custGeom>
                <a:avLst/>
                <a:gdLst>
                  <a:gd name="T0" fmla="*/ 749 w 749"/>
                  <a:gd name="T1" fmla="*/ 1474 h 1474"/>
                  <a:gd name="T2" fmla="*/ 749 w 749"/>
                  <a:gd name="T3" fmla="*/ 1474 h 1474"/>
                  <a:gd name="T4" fmla="*/ 749 w 749"/>
                  <a:gd name="T5" fmla="*/ 1474 h 1474"/>
                  <a:gd name="T6" fmla="*/ 749 w 749"/>
                  <a:gd name="T7" fmla="*/ 1474 h 1474"/>
                  <a:gd name="T8" fmla="*/ 103 w 749"/>
                  <a:gd name="T9" fmla="*/ 0 h 1474"/>
                  <a:gd name="T10" fmla="*/ 0 w 749"/>
                  <a:gd name="T11" fmla="*/ 179 h 1474"/>
                  <a:gd name="T12" fmla="*/ 0 w 749"/>
                  <a:gd name="T13" fmla="*/ 179 h 1474"/>
                  <a:gd name="T14" fmla="*/ 749 w 749"/>
                  <a:gd name="T15" fmla="*/ 1474 h 1474"/>
                  <a:gd name="T16" fmla="*/ 749 w 749"/>
                  <a:gd name="T17" fmla="*/ 1474 h 1474"/>
                  <a:gd name="T18" fmla="*/ 0 w 749"/>
                  <a:gd name="T19" fmla="*/ 179 h 1474"/>
                  <a:gd name="T20" fmla="*/ 103 w 749"/>
                  <a:gd name="T21" fmla="*/ 0 h 1474"/>
                  <a:gd name="T22" fmla="*/ 103 w 749"/>
                  <a:gd name="T23" fmla="*/ 0 h 1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49" h="1474">
                    <a:moveTo>
                      <a:pt x="749" y="1474"/>
                    </a:moveTo>
                    <a:lnTo>
                      <a:pt x="749" y="1474"/>
                    </a:lnTo>
                    <a:lnTo>
                      <a:pt x="749" y="1474"/>
                    </a:lnTo>
                    <a:lnTo>
                      <a:pt x="749" y="1474"/>
                    </a:lnTo>
                    <a:close/>
                    <a:moveTo>
                      <a:pt x="103" y="0"/>
                    </a:moveTo>
                    <a:lnTo>
                      <a:pt x="0" y="179"/>
                    </a:lnTo>
                    <a:lnTo>
                      <a:pt x="0" y="179"/>
                    </a:lnTo>
                    <a:lnTo>
                      <a:pt x="749" y="1474"/>
                    </a:lnTo>
                    <a:lnTo>
                      <a:pt x="749" y="1474"/>
                    </a:lnTo>
                    <a:lnTo>
                      <a:pt x="0" y="179"/>
                    </a:lnTo>
                    <a:lnTo>
                      <a:pt x="103" y="0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Freeform 22"/>
              <p:cNvSpPr>
                <a:spLocks noEditPoints="1"/>
              </p:cNvSpPr>
              <p:nvPr/>
            </p:nvSpPr>
            <p:spPr bwMode="auto">
              <a:xfrm>
                <a:off x="3840" y="2847"/>
                <a:ext cx="749" cy="1474"/>
              </a:xfrm>
              <a:custGeom>
                <a:avLst/>
                <a:gdLst>
                  <a:gd name="T0" fmla="*/ 749 w 749"/>
                  <a:gd name="T1" fmla="*/ 1474 h 1474"/>
                  <a:gd name="T2" fmla="*/ 749 w 749"/>
                  <a:gd name="T3" fmla="*/ 1474 h 1474"/>
                  <a:gd name="T4" fmla="*/ 749 w 749"/>
                  <a:gd name="T5" fmla="*/ 1474 h 1474"/>
                  <a:gd name="T6" fmla="*/ 749 w 749"/>
                  <a:gd name="T7" fmla="*/ 1474 h 1474"/>
                  <a:gd name="T8" fmla="*/ 103 w 749"/>
                  <a:gd name="T9" fmla="*/ 0 h 1474"/>
                  <a:gd name="T10" fmla="*/ 0 w 749"/>
                  <a:gd name="T11" fmla="*/ 179 h 1474"/>
                  <a:gd name="T12" fmla="*/ 0 w 749"/>
                  <a:gd name="T13" fmla="*/ 179 h 1474"/>
                  <a:gd name="T14" fmla="*/ 749 w 749"/>
                  <a:gd name="T15" fmla="*/ 1474 h 1474"/>
                  <a:gd name="T16" fmla="*/ 749 w 749"/>
                  <a:gd name="T17" fmla="*/ 1474 h 1474"/>
                  <a:gd name="T18" fmla="*/ 0 w 749"/>
                  <a:gd name="T19" fmla="*/ 179 h 1474"/>
                  <a:gd name="T20" fmla="*/ 103 w 749"/>
                  <a:gd name="T21" fmla="*/ 0 h 1474"/>
                  <a:gd name="T22" fmla="*/ 103 w 749"/>
                  <a:gd name="T23" fmla="*/ 0 h 1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49" h="1474">
                    <a:moveTo>
                      <a:pt x="749" y="1474"/>
                    </a:moveTo>
                    <a:lnTo>
                      <a:pt x="749" y="1474"/>
                    </a:lnTo>
                    <a:lnTo>
                      <a:pt x="749" y="1474"/>
                    </a:lnTo>
                    <a:lnTo>
                      <a:pt x="749" y="1474"/>
                    </a:lnTo>
                    <a:moveTo>
                      <a:pt x="103" y="0"/>
                    </a:moveTo>
                    <a:lnTo>
                      <a:pt x="0" y="179"/>
                    </a:lnTo>
                    <a:lnTo>
                      <a:pt x="0" y="179"/>
                    </a:lnTo>
                    <a:lnTo>
                      <a:pt x="749" y="1474"/>
                    </a:lnTo>
                    <a:lnTo>
                      <a:pt x="749" y="1474"/>
                    </a:lnTo>
                    <a:lnTo>
                      <a:pt x="0" y="179"/>
                    </a:lnTo>
                    <a:lnTo>
                      <a:pt x="103" y="0"/>
                    </a:lnTo>
                    <a:lnTo>
                      <a:pt x="10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Freeform 23"/>
              <p:cNvSpPr>
                <a:spLocks/>
              </p:cNvSpPr>
              <p:nvPr/>
            </p:nvSpPr>
            <p:spPr bwMode="auto">
              <a:xfrm>
                <a:off x="3840" y="3026"/>
                <a:ext cx="749" cy="1295"/>
              </a:xfrm>
              <a:custGeom>
                <a:avLst/>
                <a:gdLst>
                  <a:gd name="T0" fmla="*/ 0 w 749"/>
                  <a:gd name="T1" fmla="*/ 0 h 1295"/>
                  <a:gd name="T2" fmla="*/ 0 w 749"/>
                  <a:gd name="T3" fmla="*/ 0 h 1295"/>
                  <a:gd name="T4" fmla="*/ 749 w 749"/>
                  <a:gd name="T5" fmla="*/ 1295 h 1295"/>
                  <a:gd name="T6" fmla="*/ 749 w 749"/>
                  <a:gd name="T7" fmla="*/ 1295 h 1295"/>
                  <a:gd name="T8" fmla="*/ 749 w 749"/>
                  <a:gd name="T9" fmla="*/ 1295 h 1295"/>
                  <a:gd name="T10" fmla="*/ 0 w 749"/>
                  <a:gd name="T11" fmla="*/ 0 h 1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9" h="1295">
                    <a:moveTo>
                      <a:pt x="0" y="0"/>
                    </a:moveTo>
                    <a:lnTo>
                      <a:pt x="0" y="0"/>
                    </a:lnTo>
                    <a:lnTo>
                      <a:pt x="749" y="1295"/>
                    </a:lnTo>
                    <a:lnTo>
                      <a:pt x="749" y="1295"/>
                    </a:lnTo>
                    <a:lnTo>
                      <a:pt x="749" y="12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232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Freeform 24"/>
              <p:cNvSpPr>
                <a:spLocks/>
              </p:cNvSpPr>
              <p:nvPr/>
            </p:nvSpPr>
            <p:spPr bwMode="auto">
              <a:xfrm>
                <a:off x="3840" y="3026"/>
                <a:ext cx="749" cy="1295"/>
              </a:xfrm>
              <a:custGeom>
                <a:avLst/>
                <a:gdLst>
                  <a:gd name="T0" fmla="*/ 0 w 749"/>
                  <a:gd name="T1" fmla="*/ 0 h 1295"/>
                  <a:gd name="T2" fmla="*/ 0 w 749"/>
                  <a:gd name="T3" fmla="*/ 0 h 1295"/>
                  <a:gd name="T4" fmla="*/ 749 w 749"/>
                  <a:gd name="T5" fmla="*/ 1295 h 1295"/>
                  <a:gd name="T6" fmla="*/ 749 w 749"/>
                  <a:gd name="T7" fmla="*/ 1295 h 1295"/>
                  <a:gd name="T8" fmla="*/ 749 w 749"/>
                  <a:gd name="T9" fmla="*/ 1295 h 1295"/>
                  <a:gd name="T10" fmla="*/ 0 w 749"/>
                  <a:gd name="T11" fmla="*/ 0 h 1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9" h="1295">
                    <a:moveTo>
                      <a:pt x="0" y="0"/>
                    </a:moveTo>
                    <a:lnTo>
                      <a:pt x="0" y="0"/>
                    </a:lnTo>
                    <a:lnTo>
                      <a:pt x="749" y="1295"/>
                    </a:lnTo>
                    <a:lnTo>
                      <a:pt x="749" y="1295"/>
                    </a:lnTo>
                    <a:lnTo>
                      <a:pt x="749" y="129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Freeform 25"/>
              <p:cNvSpPr>
                <a:spLocks/>
              </p:cNvSpPr>
              <p:nvPr/>
            </p:nvSpPr>
            <p:spPr bwMode="auto">
              <a:xfrm>
                <a:off x="3840" y="302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232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Freeform 26"/>
              <p:cNvSpPr>
                <a:spLocks/>
              </p:cNvSpPr>
              <p:nvPr/>
            </p:nvSpPr>
            <p:spPr bwMode="auto">
              <a:xfrm>
                <a:off x="3840" y="302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4" name="Freeform 27"/>
              <p:cNvSpPr>
                <a:spLocks/>
              </p:cNvSpPr>
              <p:nvPr/>
            </p:nvSpPr>
            <p:spPr bwMode="auto">
              <a:xfrm>
                <a:off x="3840" y="2847"/>
                <a:ext cx="852" cy="1474"/>
              </a:xfrm>
              <a:custGeom>
                <a:avLst/>
                <a:gdLst>
                  <a:gd name="T0" fmla="*/ 103 w 852"/>
                  <a:gd name="T1" fmla="*/ 0 h 1474"/>
                  <a:gd name="T2" fmla="*/ 0 w 852"/>
                  <a:gd name="T3" fmla="*/ 179 h 1474"/>
                  <a:gd name="T4" fmla="*/ 749 w 852"/>
                  <a:gd name="T5" fmla="*/ 1474 h 1474"/>
                  <a:gd name="T6" fmla="*/ 852 w 852"/>
                  <a:gd name="T7" fmla="*/ 1296 h 1474"/>
                  <a:gd name="T8" fmla="*/ 103 w 852"/>
                  <a:gd name="T9" fmla="*/ 0 h 1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2" h="1474">
                    <a:moveTo>
                      <a:pt x="103" y="0"/>
                    </a:moveTo>
                    <a:lnTo>
                      <a:pt x="0" y="179"/>
                    </a:lnTo>
                    <a:lnTo>
                      <a:pt x="749" y="1474"/>
                    </a:lnTo>
                    <a:lnTo>
                      <a:pt x="852" y="1296"/>
                    </a:lnTo>
                    <a:lnTo>
                      <a:pt x="103" y="0"/>
                    </a:lnTo>
                    <a:close/>
                  </a:path>
                </a:pathLst>
              </a:custGeom>
              <a:solidFill>
                <a:srgbClr val="3232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Freeform 28"/>
              <p:cNvSpPr>
                <a:spLocks/>
              </p:cNvSpPr>
              <p:nvPr/>
            </p:nvSpPr>
            <p:spPr bwMode="auto">
              <a:xfrm>
                <a:off x="3840" y="2847"/>
                <a:ext cx="852" cy="1474"/>
              </a:xfrm>
              <a:custGeom>
                <a:avLst/>
                <a:gdLst>
                  <a:gd name="T0" fmla="*/ 103 w 852"/>
                  <a:gd name="T1" fmla="*/ 0 h 1474"/>
                  <a:gd name="T2" fmla="*/ 0 w 852"/>
                  <a:gd name="T3" fmla="*/ 179 h 1474"/>
                  <a:gd name="T4" fmla="*/ 749 w 852"/>
                  <a:gd name="T5" fmla="*/ 1474 h 1474"/>
                  <a:gd name="T6" fmla="*/ 852 w 852"/>
                  <a:gd name="T7" fmla="*/ 1296 h 1474"/>
                  <a:gd name="T8" fmla="*/ 103 w 852"/>
                  <a:gd name="T9" fmla="*/ 0 h 1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52" h="1474">
                    <a:moveTo>
                      <a:pt x="103" y="0"/>
                    </a:moveTo>
                    <a:lnTo>
                      <a:pt x="0" y="179"/>
                    </a:lnTo>
                    <a:lnTo>
                      <a:pt x="749" y="1474"/>
                    </a:lnTo>
                    <a:lnTo>
                      <a:pt x="852" y="1296"/>
                    </a:lnTo>
                    <a:lnTo>
                      <a:pt x="10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Freeform 29"/>
              <p:cNvSpPr>
                <a:spLocks/>
              </p:cNvSpPr>
              <p:nvPr/>
            </p:nvSpPr>
            <p:spPr bwMode="auto">
              <a:xfrm>
                <a:off x="4376" y="436"/>
                <a:ext cx="962" cy="1294"/>
              </a:xfrm>
              <a:custGeom>
                <a:avLst/>
                <a:gdLst>
                  <a:gd name="T0" fmla="*/ 962 w 962"/>
                  <a:gd name="T1" fmla="*/ 0 h 1294"/>
                  <a:gd name="T2" fmla="*/ 213 w 962"/>
                  <a:gd name="T3" fmla="*/ 1294 h 1294"/>
                  <a:gd name="T4" fmla="*/ 0 w 962"/>
                  <a:gd name="T5" fmla="*/ 1294 h 1294"/>
                  <a:gd name="T6" fmla="*/ 0 w 962"/>
                  <a:gd name="T7" fmla="*/ 1294 h 1294"/>
                  <a:gd name="T8" fmla="*/ 213 w 962"/>
                  <a:gd name="T9" fmla="*/ 1294 h 1294"/>
                  <a:gd name="T10" fmla="*/ 213 w 962"/>
                  <a:gd name="T11" fmla="*/ 1294 h 1294"/>
                  <a:gd name="T12" fmla="*/ 213 w 962"/>
                  <a:gd name="T13" fmla="*/ 1294 h 1294"/>
                  <a:gd name="T14" fmla="*/ 962 w 962"/>
                  <a:gd name="T15" fmla="*/ 0 h 1294"/>
                  <a:gd name="T16" fmla="*/ 962 w 962"/>
                  <a:gd name="T17" fmla="*/ 0 h 1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2" h="1294">
                    <a:moveTo>
                      <a:pt x="962" y="0"/>
                    </a:moveTo>
                    <a:lnTo>
                      <a:pt x="213" y="1294"/>
                    </a:lnTo>
                    <a:lnTo>
                      <a:pt x="0" y="1294"/>
                    </a:lnTo>
                    <a:lnTo>
                      <a:pt x="0" y="1294"/>
                    </a:lnTo>
                    <a:lnTo>
                      <a:pt x="213" y="1294"/>
                    </a:lnTo>
                    <a:lnTo>
                      <a:pt x="213" y="1294"/>
                    </a:lnTo>
                    <a:lnTo>
                      <a:pt x="213" y="1294"/>
                    </a:lnTo>
                    <a:lnTo>
                      <a:pt x="962" y="0"/>
                    </a:lnTo>
                    <a:lnTo>
                      <a:pt x="962" y="0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Freeform 30"/>
              <p:cNvSpPr>
                <a:spLocks/>
              </p:cNvSpPr>
              <p:nvPr/>
            </p:nvSpPr>
            <p:spPr bwMode="auto">
              <a:xfrm>
                <a:off x="4376" y="436"/>
                <a:ext cx="962" cy="1294"/>
              </a:xfrm>
              <a:custGeom>
                <a:avLst/>
                <a:gdLst>
                  <a:gd name="T0" fmla="*/ 962 w 962"/>
                  <a:gd name="T1" fmla="*/ 0 h 1294"/>
                  <a:gd name="T2" fmla="*/ 213 w 962"/>
                  <a:gd name="T3" fmla="*/ 1294 h 1294"/>
                  <a:gd name="T4" fmla="*/ 0 w 962"/>
                  <a:gd name="T5" fmla="*/ 1294 h 1294"/>
                  <a:gd name="T6" fmla="*/ 0 w 962"/>
                  <a:gd name="T7" fmla="*/ 1294 h 1294"/>
                  <a:gd name="T8" fmla="*/ 213 w 962"/>
                  <a:gd name="T9" fmla="*/ 1294 h 1294"/>
                  <a:gd name="T10" fmla="*/ 213 w 962"/>
                  <a:gd name="T11" fmla="*/ 1294 h 1294"/>
                  <a:gd name="T12" fmla="*/ 213 w 962"/>
                  <a:gd name="T13" fmla="*/ 1294 h 1294"/>
                  <a:gd name="T14" fmla="*/ 962 w 962"/>
                  <a:gd name="T15" fmla="*/ 0 h 1294"/>
                  <a:gd name="T16" fmla="*/ 962 w 962"/>
                  <a:gd name="T17" fmla="*/ 0 h 1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2" h="1294">
                    <a:moveTo>
                      <a:pt x="962" y="0"/>
                    </a:moveTo>
                    <a:lnTo>
                      <a:pt x="213" y="1294"/>
                    </a:lnTo>
                    <a:lnTo>
                      <a:pt x="0" y="1294"/>
                    </a:lnTo>
                    <a:lnTo>
                      <a:pt x="0" y="1294"/>
                    </a:lnTo>
                    <a:lnTo>
                      <a:pt x="213" y="1294"/>
                    </a:lnTo>
                    <a:lnTo>
                      <a:pt x="213" y="1294"/>
                    </a:lnTo>
                    <a:lnTo>
                      <a:pt x="213" y="1294"/>
                    </a:lnTo>
                    <a:lnTo>
                      <a:pt x="962" y="0"/>
                    </a:lnTo>
                    <a:lnTo>
                      <a:pt x="9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Freeform 31"/>
              <p:cNvSpPr>
                <a:spLocks/>
              </p:cNvSpPr>
              <p:nvPr/>
            </p:nvSpPr>
            <p:spPr bwMode="auto">
              <a:xfrm>
                <a:off x="4376" y="435"/>
                <a:ext cx="962" cy="1295"/>
              </a:xfrm>
              <a:custGeom>
                <a:avLst/>
                <a:gdLst>
                  <a:gd name="T0" fmla="*/ 756 w 962"/>
                  <a:gd name="T1" fmla="*/ 0 h 1295"/>
                  <a:gd name="T2" fmla="*/ 0 w 962"/>
                  <a:gd name="T3" fmla="*/ 1295 h 1295"/>
                  <a:gd name="T4" fmla="*/ 213 w 962"/>
                  <a:gd name="T5" fmla="*/ 1295 h 1295"/>
                  <a:gd name="T6" fmla="*/ 962 w 962"/>
                  <a:gd name="T7" fmla="*/ 1 h 1295"/>
                  <a:gd name="T8" fmla="*/ 756 w 962"/>
                  <a:gd name="T9" fmla="*/ 0 h 1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2" h="1295">
                    <a:moveTo>
                      <a:pt x="756" y="0"/>
                    </a:moveTo>
                    <a:lnTo>
                      <a:pt x="0" y="1295"/>
                    </a:lnTo>
                    <a:lnTo>
                      <a:pt x="213" y="1295"/>
                    </a:lnTo>
                    <a:lnTo>
                      <a:pt x="962" y="1"/>
                    </a:lnTo>
                    <a:lnTo>
                      <a:pt x="756" y="0"/>
                    </a:lnTo>
                    <a:close/>
                  </a:path>
                </a:pathLst>
              </a:custGeom>
              <a:solidFill>
                <a:srgbClr val="3232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" name="Freeform 32"/>
              <p:cNvSpPr>
                <a:spLocks/>
              </p:cNvSpPr>
              <p:nvPr/>
            </p:nvSpPr>
            <p:spPr bwMode="auto">
              <a:xfrm>
                <a:off x="4376" y="435"/>
                <a:ext cx="962" cy="1295"/>
              </a:xfrm>
              <a:custGeom>
                <a:avLst/>
                <a:gdLst>
                  <a:gd name="T0" fmla="*/ 756 w 962"/>
                  <a:gd name="T1" fmla="*/ 0 h 1295"/>
                  <a:gd name="T2" fmla="*/ 0 w 962"/>
                  <a:gd name="T3" fmla="*/ 1295 h 1295"/>
                  <a:gd name="T4" fmla="*/ 213 w 962"/>
                  <a:gd name="T5" fmla="*/ 1295 h 1295"/>
                  <a:gd name="T6" fmla="*/ 962 w 962"/>
                  <a:gd name="T7" fmla="*/ 1 h 1295"/>
                  <a:gd name="T8" fmla="*/ 756 w 962"/>
                  <a:gd name="T9" fmla="*/ 0 h 1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2" h="1295">
                    <a:moveTo>
                      <a:pt x="756" y="0"/>
                    </a:moveTo>
                    <a:lnTo>
                      <a:pt x="0" y="1295"/>
                    </a:lnTo>
                    <a:lnTo>
                      <a:pt x="213" y="1295"/>
                    </a:lnTo>
                    <a:lnTo>
                      <a:pt x="962" y="1"/>
                    </a:lnTo>
                    <a:lnTo>
                      <a:pt x="75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Rectangle 33"/>
              <p:cNvSpPr>
                <a:spLocks noChangeArrowheads="1"/>
              </p:cNvSpPr>
              <p:nvPr/>
            </p:nvSpPr>
            <p:spPr bwMode="auto">
              <a:xfrm>
                <a:off x="4589" y="1730"/>
                <a:ext cx="1" cy="1"/>
              </a:xfrm>
              <a:prstGeom prst="rect">
                <a:avLst/>
              </a:prstGeom>
              <a:solidFill>
                <a:srgbClr val="3232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Rectangle 34"/>
              <p:cNvSpPr>
                <a:spLocks noChangeArrowheads="1"/>
              </p:cNvSpPr>
              <p:nvPr/>
            </p:nvSpPr>
            <p:spPr bwMode="auto">
              <a:xfrm>
                <a:off x="4589" y="1730"/>
                <a:ext cx="1" cy="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Freeform 35"/>
              <p:cNvSpPr>
                <a:spLocks/>
              </p:cNvSpPr>
              <p:nvPr/>
            </p:nvSpPr>
            <p:spPr bwMode="auto">
              <a:xfrm>
                <a:off x="4589" y="435"/>
                <a:ext cx="1498" cy="1295"/>
              </a:xfrm>
              <a:custGeom>
                <a:avLst/>
                <a:gdLst>
                  <a:gd name="T0" fmla="*/ 749 w 1498"/>
                  <a:gd name="T1" fmla="*/ 0 h 1295"/>
                  <a:gd name="T2" fmla="*/ 1498 w 1498"/>
                  <a:gd name="T3" fmla="*/ 1295 h 1295"/>
                  <a:gd name="T4" fmla="*/ 0 w 1498"/>
                  <a:gd name="T5" fmla="*/ 1295 h 1295"/>
                  <a:gd name="T6" fmla="*/ 749 w 1498"/>
                  <a:gd name="T7" fmla="*/ 0 h 1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8" h="1295">
                    <a:moveTo>
                      <a:pt x="749" y="0"/>
                    </a:moveTo>
                    <a:lnTo>
                      <a:pt x="1498" y="1295"/>
                    </a:lnTo>
                    <a:lnTo>
                      <a:pt x="0" y="1295"/>
                    </a:lnTo>
                    <a:lnTo>
                      <a:pt x="749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Freeform 38"/>
              <p:cNvSpPr>
                <a:spLocks/>
              </p:cNvSpPr>
              <p:nvPr/>
            </p:nvSpPr>
            <p:spPr bwMode="auto">
              <a:xfrm>
                <a:off x="3840" y="-1"/>
                <a:ext cx="2276" cy="2625"/>
              </a:xfrm>
              <a:custGeom>
                <a:avLst/>
                <a:gdLst>
                  <a:gd name="T0" fmla="*/ 759 w 2276"/>
                  <a:gd name="T1" fmla="*/ 0 h 2625"/>
                  <a:gd name="T2" fmla="*/ 0 w 2276"/>
                  <a:gd name="T3" fmla="*/ 1312 h 2625"/>
                  <a:gd name="T4" fmla="*/ 759 w 2276"/>
                  <a:gd name="T5" fmla="*/ 2625 h 2625"/>
                  <a:gd name="T6" fmla="*/ 2276 w 2276"/>
                  <a:gd name="T7" fmla="*/ 2625 h 2625"/>
                  <a:gd name="T8" fmla="*/ 759 w 2276"/>
                  <a:gd name="T9" fmla="*/ 0 h 2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6" h="2625">
                    <a:moveTo>
                      <a:pt x="759" y="0"/>
                    </a:moveTo>
                    <a:lnTo>
                      <a:pt x="0" y="1312"/>
                    </a:lnTo>
                    <a:lnTo>
                      <a:pt x="759" y="2625"/>
                    </a:lnTo>
                    <a:lnTo>
                      <a:pt x="2276" y="2625"/>
                    </a:lnTo>
                    <a:lnTo>
                      <a:pt x="759" y="0"/>
                    </a:lnTo>
                    <a:close/>
                  </a:path>
                </a:pathLst>
              </a:custGeom>
              <a:solidFill>
                <a:srgbClr val="063D5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4" name="Freeform 37"/>
              <p:cNvSpPr>
                <a:spLocks/>
              </p:cNvSpPr>
              <p:nvPr/>
            </p:nvSpPr>
            <p:spPr bwMode="auto">
              <a:xfrm>
                <a:off x="4579" y="2624"/>
                <a:ext cx="1517" cy="1313"/>
              </a:xfrm>
              <a:custGeom>
                <a:avLst/>
                <a:gdLst>
                  <a:gd name="T0" fmla="*/ 759 w 1517"/>
                  <a:gd name="T1" fmla="*/ 1313 h 1313"/>
                  <a:gd name="T2" fmla="*/ 0 w 1517"/>
                  <a:gd name="T3" fmla="*/ 0 h 1313"/>
                  <a:gd name="T4" fmla="*/ 1517 w 1517"/>
                  <a:gd name="T5" fmla="*/ 0 h 1313"/>
                  <a:gd name="T6" fmla="*/ 759 w 1517"/>
                  <a:gd name="T7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17" h="1313">
                    <a:moveTo>
                      <a:pt x="759" y="1313"/>
                    </a:moveTo>
                    <a:lnTo>
                      <a:pt x="0" y="0"/>
                    </a:lnTo>
                    <a:lnTo>
                      <a:pt x="1517" y="0"/>
                    </a:lnTo>
                    <a:lnTo>
                      <a:pt x="759" y="1313"/>
                    </a:lnTo>
                    <a:close/>
                  </a:path>
                </a:pathLst>
              </a:custGeom>
              <a:solidFill>
                <a:srgbClr val="FCC82B"/>
              </a:solidFill>
              <a:ln>
                <a:noFill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5" name="Freeform 39"/>
              <p:cNvSpPr>
                <a:spLocks/>
              </p:cNvSpPr>
              <p:nvPr/>
            </p:nvSpPr>
            <p:spPr bwMode="auto">
              <a:xfrm>
                <a:off x="2322" y="2624"/>
                <a:ext cx="3036" cy="1313"/>
              </a:xfrm>
              <a:custGeom>
                <a:avLst/>
                <a:gdLst>
                  <a:gd name="T0" fmla="*/ 3036 w 3036"/>
                  <a:gd name="T1" fmla="*/ 1313 h 1313"/>
                  <a:gd name="T2" fmla="*/ 2277 w 3036"/>
                  <a:gd name="T3" fmla="*/ 0 h 1313"/>
                  <a:gd name="T4" fmla="*/ 759 w 3036"/>
                  <a:gd name="T5" fmla="*/ 0 h 1313"/>
                  <a:gd name="T6" fmla="*/ 0 w 3036"/>
                  <a:gd name="T7" fmla="*/ 1313 h 1313"/>
                  <a:gd name="T8" fmla="*/ 3036 w 3036"/>
                  <a:gd name="T9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36" h="1313">
                    <a:moveTo>
                      <a:pt x="3036" y="1313"/>
                    </a:moveTo>
                    <a:lnTo>
                      <a:pt x="2277" y="0"/>
                    </a:lnTo>
                    <a:lnTo>
                      <a:pt x="759" y="0"/>
                    </a:lnTo>
                    <a:lnTo>
                      <a:pt x="0" y="1313"/>
                    </a:lnTo>
                    <a:lnTo>
                      <a:pt x="3036" y="1313"/>
                    </a:lnTo>
                    <a:close/>
                  </a:path>
                </a:pathLst>
              </a:custGeom>
              <a:solidFill>
                <a:srgbClr val="F2B3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6" name="Freeform 40"/>
              <p:cNvSpPr>
                <a:spLocks/>
              </p:cNvSpPr>
              <p:nvPr/>
            </p:nvSpPr>
            <p:spPr bwMode="auto">
              <a:xfrm>
                <a:off x="1563" y="-1"/>
                <a:ext cx="2277" cy="2625"/>
              </a:xfrm>
              <a:custGeom>
                <a:avLst/>
                <a:gdLst>
                  <a:gd name="T0" fmla="*/ 1518 w 2277"/>
                  <a:gd name="T1" fmla="*/ 0 h 2625"/>
                  <a:gd name="T2" fmla="*/ 2277 w 2277"/>
                  <a:gd name="T3" fmla="*/ 1312 h 2625"/>
                  <a:gd name="T4" fmla="*/ 1518 w 2277"/>
                  <a:gd name="T5" fmla="*/ 2625 h 2625"/>
                  <a:gd name="T6" fmla="*/ 0 w 2277"/>
                  <a:gd name="T7" fmla="*/ 2625 h 2625"/>
                  <a:gd name="T8" fmla="*/ 1518 w 2277"/>
                  <a:gd name="T9" fmla="*/ 0 h 2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77" h="2625">
                    <a:moveTo>
                      <a:pt x="1518" y="0"/>
                    </a:moveTo>
                    <a:lnTo>
                      <a:pt x="2277" y="1312"/>
                    </a:lnTo>
                    <a:lnTo>
                      <a:pt x="1518" y="2625"/>
                    </a:lnTo>
                    <a:lnTo>
                      <a:pt x="0" y="2625"/>
                    </a:lnTo>
                    <a:lnTo>
                      <a:pt x="1518" y="0"/>
                    </a:lnTo>
                    <a:close/>
                  </a:path>
                </a:pathLst>
              </a:custGeom>
              <a:solidFill>
                <a:srgbClr val="2593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7" name="Freeform 36"/>
              <p:cNvSpPr>
                <a:spLocks/>
              </p:cNvSpPr>
              <p:nvPr/>
            </p:nvSpPr>
            <p:spPr bwMode="auto">
              <a:xfrm>
                <a:off x="3081" y="-1"/>
                <a:ext cx="1518" cy="1312"/>
              </a:xfrm>
              <a:custGeom>
                <a:avLst/>
                <a:gdLst>
                  <a:gd name="T0" fmla="*/ 759 w 1518"/>
                  <a:gd name="T1" fmla="*/ 1312 h 1312"/>
                  <a:gd name="T2" fmla="*/ 0 w 1518"/>
                  <a:gd name="T3" fmla="*/ 0 h 1312"/>
                  <a:gd name="T4" fmla="*/ 1518 w 1518"/>
                  <a:gd name="T5" fmla="*/ 0 h 1312"/>
                  <a:gd name="T6" fmla="*/ 759 w 1518"/>
                  <a:gd name="T7" fmla="*/ 1312 h 1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18" h="1312">
                    <a:moveTo>
                      <a:pt x="759" y="1312"/>
                    </a:moveTo>
                    <a:lnTo>
                      <a:pt x="0" y="0"/>
                    </a:lnTo>
                    <a:lnTo>
                      <a:pt x="1518" y="0"/>
                    </a:lnTo>
                    <a:lnTo>
                      <a:pt x="759" y="1312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8" name="Freeform 41"/>
              <p:cNvSpPr>
                <a:spLocks/>
              </p:cNvSpPr>
              <p:nvPr/>
            </p:nvSpPr>
            <p:spPr bwMode="auto">
              <a:xfrm>
                <a:off x="1563" y="2624"/>
                <a:ext cx="1518" cy="1313"/>
              </a:xfrm>
              <a:custGeom>
                <a:avLst/>
                <a:gdLst>
                  <a:gd name="T0" fmla="*/ 759 w 1518"/>
                  <a:gd name="T1" fmla="*/ 1313 h 1313"/>
                  <a:gd name="T2" fmla="*/ 0 w 1518"/>
                  <a:gd name="T3" fmla="*/ 0 h 1313"/>
                  <a:gd name="T4" fmla="*/ 1518 w 1518"/>
                  <a:gd name="T5" fmla="*/ 0 h 1313"/>
                  <a:gd name="T6" fmla="*/ 759 w 1518"/>
                  <a:gd name="T7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18" h="1313">
                    <a:moveTo>
                      <a:pt x="759" y="1313"/>
                    </a:moveTo>
                    <a:lnTo>
                      <a:pt x="0" y="0"/>
                    </a:lnTo>
                    <a:lnTo>
                      <a:pt x="1518" y="0"/>
                    </a:lnTo>
                    <a:lnTo>
                      <a:pt x="759" y="1313"/>
                    </a:lnTo>
                    <a:close/>
                  </a:path>
                </a:pathLst>
              </a:custGeom>
              <a:solidFill>
                <a:srgbClr val="45AEAE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6" name="Rectangle 52"/>
              <p:cNvSpPr>
                <a:spLocks noChangeArrowheads="1"/>
              </p:cNvSpPr>
              <p:nvPr/>
            </p:nvSpPr>
            <p:spPr bwMode="auto">
              <a:xfrm>
                <a:off x="3061" y="3267"/>
                <a:ext cx="48" cy="104"/>
              </a:xfrm>
              <a:prstGeom prst="rect">
                <a:avLst/>
              </a:prstGeom>
              <a:solidFill>
                <a:srgbClr val="F2B3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" name="Rectangle 54"/>
              <p:cNvSpPr>
                <a:spLocks noChangeArrowheads="1"/>
              </p:cNvSpPr>
              <p:nvPr/>
            </p:nvSpPr>
            <p:spPr bwMode="auto">
              <a:xfrm>
                <a:off x="3207" y="3221"/>
                <a:ext cx="48" cy="150"/>
              </a:xfrm>
              <a:prstGeom prst="rect">
                <a:avLst/>
              </a:prstGeom>
              <a:solidFill>
                <a:srgbClr val="F2B3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83" name="Rectangle 182"/>
            <p:cNvSpPr/>
            <p:nvPr/>
          </p:nvSpPr>
          <p:spPr>
            <a:xfrm rot="3622556">
              <a:off x="6148056" y="3074082"/>
              <a:ext cx="131734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dirty="0">
                  <a:solidFill>
                    <a:schemeClr val="bg1"/>
                  </a:solidFill>
                </a:rPr>
                <a:t>Adaptability</a:t>
              </a: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5769828" y="4173943"/>
              <a:ext cx="8595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dirty="0">
                  <a:solidFill>
                    <a:schemeClr val="bg1"/>
                  </a:solidFill>
                </a:rPr>
                <a:t>Quality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 rot="18041965">
              <a:off x="5058062" y="3074890"/>
              <a:ext cx="76495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dirty="0">
                  <a:solidFill>
                    <a:schemeClr val="bg1"/>
                  </a:solidFill>
                </a:rPr>
                <a:t>Speed</a:t>
              </a:r>
            </a:p>
          </p:txBody>
        </p:sp>
      </p:grpSp>
      <p:sp>
        <p:nvSpPr>
          <p:cNvPr id="83" name="AutoShape 3"/>
          <p:cNvSpPr>
            <a:spLocks noChangeAspect="1" noChangeArrowheads="1" noTextEdit="1"/>
          </p:cNvSpPr>
          <p:nvPr/>
        </p:nvSpPr>
        <p:spPr bwMode="auto">
          <a:xfrm>
            <a:off x="20903" y="877749"/>
            <a:ext cx="4893735" cy="5181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  <a:latin typeface="Lato Ligh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1647" y="1215888"/>
            <a:ext cx="3810738" cy="1195066"/>
            <a:chOff x="22604" y="1192838"/>
            <a:chExt cx="3810738" cy="1195066"/>
          </a:xfrm>
        </p:grpSpPr>
        <p:sp>
          <p:nvSpPr>
            <p:cNvPr id="84" name="Freeform 5"/>
            <p:cNvSpPr>
              <a:spLocks/>
            </p:cNvSpPr>
            <p:nvPr/>
          </p:nvSpPr>
          <p:spPr bwMode="auto">
            <a:xfrm>
              <a:off x="588742" y="1473508"/>
              <a:ext cx="3244600" cy="713749"/>
            </a:xfrm>
            <a:custGeom>
              <a:avLst/>
              <a:gdLst>
                <a:gd name="T0" fmla="*/ 3355 w 3778"/>
                <a:gd name="T1" fmla="*/ 925 h 925"/>
                <a:gd name="T2" fmla="*/ 423 w 3778"/>
                <a:gd name="T3" fmla="*/ 925 h 925"/>
                <a:gd name="T4" fmla="*/ 0 w 3778"/>
                <a:gd name="T5" fmla="*/ 502 h 925"/>
                <a:gd name="T6" fmla="*/ 0 w 3778"/>
                <a:gd name="T7" fmla="*/ 423 h 925"/>
                <a:gd name="T8" fmla="*/ 423 w 3778"/>
                <a:gd name="T9" fmla="*/ 0 h 925"/>
                <a:gd name="T10" fmla="*/ 3355 w 3778"/>
                <a:gd name="T11" fmla="*/ 0 h 925"/>
                <a:gd name="T12" fmla="*/ 3778 w 3778"/>
                <a:gd name="T13" fmla="*/ 423 h 925"/>
                <a:gd name="T14" fmla="*/ 3778 w 3778"/>
                <a:gd name="T15" fmla="*/ 502 h 925"/>
                <a:gd name="T16" fmla="*/ 3355 w 3778"/>
                <a:gd name="T17" fmla="*/ 925 h 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78" h="925">
                  <a:moveTo>
                    <a:pt x="3355" y="925"/>
                  </a:moveTo>
                  <a:cubicBezTo>
                    <a:pt x="423" y="925"/>
                    <a:pt x="423" y="925"/>
                    <a:pt x="423" y="925"/>
                  </a:cubicBezTo>
                  <a:cubicBezTo>
                    <a:pt x="191" y="925"/>
                    <a:pt x="0" y="735"/>
                    <a:pt x="0" y="502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0" y="190"/>
                    <a:pt x="191" y="0"/>
                    <a:pt x="423" y="0"/>
                  </a:cubicBezTo>
                  <a:cubicBezTo>
                    <a:pt x="3355" y="0"/>
                    <a:pt x="3355" y="0"/>
                    <a:pt x="3355" y="0"/>
                  </a:cubicBezTo>
                  <a:cubicBezTo>
                    <a:pt x="3587" y="0"/>
                    <a:pt x="3778" y="190"/>
                    <a:pt x="3778" y="423"/>
                  </a:cubicBezTo>
                  <a:cubicBezTo>
                    <a:pt x="3778" y="502"/>
                    <a:pt x="3778" y="502"/>
                    <a:pt x="3778" y="502"/>
                  </a:cubicBezTo>
                  <a:cubicBezTo>
                    <a:pt x="3778" y="735"/>
                    <a:pt x="3587" y="925"/>
                    <a:pt x="3355" y="925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85" name="Oval 6"/>
            <p:cNvSpPr>
              <a:spLocks noChangeArrowheads="1"/>
            </p:cNvSpPr>
            <p:nvPr/>
          </p:nvSpPr>
          <p:spPr bwMode="auto">
            <a:xfrm>
              <a:off x="22604" y="1192838"/>
              <a:ext cx="1197123" cy="119506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86" name="Oval 7"/>
            <p:cNvSpPr>
              <a:spLocks noChangeArrowheads="1"/>
            </p:cNvSpPr>
            <p:nvPr/>
          </p:nvSpPr>
          <p:spPr bwMode="auto">
            <a:xfrm>
              <a:off x="167722" y="1327698"/>
              <a:ext cx="920468" cy="920468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01" name="文本框 32"/>
            <p:cNvSpPr txBox="1"/>
            <p:nvPr/>
          </p:nvSpPr>
          <p:spPr>
            <a:xfrm>
              <a:off x="199499" y="1550976"/>
              <a:ext cx="8100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CabinSketch" panose="020B0503050202020004" pitchFamily="34" charset="0"/>
                </a:rPr>
                <a:t> </a:t>
              </a:r>
              <a:r>
                <a:rPr lang="en-US" sz="2400" dirty="0">
                  <a:solidFill>
                    <a:schemeClr val="bg1"/>
                  </a:solidFill>
                  <a:latin typeface="+mj-lt"/>
                </a:rPr>
                <a:t>1</a:t>
              </a:r>
              <a:endParaRPr lang="en-US" sz="2400" dirty="0">
                <a:solidFill>
                  <a:schemeClr val="bg1"/>
                </a:solidFill>
                <a:latin typeface="CabinSketch" panose="020B0503050202020004" pitchFamily="34" charset="0"/>
              </a:endParaRPr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1230810" y="1558409"/>
              <a:ext cx="2566092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r>
                <a:rPr lang="en-US" sz="1400" dirty="0">
                  <a:solidFill>
                    <a:prstClr val="white"/>
                  </a:solidFill>
                </a:rPr>
                <a:t>Business Outcome Driven Approach</a:t>
              </a:r>
              <a:endParaRPr lang="en-US" sz="1400" dirty="0"/>
            </a:p>
          </p:txBody>
        </p:sp>
      </p:grpSp>
      <p:sp>
        <p:nvSpPr>
          <p:cNvPr id="109" name="Rectangle 108"/>
          <p:cNvSpPr/>
          <p:nvPr/>
        </p:nvSpPr>
        <p:spPr>
          <a:xfrm>
            <a:off x="1238243" y="4645867"/>
            <a:ext cx="2606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6225" lvl="0" indent="-276225">
              <a:defRPr/>
            </a:pPr>
            <a:r>
              <a:rPr lang="en-US" sz="1600" b="1" dirty="0">
                <a:solidFill>
                  <a:prstClr val="white"/>
                </a:solidFill>
              </a:rPr>
              <a:t>Fixed Cost </a:t>
            </a:r>
            <a:r>
              <a:rPr lang="en-US" sz="1600" dirty="0">
                <a:solidFill>
                  <a:prstClr val="white"/>
                </a:solidFill>
              </a:rPr>
              <a:t>Models to Minimize the Implementation Risk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7954877" y="1321630"/>
            <a:ext cx="3987826" cy="1195066"/>
            <a:chOff x="7742992" y="1867253"/>
            <a:chExt cx="3987826" cy="1195066"/>
          </a:xfrm>
        </p:grpSpPr>
        <p:sp>
          <p:nvSpPr>
            <p:cNvPr id="173" name="Freeform 5"/>
            <p:cNvSpPr>
              <a:spLocks/>
            </p:cNvSpPr>
            <p:nvPr/>
          </p:nvSpPr>
          <p:spPr bwMode="auto">
            <a:xfrm>
              <a:off x="8309129" y="2147923"/>
              <a:ext cx="3421689" cy="713749"/>
            </a:xfrm>
            <a:custGeom>
              <a:avLst/>
              <a:gdLst>
                <a:gd name="T0" fmla="*/ 3355 w 3778"/>
                <a:gd name="T1" fmla="*/ 925 h 925"/>
                <a:gd name="T2" fmla="*/ 423 w 3778"/>
                <a:gd name="T3" fmla="*/ 925 h 925"/>
                <a:gd name="T4" fmla="*/ 0 w 3778"/>
                <a:gd name="T5" fmla="*/ 502 h 925"/>
                <a:gd name="T6" fmla="*/ 0 w 3778"/>
                <a:gd name="T7" fmla="*/ 423 h 925"/>
                <a:gd name="T8" fmla="*/ 423 w 3778"/>
                <a:gd name="T9" fmla="*/ 0 h 925"/>
                <a:gd name="T10" fmla="*/ 3355 w 3778"/>
                <a:gd name="T11" fmla="*/ 0 h 925"/>
                <a:gd name="T12" fmla="*/ 3778 w 3778"/>
                <a:gd name="T13" fmla="*/ 423 h 925"/>
                <a:gd name="T14" fmla="*/ 3778 w 3778"/>
                <a:gd name="T15" fmla="*/ 502 h 925"/>
                <a:gd name="T16" fmla="*/ 3355 w 3778"/>
                <a:gd name="T17" fmla="*/ 925 h 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78" h="925">
                  <a:moveTo>
                    <a:pt x="3355" y="925"/>
                  </a:moveTo>
                  <a:cubicBezTo>
                    <a:pt x="423" y="925"/>
                    <a:pt x="423" y="925"/>
                    <a:pt x="423" y="925"/>
                  </a:cubicBezTo>
                  <a:cubicBezTo>
                    <a:pt x="191" y="925"/>
                    <a:pt x="0" y="735"/>
                    <a:pt x="0" y="502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0" y="190"/>
                    <a:pt x="191" y="0"/>
                    <a:pt x="423" y="0"/>
                  </a:cubicBezTo>
                  <a:cubicBezTo>
                    <a:pt x="3355" y="0"/>
                    <a:pt x="3355" y="0"/>
                    <a:pt x="3355" y="0"/>
                  </a:cubicBezTo>
                  <a:cubicBezTo>
                    <a:pt x="3587" y="0"/>
                    <a:pt x="3778" y="190"/>
                    <a:pt x="3778" y="423"/>
                  </a:cubicBezTo>
                  <a:cubicBezTo>
                    <a:pt x="3778" y="502"/>
                    <a:pt x="3778" y="502"/>
                    <a:pt x="3778" y="502"/>
                  </a:cubicBezTo>
                  <a:cubicBezTo>
                    <a:pt x="3778" y="735"/>
                    <a:pt x="3587" y="925"/>
                    <a:pt x="3355" y="925"/>
                  </a:cubicBezTo>
                  <a:close/>
                </a:path>
              </a:pathLst>
            </a:custGeom>
            <a:solidFill>
              <a:srgbClr val="033D54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74" name="Oval 6"/>
            <p:cNvSpPr>
              <a:spLocks noChangeArrowheads="1"/>
            </p:cNvSpPr>
            <p:nvPr/>
          </p:nvSpPr>
          <p:spPr bwMode="auto">
            <a:xfrm>
              <a:off x="7742992" y="1867253"/>
              <a:ext cx="1197123" cy="119506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75" name="Oval 7"/>
            <p:cNvSpPr>
              <a:spLocks noChangeArrowheads="1"/>
            </p:cNvSpPr>
            <p:nvPr/>
          </p:nvSpPr>
          <p:spPr bwMode="auto">
            <a:xfrm>
              <a:off x="7888110" y="2002113"/>
              <a:ext cx="920468" cy="920468"/>
            </a:xfrm>
            <a:prstGeom prst="ellipse">
              <a:avLst/>
            </a:prstGeom>
            <a:solidFill>
              <a:srgbClr val="033D5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82" name="文本框 32"/>
            <p:cNvSpPr txBox="1"/>
            <p:nvPr/>
          </p:nvSpPr>
          <p:spPr>
            <a:xfrm>
              <a:off x="8046790" y="2243474"/>
              <a:ext cx="6031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 1</a:t>
              </a:r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9021578" y="2350481"/>
              <a:ext cx="208938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400" kern="0" dirty="0">
                  <a:solidFill>
                    <a:prstClr val="white"/>
                  </a:solidFill>
                  <a:ea typeface="微软雅黑" panose="020B0503020204020204" pitchFamily="34" charset="-122"/>
                </a:rPr>
                <a:t>Started in 2014</a:t>
              </a:r>
            </a:p>
          </p:txBody>
        </p:sp>
      </p:grpSp>
      <p:sp>
        <p:nvSpPr>
          <p:cNvPr id="198" name="Rectangle 197"/>
          <p:cNvSpPr/>
          <p:nvPr/>
        </p:nvSpPr>
        <p:spPr>
          <a:xfrm>
            <a:off x="7733146" y="5663930"/>
            <a:ext cx="25941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6225" lvl="0" indent="-276225" algn="ctr">
              <a:defRPr/>
            </a:pPr>
            <a:r>
              <a:rPr lang="en-US" sz="1600" dirty="0">
                <a:solidFill>
                  <a:prstClr val="white"/>
                </a:solidFill>
              </a:rPr>
              <a:t>Fast Realization of Values </a:t>
            </a:r>
          </a:p>
          <a:p>
            <a:pPr marL="276225" lvl="0" indent="-276225" algn="ctr">
              <a:defRPr/>
            </a:pPr>
            <a:r>
              <a:rPr lang="en-US" sz="1600" dirty="0">
                <a:solidFill>
                  <a:prstClr val="white"/>
                </a:solidFill>
              </a:rPr>
              <a:t>Using </a:t>
            </a:r>
            <a:r>
              <a:rPr lang="en-US" sz="1600" b="1" dirty="0">
                <a:solidFill>
                  <a:prstClr val="white"/>
                </a:solidFill>
              </a:rPr>
              <a:t>Acceleration</a:t>
            </a:r>
            <a:r>
              <a:rPr lang="en-US" sz="1600" dirty="0">
                <a:solidFill>
                  <a:prstClr val="white"/>
                </a:solidFill>
              </a:rPr>
              <a:t> </a:t>
            </a:r>
            <a:r>
              <a:rPr lang="en-US" sz="1600" b="1" dirty="0">
                <a:solidFill>
                  <a:prstClr val="white"/>
                </a:solidFill>
              </a:rPr>
              <a:t>Framework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920090" y="5402113"/>
            <a:ext cx="2606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6225" lvl="0" indent="-276225">
              <a:defRPr/>
            </a:pPr>
            <a:r>
              <a:rPr lang="en-US" sz="1600" b="1" dirty="0">
                <a:solidFill>
                  <a:prstClr val="white"/>
                </a:solidFill>
              </a:rPr>
              <a:t>Fixed Cost </a:t>
            </a:r>
            <a:r>
              <a:rPr lang="en-US" sz="1600" dirty="0">
                <a:solidFill>
                  <a:prstClr val="white"/>
                </a:solidFill>
              </a:rPr>
              <a:t>Models to Minimize the Implementation Risk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8027162" y="2590750"/>
            <a:ext cx="3985532" cy="1164027"/>
            <a:chOff x="7746452" y="2877759"/>
            <a:chExt cx="3757750" cy="1164027"/>
          </a:xfrm>
        </p:grpSpPr>
        <p:sp>
          <p:nvSpPr>
            <p:cNvPr id="205" name="Freeform 11"/>
            <p:cNvSpPr>
              <a:spLocks/>
            </p:cNvSpPr>
            <p:nvPr/>
          </p:nvSpPr>
          <p:spPr bwMode="auto">
            <a:xfrm>
              <a:off x="8312590" y="3158430"/>
              <a:ext cx="3112411" cy="695211"/>
            </a:xfrm>
            <a:custGeom>
              <a:avLst/>
              <a:gdLst>
                <a:gd name="T0" fmla="*/ 3355 w 3778"/>
                <a:gd name="T1" fmla="*/ 925 h 925"/>
                <a:gd name="T2" fmla="*/ 423 w 3778"/>
                <a:gd name="T3" fmla="*/ 925 h 925"/>
                <a:gd name="T4" fmla="*/ 0 w 3778"/>
                <a:gd name="T5" fmla="*/ 502 h 925"/>
                <a:gd name="T6" fmla="*/ 0 w 3778"/>
                <a:gd name="T7" fmla="*/ 423 h 925"/>
                <a:gd name="T8" fmla="*/ 423 w 3778"/>
                <a:gd name="T9" fmla="*/ 0 h 925"/>
                <a:gd name="T10" fmla="*/ 3355 w 3778"/>
                <a:gd name="T11" fmla="*/ 0 h 925"/>
                <a:gd name="T12" fmla="*/ 3778 w 3778"/>
                <a:gd name="T13" fmla="*/ 423 h 925"/>
                <a:gd name="T14" fmla="*/ 3778 w 3778"/>
                <a:gd name="T15" fmla="*/ 502 h 925"/>
                <a:gd name="T16" fmla="*/ 3355 w 3778"/>
                <a:gd name="T17" fmla="*/ 925 h 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78" h="925">
                  <a:moveTo>
                    <a:pt x="3355" y="925"/>
                  </a:moveTo>
                  <a:cubicBezTo>
                    <a:pt x="423" y="925"/>
                    <a:pt x="423" y="925"/>
                    <a:pt x="423" y="925"/>
                  </a:cubicBezTo>
                  <a:cubicBezTo>
                    <a:pt x="191" y="925"/>
                    <a:pt x="0" y="734"/>
                    <a:pt x="0" y="502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0" y="190"/>
                    <a:pt x="191" y="0"/>
                    <a:pt x="423" y="0"/>
                  </a:cubicBezTo>
                  <a:cubicBezTo>
                    <a:pt x="3355" y="0"/>
                    <a:pt x="3355" y="0"/>
                    <a:pt x="3355" y="0"/>
                  </a:cubicBezTo>
                  <a:cubicBezTo>
                    <a:pt x="3587" y="0"/>
                    <a:pt x="3778" y="190"/>
                    <a:pt x="3778" y="423"/>
                  </a:cubicBezTo>
                  <a:cubicBezTo>
                    <a:pt x="3778" y="502"/>
                    <a:pt x="3778" y="502"/>
                    <a:pt x="3778" y="502"/>
                  </a:cubicBezTo>
                  <a:cubicBezTo>
                    <a:pt x="3778" y="734"/>
                    <a:pt x="3587" y="925"/>
                    <a:pt x="3355" y="925"/>
                  </a:cubicBezTo>
                  <a:close/>
                </a:path>
              </a:pathLst>
            </a:custGeom>
            <a:solidFill>
              <a:srgbClr val="033D54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206" name="Oval 12"/>
            <p:cNvSpPr>
              <a:spLocks noChangeArrowheads="1"/>
            </p:cNvSpPr>
            <p:nvPr/>
          </p:nvSpPr>
          <p:spPr bwMode="auto">
            <a:xfrm>
              <a:off x="7746452" y="2877759"/>
              <a:ext cx="1112600" cy="11640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207" name="Oval 13"/>
            <p:cNvSpPr>
              <a:spLocks noChangeArrowheads="1"/>
            </p:cNvSpPr>
            <p:nvPr/>
          </p:nvSpPr>
          <p:spPr bwMode="auto">
            <a:xfrm>
              <a:off x="7883842" y="3017024"/>
              <a:ext cx="837820" cy="895560"/>
            </a:xfrm>
            <a:prstGeom prst="ellipse">
              <a:avLst/>
            </a:prstGeom>
            <a:solidFill>
              <a:srgbClr val="033D5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208" name="文本框 32"/>
            <p:cNvSpPr txBox="1"/>
            <p:nvPr/>
          </p:nvSpPr>
          <p:spPr>
            <a:xfrm>
              <a:off x="8048768" y="3246945"/>
              <a:ext cx="554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+mj-lt"/>
                </a:rPr>
                <a:t> 2</a:t>
              </a:r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8897225" y="3370395"/>
              <a:ext cx="260697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400" kern="0" dirty="0">
                  <a:solidFill>
                    <a:prstClr val="white"/>
                  </a:solidFill>
                  <a:ea typeface="微软雅黑" panose="020B0503020204020204" pitchFamily="34" charset="-122"/>
                </a:rPr>
                <a:t>Highly Skilled Professionals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041173" y="3833863"/>
            <a:ext cx="3901530" cy="1164027"/>
            <a:chOff x="7782206" y="3896388"/>
            <a:chExt cx="3901530" cy="1164027"/>
          </a:xfrm>
        </p:grpSpPr>
        <p:sp>
          <p:nvSpPr>
            <p:cNvPr id="176" name="Freeform 11"/>
            <p:cNvSpPr>
              <a:spLocks/>
            </p:cNvSpPr>
            <p:nvPr/>
          </p:nvSpPr>
          <p:spPr bwMode="auto">
            <a:xfrm>
              <a:off x="8348343" y="4177059"/>
              <a:ext cx="3335393" cy="695211"/>
            </a:xfrm>
            <a:custGeom>
              <a:avLst/>
              <a:gdLst>
                <a:gd name="T0" fmla="*/ 3355 w 3778"/>
                <a:gd name="T1" fmla="*/ 925 h 925"/>
                <a:gd name="T2" fmla="*/ 423 w 3778"/>
                <a:gd name="T3" fmla="*/ 925 h 925"/>
                <a:gd name="T4" fmla="*/ 0 w 3778"/>
                <a:gd name="T5" fmla="*/ 502 h 925"/>
                <a:gd name="T6" fmla="*/ 0 w 3778"/>
                <a:gd name="T7" fmla="*/ 423 h 925"/>
                <a:gd name="T8" fmla="*/ 423 w 3778"/>
                <a:gd name="T9" fmla="*/ 0 h 925"/>
                <a:gd name="T10" fmla="*/ 3355 w 3778"/>
                <a:gd name="T11" fmla="*/ 0 h 925"/>
                <a:gd name="T12" fmla="*/ 3778 w 3778"/>
                <a:gd name="T13" fmla="*/ 423 h 925"/>
                <a:gd name="T14" fmla="*/ 3778 w 3778"/>
                <a:gd name="T15" fmla="*/ 502 h 925"/>
                <a:gd name="T16" fmla="*/ 3355 w 3778"/>
                <a:gd name="T17" fmla="*/ 925 h 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78" h="925">
                  <a:moveTo>
                    <a:pt x="3355" y="925"/>
                  </a:moveTo>
                  <a:cubicBezTo>
                    <a:pt x="423" y="925"/>
                    <a:pt x="423" y="925"/>
                    <a:pt x="423" y="925"/>
                  </a:cubicBezTo>
                  <a:cubicBezTo>
                    <a:pt x="191" y="925"/>
                    <a:pt x="0" y="734"/>
                    <a:pt x="0" y="502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0" y="190"/>
                    <a:pt x="191" y="0"/>
                    <a:pt x="423" y="0"/>
                  </a:cubicBezTo>
                  <a:cubicBezTo>
                    <a:pt x="3355" y="0"/>
                    <a:pt x="3355" y="0"/>
                    <a:pt x="3355" y="0"/>
                  </a:cubicBezTo>
                  <a:cubicBezTo>
                    <a:pt x="3587" y="0"/>
                    <a:pt x="3778" y="190"/>
                    <a:pt x="3778" y="423"/>
                  </a:cubicBezTo>
                  <a:cubicBezTo>
                    <a:pt x="3778" y="502"/>
                    <a:pt x="3778" y="502"/>
                    <a:pt x="3778" y="502"/>
                  </a:cubicBezTo>
                  <a:cubicBezTo>
                    <a:pt x="3778" y="734"/>
                    <a:pt x="3587" y="925"/>
                    <a:pt x="3355" y="925"/>
                  </a:cubicBezTo>
                  <a:close/>
                </a:path>
              </a:pathLst>
            </a:custGeom>
            <a:solidFill>
              <a:srgbClr val="033D54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77" name="Oval 12"/>
            <p:cNvSpPr>
              <a:spLocks noChangeArrowheads="1"/>
            </p:cNvSpPr>
            <p:nvPr/>
          </p:nvSpPr>
          <p:spPr bwMode="auto">
            <a:xfrm>
              <a:off x="7782206" y="3896388"/>
              <a:ext cx="1166031" cy="11640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81" name="Oval 13"/>
            <p:cNvSpPr>
              <a:spLocks noChangeArrowheads="1"/>
            </p:cNvSpPr>
            <p:nvPr/>
          </p:nvSpPr>
          <p:spPr bwMode="auto">
            <a:xfrm>
              <a:off x="7916941" y="4048627"/>
              <a:ext cx="896561" cy="895560"/>
            </a:xfrm>
            <a:prstGeom prst="ellipse">
              <a:avLst/>
            </a:prstGeom>
            <a:solidFill>
              <a:srgbClr val="033D5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8988724" y="4265656"/>
              <a:ext cx="260697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400" kern="0" dirty="0">
                  <a:solidFill>
                    <a:prstClr val="white"/>
                  </a:solidFill>
                  <a:ea typeface="微软雅黑" panose="020B0503020204020204" pitchFamily="34" charset="-122"/>
                </a:rPr>
                <a:t>Data Lake, BigData, Blockchain, IOT, Cloud, Analytics </a:t>
              </a:r>
            </a:p>
          </p:txBody>
        </p:sp>
        <p:sp>
          <p:nvSpPr>
            <p:cNvPr id="210" name="文本框 32"/>
            <p:cNvSpPr txBox="1"/>
            <p:nvPr/>
          </p:nvSpPr>
          <p:spPr>
            <a:xfrm>
              <a:off x="8129517" y="4273845"/>
              <a:ext cx="4793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 3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056132" y="5076976"/>
            <a:ext cx="4459800" cy="1164027"/>
            <a:chOff x="7728238" y="5176299"/>
            <a:chExt cx="4459800" cy="1164027"/>
          </a:xfrm>
        </p:grpSpPr>
        <p:sp>
          <p:nvSpPr>
            <p:cNvPr id="201" name="Freeform 11"/>
            <p:cNvSpPr>
              <a:spLocks/>
            </p:cNvSpPr>
            <p:nvPr/>
          </p:nvSpPr>
          <p:spPr bwMode="auto">
            <a:xfrm>
              <a:off x="8294376" y="5456970"/>
              <a:ext cx="3396881" cy="695211"/>
            </a:xfrm>
            <a:custGeom>
              <a:avLst/>
              <a:gdLst>
                <a:gd name="T0" fmla="*/ 3355 w 3778"/>
                <a:gd name="T1" fmla="*/ 925 h 925"/>
                <a:gd name="T2" fmla="*/ 423 w 3778"/>
                <a:gd name="T3" fmla="*/ 925 h 925"/>
                <a:gd name="T4" fmla="*/ 0 w 3778"/>
                <a:gd name="T5" fmla="*/ 502 h 925"/>
                <a:gd name="T6" fmla="*/ 0 w 3778"/>
                <a:gd name="T7" fmla="*/ 423 h 925"/>
                <a:gd name="T8" fmla="*/ 423 w 3778"/>
                <a:gd name="T9" fmla="*/ 0 h 925"/>
                <a:gd name="T10" fmla="*/ 3355 w 3778"/>
                <a:gd name="T11" fmla="*/ 0 h 925"/>
                <a:gd name="T12" fmla="*/ 3778 w 3778"/>
                <a:gd name="T13" fmla="*/ 423 h 925"/>
                <a:gd name="T14" fmla="*/ 3778 w 3778"/>
                <a:gd name="T15" fmla="*/ 502 h 925"/>
                <a:gd name="T16" fmla="*/ 3355 w 3778"/>
                <a:gd name="T17" fmla="*/ 925 h 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78" h="925">
                  <a:moveTo>
                    <a:pt x="3355" y="925"/>
                  </a:moveTo>
                  <a:cubicBezTo>
                    <a:pt x="423" y="925"/>
                    <a:pt x="423" y="925"/>
                    <a:pt x="423" y="925"/>
                  </a:cubicBezTo>
                  <a:cubicBezTo>
                    <a:pt x="191" y="925"/>
                    <a:pt x="0" y="734"/>
                    <a:pt x="0" y="502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0" y="190"/>
                    <a:pt x="191" y="0"/>
                    <a:pt x="423" y="0"/>
                  </a:cubicBezTo>
                  <a:cubicBezTo>
                    <a:pt x="3355" y="0"/>
                    <a:pt x="3355" y="0"/>
                    <a:pt x="3355" y="0"/>
                  </a:cubicBezTo>
                  <a:cubicBezTo>
                    <a:pt x="3587" y="0"/>
                    <a:pt x="3778" y="190"/>
                    <a:pt x="3778" y="423"/>
                  </a:cubicBezTo>
                  <a:cubicBezTo>
                    <a:pt x="3778" y="502"/>
                    <a:pt x="3778" y="502"/>
                    <a:pt x="3778" y="502"/>
                  </a:cubicBezTo>
                  <a:cubicBezTo>
                    <a:pt x="3778" y="734"/>
                    <a:pt x="3587" y="925"/>
                    <a:pt x="3355" y="925"/>
                  </a:cubicBezTo>
                  <a:close/>
                </a:path>
              </a:pathLst>
            </a:custGeom>
            <a:solidFill>
              <a:srgbClr val="033D54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202" name="Oval 12"/>
            <p:cNvSpPr>
              <a:spLocks noChangeArrowheads="1"/>
            </p:cNvSpPr>
            <p:nvPr/>
          </p:nvSpPr>
          <p:spPr bwMode="auto">
            <a:xfrm>
              <a:off x="7728238" y="5176299"/>
              <a:ext cx="1166031" cy="11640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203" name="Oval 13"/>
            <p:cNvSpPr>
              <a:spLocks noChangeArrowheads="1"/>
            </p:cNvSpPr>
            <p:nvPr/>
          </p:nvSpPr>
          <p:spPr bwMode="auto">
            <a:xfrm>
              <a:off x="7849852" y="5328538"/>
              <a:ext cx="896561" cy="895560"/>
            </a:xfrm>
            <a:prstGeom prst="ellipse">
              <a:avLst/>
            </a:prstGeom>
            <a:solidFill>
              <a:srgbClr val="033D5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8945386" y="5542965"/>
              <a:ext cx="324265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400" kern="0" dirty="0">
                  <a:solidFill>
                    <a:prstClr val="white"/>
                  </a:solidFill>
                  <a:ea typeface="微软雅黑" panose="020B0503020204020204" pitchFamily="34" charset="-122"/>
                </a:rPr>
                <a:t>Data Science(ML, AI), Mobile </a:t>
              </a:r>
            </a:p>
            <a:p>
              <a:pPr marL="0" lvl="1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400" kern="0" dirty="0">
                  <a:solidFill>
                    <a:prstClr val="white"/>
                  </a:solidFill>
                  <a:ea typeface="微软雅黑" panose="020B0503020204020204" pitchFamily="34" charset="-122"/>
                </a:rPr>
                <a:t>Apps, Custom Applications</a:t>
              </a:r>
            </a:p>
          </p:txBody>
        </p:sp>
        <p:sp>
          <p:nvSpPr>
            <p:cNvPr id="211" name="文本框 32"/>
            <p:cNvSpPr txBox="1"/>
            <p:nvPr/>
          </p:nvSpPr>
          <p:spPr>
            <a:xfrm>
              <a:off x="7795455" y="5558240"/>
              <a:ext cx="9482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 4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7149" y="2514859"/>
            <a:ext cx="4077731" cy="1164027"/>
            <a:chOff x="-1101" y="2491809"/>
            <a:chExt cx="4077731" cy="1164027"/>
          </a:xfrm>
        </p:grpSpPr>
        <p:sp>
          <p:nvSpPr>
            <p:cNvPr id="116" name="Freeform 11"/>
            <p:cNvSpPr>
              <a:spLocks/>
            </p:cNvSpPr>
            <p:nvPr/>
          </p:nvSpPr>
          <p:spPr bwMode="auto">
            <a:xfrm>
              <a:off x="482216" y="2759231"/>
              <a:ext cx="3265637" cy="695211"/>
            </a:xfrm>
            <a:custGeom>
              <a:avLst/>
              <a:gdLst>
                <a:gd name="T0" fmla="*/ 3355 w 3778"/>
                <a:gd name="T1" fmla="*/ 925 h 925"/>
                <a:gd name="T2" fmla="*/ 423 w 3778"/>
                <a:gd name="T3" fmla="*/ 925 h 925"/>
                <a:gd name="T4" fmla="*/ 0 w 3778"/>
                <a:gd name="T5" fmla="*/ 502 h 925"/>
                <a:gd name="T6" fmla="*/ 0 w 3778"/>
                <a:gd name="T7" fmla="*/ 423 h 925"/>
                <a:gd name="T8" fmla="*/ 423 w 3778"/>
                <a:gd name="T9" fmla="*/ 0 h 925"/>
                <a:gd name="T10" fmla="*/ 3355 w 3778"/>
                <a:gd name="T11" fmla="*/ 0 h 925"/>
                <a:gd name="T12" fmla="*/ 3778 w 3778"/>
                <a:gd name="T13" fmla="*/ 423 h 925"/>
                <a:gd name="T14" fmla="*/ 3778 w 3778"/>
                <a:gd name="T15" fmla="*/ 502 h 925"/>
                <a:gd name="T16" fmla="*/ 3355 w 3778"/>
                <a:gd name="T17" fmla="*/ 925 h 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78" h="925">
                  <a:moveTo>
                    <a:pt x="3355" y="925"/>
                  </a:moveTo>
                  <a:cubicBezTo>
                    <a:pt x="423" y="925"/>
                    <a:pt x="423" y="925"/>
                    <a:pt x="423" y="925"/>
                  </a:cubicBezTo>
                  <a:cubicBezTo>
                    <a:pt x="191" y="925"/>
                    <a:pt x="0" y="734"/>
                    <a:pt x="0" y="502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0" y="190"/>
                    <a:pt x="191" y="0"/>
                    <a:pt x="423" y="0"/>
                  </a:cubicBezTo>
                  <a:cubicBezTo>
                    <a:pt x="3355" y="0"/>
                    <a:pt x="3355" y="0"/>
                    <a:pt x="3355" y="0"/>
                  </a:cubicBezTo>
                  <a:cubicBezTo>
                    <a:pt x="3587" y="0"/>
                    <a:pt x="3778" y="190"/>
                    <a:pt x="3778" y="423"/>
                  </a:cubicBezTo>
                  <a:cubicBezTo>
                    <a:pt x="3778" y="502"/>
                    <a:pt x="3778" y="502"/>
                    <a:pt x="3778" y="502"/>
                  </a:cubicBezTo>
                  <a:cubicBezTo>
                    <a:pt x="3778" y="734"/>
                    <a:pt x="3587" y="925"/>
                    <a:pt x="3355" y="925"/>
                  </a:cubicBezTo>
                  <a:close/>
                </a:path>
              </a:pathLst>
            </a:custGeom>
            <a:solidFill>
              <a:srgbClr val="063D54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17" name="Oval 12"/>
            <p:cNvSpPr>
              <a:spLocks noChangeArrowheads="1"/>
            </p:cNvSpPr>
            <p:nvPr/>
          </p:nvSpPr>
          <p:spPr bwMode="auto">
            <a:xfrm>
              <a:off x="-1101" y="2491809"/>
              <a:ext cx="1166031" cy="11640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18" name="Oval 13"/>
            <p:cNvSpPr>
              <a:spLocks noChangeArrowheads="1"/>
            </p:cNvSpPr>
            <p:nvPr/>
          </p:nvSpPr>
          <p:spPr bwMode="auto">
            <a:xfrm>
              <a:off x="120513" y="2644048"/>
              <a:ext cx="896561" cy="895560"/>
            </a:xfrm>
            <a:prstGeom prst="ellipse">
              <a:avLst/>
            </a:prstGeom>
            <a:solidFill>
              <a:srgbClr val="063D5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19" name="文本框 32"/>
            <p:cNvSpPr txBox="1"/>
            <p:nvPr/>
          </p:nvSpPr>
          <p:spPr>
            <a:xfrm>
              <a:off x="174260" y="2883069"/>
              <a:ext cx="757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CabinSketch" panose="020B0503050202020004" pitchFamily="34" charset="0"/>
                </a:rPr>
                <a:t> </a:t>
              </a:r>
              <a:r>
                <a:rPr lang="en-US" sz="24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1160749" y="2828605"/>
              <a:ext cx="2915881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276225" lvl="0" indent="-276225">
                <a:defRPr/>
              </a:pPr>
              <a:r>
                <a:rPr lang="en-US" sz="1400" dirty="0">
                  <a:solidFill>
                    <a:prstClr val="white"/>
                  </a:solidFill>
                </a:rPr>
                <a:t>Fixed Cost Models to Minimize</a:t>
              </a:r>
            </a:p>
            <a:p>
              <a:pPr marL="276225" lvl="0" indent="-276225">
                <a:defRPr/>
              </a:pPr>
              <a:r>
                <a:rPr lang="en-US" sz="1400" dirty="0">
                  <a:solidFill>
                    <a:prstClr val="white"/>
                  </a:solidFill>
                </a:rPr>
                <a:t>the Implementation Risk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7023" y="3766228"/>
            <a:ext cx="4052265" cy="1164027"/>
            <a:chOff x="74749" y="3666470"/>
            <a:chExt cx="4052265" cy="1164027"/>
          </a:xfrm>
        </p:grpSpPr>
        <p:sp>
          <p:nvSpPr>
            <p:cNvPr id="98" name="Freeform 11"/>
            <p:cNvSpPr>
              <a:spLocks/>
            </p:cNvSpPr>
            <p:nvPr/>
          </p:nvSpPr>
          <p:spPr bwMode="auto">
            <a:xfrm>
              <a:off x="640887" y="3947141"/>
              <a:ext cx="3140801" cy="695211"/>
            </a:xfrm>
            <a:custGeom>
              <a:avLst/>
              <a:gdLst>
                <a:gd name="T0" fmla="*/ 3355 w 3778"/>
                <a:gd name="T1" fmla="*/ 925 h 925"/>
                <a:gd name="T2" fmla="*/ 423 w 3778"/>
                <a:gd name="T3" fmla="*/ 925 h 925"/>
                <a:gd name="T4" fmla="*/ 0 w 3778"/>
                <a:gd name="T5" fmla="*/ 502 h 925"/>
                <a:gd name="T6" fmla="*/ 0 w 3778"/>
                <a:gd name="T7" fmla="*/ 423 h 925"/>
                <a:gd name="T8" fmla="*/ 423 w 3778"/>
                <a:gd name="T9" fmla="*/ 0 h 925"/>
                <a:gd name="T10" fmla="*/ 3355 w 3778"/>
                <a:gd name="T11" fmla="*/ 0 h 925"/>
                <a:gd name="T12" fmla="*/ 3778 w 3778"/>
                <a:gd name="T13" fmla="*/ 423 h 925"/>
                <a:gd name="T14" fmla="*/ 3778 w 3778"/>
                <a:gd name="T15" fmla="*/ 502 h 925"/>
                <a:gd name="T16" fmla="*/ 3355 w 3778"/>
                <a:gd name="T17" fmla="*/ 925 h 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78" h="925">
                  <a:moveTo>
                    <a:pt x="3355" y="925"/>
                  </a:moveTo>
                  <a:cubicBezTo>
                    <a:pt x="423" y="925"/>
                    <a:pt x="423" y="925"/>
                    <a:pt x="423" y="925"/>
                  </a:cubicBezTo>
                  <a:cubicBezTo>
                    <a:pt x="191" y="925"/>
                    <a:pt x="0" y="734"/>
                    <a:pt x="0" y="502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0" y="190"/>
                    <a:pt x="191" y="0"/>
                    <a:pt x="423" y="0"/>
                  </a:cubicBezTo>
                  <a:cubicBezTo>
                    <a:pt x="3355" y="0"/>
                    <a:pt x="3355" y="0"/>
                    <a:pt x="3355" y="0"/>
                  </a:cubicBezTo>
                  <a:cubicBezTo>
                    <a:pt x="3587" y="0"/>
                    <a:pt x="3778" y="190"/>
                    <a:pt x="3778" y="423"/>
                  </a:cubicBezTo>
                  <a:cubicBezTo>
                    <a:pt x="3778" y="502"/>
                    <a:pt x="3778" y="502"/>
                    <a:pt x="3778" y="502"/>
                  </a:cubicBezTo>
                  <a:cubicBezTo>
                    <a:pt x="3778" y="734"/>
                    <a:pt x="3587" y="925"/>
                    <a:pt x="3355" y="925"/>
                  </a:cubicBezTo>
                  <a:close/>
                </a:path>
              </a:pathLst>
            </a:custGeom>
            <a:solidFill>
              <a:srgbClr val="063D54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99" name="Oval 12"/>
            <p:cNvSpPr>
              <a:spLocks noChangeArrowheads="1"/>
            </p:cNvSpPr>
            <p:nvPr/>
          </p:nvSpPr>
          <p:spPr bwMode="auto">
            <a:xfrm>
              <a:off x="74749" y="3666470"/>
              <a:ext cx="1166031" cy="11640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00" name="Oval 13"/>
            <p:cNvSpPr>
              <a:spLocks noChangeArrowheads="1"/>
            </p:cNvSpPr>
            <p:nvPr/>
          </p:nvSpPr>
          <p:spPr bwMode="auto">
            <a:xfrm>
              <a:off x="209483" y="3818709"/>
              <a:ext cx="896561" cy="895560"/>
            </a:xfrm>
            <a:prstGeom prst="ellipse">
              <a:avLst/>
            </a:prstGeom>
            <a:solidFill>
              <a:srgbClr val="063D5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61" name="文本框 32"/>
            <p:cNvSpPr txBox="1"/>
            <p:nvPr/>
          </p:nvSpPr>
          <p:spPr>
            <a:xfrm>
              <a:off x="157478" y="4021508"/>
              <a:ext cx="9482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 3</a:t>
              </a:r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1256187" y="4009956"/>
              <a:ext cx="2870827" cy="52322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276225" lvl="0" indent="-276225">
                <a:defRPr/>
              </a:pPr>
              <a:r>
                <a:rPr lang="en-US" sz="1400" dirty="0">
                  <a:solidFill>
                    <a:prstClr val="white"/>
                  </a:solidFill>
                </a:rPr>
                <a:t>Fast Realization of Values </a:t>
              </a:r>
            </a:p>
            <a:p>
              <a:pPr marL="276225" lvl="0" indent="-276225">
                <a:defRPr/>
              </a:pPr>
              <a:r>
                <a:rPr lang="en-US" sz="1400" dirty="0">
                  <a:solidFill>
                    <a:prstClr val="white"/>
                  </a:solidFill>
                </a:rPr>
                <a:t>using Acceleration Framework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4313" y="5034160"/>
            <a:ext cx="3760907" cy="1164027"/>
            <a:chOff x="-18935" y="5013953"/>
            <a:chExt cx="3760907" cy="1164027"/>
          </a:xfrm>
        </p:grpSpPr>
        <p:sp>
          <p:nvSpPr>
            <p:cNvPr id="111" name="Freeform 11"/>
            <p:cNvSpPr>
              <a:spLocks/>
            </p:cNvSpPr>
            <p:nvPr/>
          </p:nvSpPr>
          <p:spPr bwMode="auto">
            <a:xfrm>
              <a:off x="547203" y="5266354"/>
              <a:ext cx="3194769" cy="695211"/>
            </a:xfrm>
            <a:custGeom>
              <a:avLst/>
              <a:gdLst>
                <a:gd name="T0" fmla="*/ 3355 w 3778"/>
                <a:gd name="T1" fmla="*/ 925 h 925"/>
                <a:gd name="T2" fmla="*/ 423 w 3778"/>
                <a:gd name="T3" fmla="*/ 925 h 925"/>
                <a:gd name="T4" fmla="*/ 0 w 3778"/>
                <a:gd name="T5" fmla="*/ 502 h 925"/>
                <a:gd name="T6" fmla="*/ 0 w 3778"/>
                <a:gd name="T7" fmla="*/ 423 h 925"/>
                <a:gd name="T8" fmla="*/ 423 w 3778"/>
                <a:gd name="T9" fmla="*/ 0 h 925"/>
                <a:gd name="T10" fmla="*/ 3355 w 3778"/>
                <a:gd name="T11" fmla="*/ 0 h 925"/>
                <a:gd name="T12" fmla="*/ 3778 w 3778"/>
                <a:gd name="T13" fmla="*/ 423 h 925"/>
                <a:gd name="T14" fmla="*/ 3778 w 3778"/>
                <a:gd name="T15" fmla="*/ 502 h 925"/>
                <a:gd name="T16" fmla="*/ 3355 w 3778"/>
                <a:gd name="T17" fmla="*/ 925 h 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78" h="925">
                  <a:moveTo>
                    <a:pt x="3355" y="925"/>
                  </a:moveTo>
                  <a:cubicBezTo>
                    <a:pt x="423" y="925"/>
                    <a:pt x="423" y="925"/>
                    <a:pt x="423" y="925"/>
                  </a:cubicBezTo>
                  <a:cubicBezTo>
                    <a:pt x="191" y="925"/>
                    <a:pt x="0" y="734"/>
                    <a:pt x="0" y="502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0" y="190"/>
                    <a:pt x="191" y="0"/>
                    <a:pt x="423" y="0"/>
                  </a:cubicBezTo>
                  <a:cubicBezTo>
                    <a:pt x="3355" y="0"/>
                    <a:pt x="3355" y="0"/>
                    <a:pt x="3355" y="0"/>
                  </a:cubicBezTo>
                  <a:cubicBezTo>
                    <a:pt x="3587" y="0"/>
                    <a:pt x="3778" y="190"/>
                    <a:pt x="3778" y="423"/>
                  </a:cubicBezTo>
                  <a:cubicBezTo>
                    <a:pt x="3778" y="502"/>
                    <a:pt x="3778" y="502"/>
                    <a:pt x="3778" y="502"/>
                  </a:cubicBezTo>
                  <a:cubicBezTo>
                    <a:pt x="3778" y="734"/>
                    <a:pt x="3587" y="925"/>
                    <a:pt x="3355" y="925"/>
                  </a:cubicBezTo>
                  <a:close/>
                </a:path>
              </a:pathLst>
            </a:custGeom>
            <a:solidFill>
              <a:srgbClr val="063D54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12" name="Oval 12"/>
            <p:cNvSpPr>
              <a:spLocks noChangeArrowheads="1"/>
            </p:cNvSpPr>
            <p:nvPr/>
          </p:nvSpPr>
          <p:spPr bwMode="auto">
            <a:xfrm>
              <a:off x="-18935" y="5013953"/>
              <a:ext cx="1166031" cy="11640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13" name="Oval 13"/>
            <p:cNvSpPr>
              <a:spLocks noChangeArrowheads="1"/>
            </p:cNvSpPr>
            <p:nvPr/>
          </p:nvSpPr>
          <p:spPr bwMode="auto">
            <a:xfrm>
              <a:off x="115800" y="5137922"/>
              <a:ext cx="896561" cy="895560"/>
            </a:xfrm>
            <a:prstGeom prst="ellipse">
              <a:avLst/>
            </a:prstGeom>
            <a:solidFill>
              <a:srgbClr val="063D5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  <a:latin typeface="Lato Light"/>
              </a:endParaRPr>
            </a:p>
          </p:txBody>
        </p:sp>
        <p:sp>
          <p:nvSpPr>
            <p:cNvPr id="172" name="文本框 32"/>
            <p:cNvSpPr txBox="1"/>
            <p:nvPr/>
          </p:nvSpPr>
          <p:spPr>
            <a:xfrm>
              <a:off x="45449" y="5342910"/>
              <a:ext cx="9482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 4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166605" y="5442077"/>
              <a:ext cx="2243057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Multi Domain Expertise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736092" y="973984"/>
            <a:ext cx="971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36F13"/>
                </a:solidFill>
              </a:rPr>
              <a:t>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7118" y="1004170"/>
            <a:ext cx="1945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36F13"/>
                </a:solidFill>
              </a:rPr>
              <a:t>About Kpro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2907" y="1727686"/>
            <a:ext cx="231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36F13"/>
                </a:solidFill>
              </a:rPr>
              <a:t>Kpro Mantra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0A5D2E-3B02-266F-3C3E-E60B31190BF7}"/>
              </a:ext>
            </a:extLst>
          </p:cNvPr>
          <p:cNvSpPr txBox="1"/>
          <p:nvPr/>
        </p:nvSpPr>
        <p:spPr>
          <a:xfrm>
            <a:off x="3892763" y="4647961"/>
            <a:ext cx="4215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36F13"/>
                </a:solidFill>
              </a:rPr>
              <a:t>Consulting to Product Mindset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30F74ECC-0EE3-F9F5-B806-8AADAC85A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4203" y="5113330"/>
            <a:ext cx="711452" cy="71145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B2CE2B6-9157-2C0C-EA12-9EB0F3AB6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7410" y="5102842"/>
            <a:ext cx="922786" cy="712150"/>
          </a:xfrm>
          <a:prstGeom prst="rect">
            <a:avLst/>
          </a:prstGeom>
        </p:spPr>
      </p:pic>
      <p:pic>
        <p:nvPicPr>
          <p:cNvPr id="20" name="Picture 19" descr="A screenshot of a website&#10;&#10;Description automatically generated">
            <a:extLst>
              <a:ext uri="{FF2B5EF4-FFF2-40B4-BE49-F238E27FC236}">
                <a16:creationId xmlns:a16="http://schemas.microsoft.com/office/drawing/2014/main" id="{5A16F2AF-82FE-27C8-1F8D-F68FBA0387D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6" t="15028" r="24760" b="54324"/>
          <a:stretch>
            <a:fillRect/>
          </a:stretch>
        </p:blipFill>
        <p:spPr>
          <a:xfrm>
            <a:off x="6413230" y="5150789"/>
            <a:ext cx="1338947" cy="63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96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9"/>
          <p:cNvSpPr>
            <a:spLocks noChangeArrowheads="1"/>
          </p:cNvSpPr>
          <p:nvPr/>
        </p:nvSpPr>
        <p:spPr bwMode="auto">
          <a:xfrm>
            <a:off x="5267040" y="1102549"/>
            <a:ext cx="1816205" cy="19200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8" name="Rectangle 12"/>
          <p:cNvSpPr>
            <a:spLocks noChangeArrowheads="1"/>
          </p:cNvSpPr>
          <p:nvPr/>
        </p:nvSpPr>
        <p:spPr bwMode="auto">
          <a:xfrm>
            <a:off x="2926891" y="1086734"/>
            <a:ext cx="1816205" cy="197093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Rectangle 6"/>
          <p:cNvSpPr>
            <a:spLocks noChangeArrowheads="1"/>
          </p:cNvSpPr>
          <p:nvPr/>
        </p:nvSpPr>
        <p:spPr bwMode="auto">
          <a:xfrm>
            <a:off x="722494" y="3252792"/>
            <a:ext cx="1816205" cy="170119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Rectangle 12"/>
          <p:cNvSpPr>
            <a:spLocks noChangeArrowheads="1"/>
          </p:cNvSpPr>
          <p:nvPr/>
        </p:nvSpPr>
        <p:spPr bwMode="auto">
          <a:xfrm>
            <a:off x="2937524" y="3252792"/>
            <a:ext cx="1816205" cy="170119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Rectangle 15"/>
          <p:cNvSpPr>
            <a:spLocks noChangeArrowheads="1"/>
          </p:cNvSpPr>
          <p:nvPr/>
        </p:nvSpPr>
        <p:spPr bwMode="auto">
          <a:xfrm>
            <a:off x="5278350" y="3252792"/>
            <a:ext cx="1816205" cy="170119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" name="Rectangle 6"/>
          <p:cNvSpPr>
            <a:spLocks noChangeArrowheads="1"/>
          </p:cNvSpPr>
          <p:nvPr/>
        </p:nvSpPr>
        <p:spPr bwMode="auto">
          <a:xfrm>
            <a:off x="677188" y="1086734"/>
            <a:ext cx="1816205" cy="197330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5F51DE06-FE6C-8A4D-A678-35D770C1F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24" y="2247331"/>
            <a:ext cx="1661675" cy="71957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5" name="Rectangle 114"/>
          <p:cNvSpPr/>
          <p:nvPr/>
        </p:nvSpPr>
        <p:spPr>
          <a:xfrm>
            <a:off x="677188" y="1231011"/>
            <a:ext cx="1789504" cy="738664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lvl="0" algn="ctr"/>
            <a:r>
              <a:rPr lang="en-US" sz="1400" dirty="0">
                <a:solidFill>
                  <a:schemeClr val="bg1"/>
                </a:solidFill>
              </a:rPr>
              <a:t>Part level</a:t>
            </a:r>
          </a:p>
          <a:p>
            <a:pPr lvl="0" algn="ctr"/>
            <a:r>
              <a:rPr lang="en-US" sz="1400" dirty="0">
                <a:solidFill>
                  <a:schemeClr val="bg1"/>
                </a:solidFill>
              </a:rPr>
              <a:t> Forecasting and Safety Stock</a:t>
            </a: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11805A47-A1CA-F940-940F-9884ABD54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891" y="2253096"/>
            <a:ext cx="1624511" cy="7142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4" name="Rectangle 133"/>
          <p:cNvSpPr/>
          <p:nvPr/>
        </p:nvSpPr>
        <p:spPr>
          <a:xfrm>
            <a:off x="2938477" y="1236799"/>
            <a:ext cx="1790764" cy="738664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End to end Supply Chain Analytics for Daimler Fuso 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EB6581AF-6117-0E4E-9A13-C36533297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114" y="2272453"/>
            <a:ext cx="1747927" cy="68268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0" name="Rectangle 139"/>
          <p:cNvSpPr/>
          <p:nvPr/>
        </p:nvSpPr>
        <p:spPr>
          <a:xfrm>
            <a:off x="5293114" y="1274559"/>
            <a:ext cx="1769108" cy="64633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End Customer Segmentation and Customer Experience</a:t>
            </a:r>
          </a:p>
        </p:txBody>
      </p:sp>
      <p:sp>
        <p:nvSpPr>
          <p:cNvPr id="147" name="Rectangle 15"/>
          <p:cNvSpPr>
            <a:spLocks noChangeArrowheads="1"/>
          </p:cNvSpPr>
          <p:nvPr/>
        </p:nvSpPr>
        <p:spPr bwMode="auto">
          <a:xfrm>
            <a:off x="7607189" y="1086733"/>
            <a:ext cx="1816205" cy="193583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19F39610-86E6-D449-88EF-AE65027F7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7794" y="2272872"/>
            <a:ext cx="1670289" cy="66848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5" name="Rectangle 154"/>
          <p:cNvSpPr/>
          <p:nvPr/>
        </p:nvSpPr>
        <p:spPr>
          <a:xfrm>
            <a:off x="7623618" y="1259053"/>
            <a:ext cx="1770992" cy="738664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Real time Road Side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Assistance Mobile App</a:t>
            </a:r>
          </a:p>
        </p:txBody>
      </p:sp>
      <p:pic>
        <p:nvPicPr>
          <p:cNvPr id="175" name="Picture 174">
            <a:extLst>
              <a:ext uri="{FF2B5EF4-FFF2-40B4-BE49-F238E27FC236}">
                <a16:creationId xmlns:a16="http://schemas.microsoft.com/office/drawing/2014/main" id="{75D2D3C6-839F-BB4E-BD8B-1206D10A53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516" y="4193018"/>
            <a:ext cx="1576495" cy="6826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6" name="Rectangle 175"/>
          <p:cNvSpPr/>
          <p:nvPr/>
        </p:nvSpPr>
        <p:spPr>
          <a:xfrm>
            <a:off x="736349" y="3454598"/>
            <a:ext cx="1761065" cy="64633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Analytics on Real time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Transaction for Fraud and Anomaly Detection</a:t>
            </a:r>
          </a:p>
        </p:txBody>
      </p:sp>
      <p:pic>
        <p:nvPicPr>
          <p:cNvPr id="177" name="Picture 176">
            <a:extLst>
              <a:ext uri="{FF2B5EF4-FFF2-40B4-BE49-F238E27FC236}">
                <a16:creationId xmlns:a16="http://schemas.microsoft.com/office/drawing/2014/main" id="{530F73BC-F669-3649-8AB1-61495B20F9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1634" y="4193018"/>
            <a:ext cx="1556914" cy="68268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26E691CD-E2ED-0A45-889D-31B120D02B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0064" y="4193018"/>
            <a:ext cx="1732774" cy="68609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0" name="Rectangle 179"/>
          <p:cNvSpPr/>
          <p:nvPr/>
        </p:nvSpPr>
        <p:spPr>
          <a:xfrm>
            <a:off x="2949110" y="3424093"/>
            <a:ext cx="1786971" cy="64633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Churn Analytics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and Inactive Customer Activation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277131" y="3421976"/>
            <a:ext cx="1788083" cy="64633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Customer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Behavior Analytics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and Recommendations</a:t>
            </a:r>
          </a:p>
        </p:txBody>
      </p:sp>
      <p:sp>
        <p:nvSpPr>
          <p:cNvPr id="27" name="Rectangle 15"/>
          <p:cNvSpPr>
            <a:spLocks noChangeArrowheads="1"/>
          </p:cNvSpPr>
          <p:nvPr/>
        </p:nvSpPr>
        <p:spPr bwMode="auto">
          <a:xfrm>
            <a:off x="9883594" y="1121836"/>
            <a:ext cx="1816205" cy="193583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9900386" y="1274559"/>
            <a:ext cx="1799413" cy="738664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AI enabled Audit Product Development</a:t>
            </a: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Rectangle 15"/>
          <p:cNvSpPr>
            <a:spLocks noChangeArrowheads="1"/>
          </p:cNvSpPr>
          <p:nvPr/>
        </p:nvSpPr>
        <p:spPr bwMode="auto">
          <a:xfrm>
            <a:off x="7564891" y="3232602"/>
            <a:ext cx="1816205" cy="170119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590223" y="3377927"/>
            <a:ext cx="1777018" cy="64633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Asansol Municipal Corporation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499" y="4193018"/>
            <a:ext cx="1680521" cy="66304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3" name="Rectangle 32"/>
          <p:cNvSpPr/>
          <p:nvPr/>
        </p:nvSpPr>
        <p:spPr>
          <a:xfrm>
            <a:off x="0" y="0"/>
            <a:ext cx="2032351" cy="754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1" indent="0" algn="l" defTabSz="121917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noProof="0" dirty="0">
                <a:solidFill>
                  <a:srgbClr val="063D54"/>
                </a:solidFill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Our Clients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63D54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79BA7533-6E75-EB44-FD40-2345EDE2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5717" y="3255831"/>
            <a:ext cx="1816205" cy="169815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AB4C7D-5BCF-F7B6-93BD-730D6F36E37E}"/>
              </a:ext>
            </a:extLst>
          </p:cNvPr>
          <p:cNvSpPr/>
          <p:nvPr/>
        </p:nvSpPr>
        <p:spPr>
          <a:xfrm>
            <a:off x="9922509" y="3408554"/>
            <a:ext cx="1799413" cy="738664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Security Implementation</a:t>
            </a: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AE9C29-9641-BD00-4F26-6B7C96B31C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19214" y="4217920"/>
            <a:ext cx="1606001" cy="6739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F5C95D6F-4F44-C9D9-9DDB-68606CC4D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1876" y="2272452"/>
            <a:ext cx="1755651" cy="66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5">
            <a:extLst>
              <a:ext uri="{FF2B5EF4-FFF2-40B4-BE49-F238E27FC236}">
                <a16:creationId xmlns:a16="http://schemas.microsoft.com/office/drawing/2014/main" id="{C2F8172C-F270-F644-EFE0-1DAE1A3B4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703" y="5056280"/>
            <a:ext cx="1816205" cy="169815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98D8B2-2EE1-B46D-1977-ED2716F8FEA0}"/>
              </a:ext>
            </a:extLst>
          </p:cNvPr>
          <p:cNvSpPr/>
          <p:nvPr/>
        </p:nvSpPr>
        <p:spPr>
          <a:xfrm>
            <a:off x="739495" y="5209003"/>
            <a:ext cx="1799413" cy="83099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Application CR Management &amp; Decommissioning of Tool 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" name="Picture 1" descr="BNY Strategy and Business Model">
            <a:extLst>
              <a:ext uri="{FF2B5EF4-FFF2-40B4-BE49-F238E27FC236}">
                <a16:creationId xmlns:a16="http://schemas.microsoft.com/office/drawing/2014/main" id="{6B9F79FE-4A5D-BC6B-EB0D-21256A96DC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516" y="6142291"/>
            <a:ext cx="1634176" cy="568145"/>
          </a:xfrm>
          <a:prstGeom prst="rect">
            <a:avLst/>
          </a:prstGeom>
        </p:spPr>
      </p:pic>
      <p:sp>
        <p:nvSpPr>
          <p:cNvPr id="10" name="Rectangle 15">
            <a:extLst>
              <a:ext uri="{FF2B5EF4-FFF2-40B4-BE49-F238E27FC236}">
                <a16:creationId xmlns:a16="http://schemas.microsoft.com/office/drawing/2014/main" id="{00509365-A054-509F-7AA6-EA3D2AEB9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195" y="5070452"/>
            <a:ext cx="1816205" cy="169815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25F659-8791-38A2-F45C-829311BC348A}"/>
              </a:ext>
            </a:extLst>
          </p:cNvPr>
          <p:cNvSpPr/>
          <p:nvPr/>
        </p:nvSpPr>
        <p:spPr>
          <a:xfrm>
            <a:off x="2943987" y="5223175"/>
            <a:ext cx="1799413" cy="64633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Complete Platform and CRM Applications 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012BD81D-C3AA-DBC0-8F8D-ACF84D8B3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9912" y="5063361"/>
            <a:ext cx="1816205" cy="169815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6275B8-55A3-C391-693D-73C5579B53E8}"/>
              </a:ext>
            </a:extLst>
          </p:cNvPr>
          <p:cNvSpPr/>
          <p:nvPr/>
        </p:nvSpPr>
        <p:spPr>
          <a:xfrm>
            <a:off x="5286704" y="5184185"/>
            <a:ext cx="1799413" cy="64633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Complete CRM and ERP Solutions 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6" name="Picture 15" descr="Welcome to Ayushman Initiative">
            <a:extLst>
              <a:ext uri="{FF2B5EF4-FFF2-40B4-BE49-F238E27FC236}">
                <a16:creationId xmlns:a16="http://schemas.microsoft.com/office/drawing/2014/main" id="{2AAE0073-A918-7EEE-A7F1-604433FBE6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08891" y="6007268"/>
            <a:ext cx="1624511" cy="646331"/>
          </a:xfrm>
          <a:prstGeom prst="rect">
            <a:avLst/>
          </a:prstGeom>
        </p:spPr>
      </p:pic>
      <p:pic>
        <p:nvPicPr>
          <p:cNvPr id="17" name="Picture 16" descr="Vibhava Residential Plots | MUDA Approved Plots Venture">
            <a:extLst>
              <a:ext uri="{FF2B5EF4-FFF2-40B4-BE49-F238E27FC236}">
                <a16:creationId xmlns:a16="http://schemas.microsoft.com/office/drawing/2014/main" id="{0A5D3E84-BFF7-4B2E-B1DB-840CD3017B7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76771" y="5939889"/>
            <a:ext cx="1587555" cy="73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99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/>
          <p:cNvGrpSpPr/>
          <p:nvPr/>
        </p:nvGrpSpPr>
        <p:grpSpPr>
          <a:xfrm>
            <a:off x="2225052" y="711719"/>
            <a:ext cx="7064553" cy="4297189"/>
            <a:chOff x="3238831" y="294218"/>
            <a:chExt cx="7064553" cy="4297189"/>
          </a:xfrm>
        </p:grpSpPr>
        <p:grpSp>
          <p:nvGrpSpPr>
            <p:cNvPr id="64" name="Group 63"/>
            <p:cNvGrpSpPr/>
            <p:nvPr/>
          </p:nvGrpSpPr>
          <p:grpSpPr>
            <a:xfrm>
              <a:off x="8120458" y="2266593"/>
              <a:ext cx="2182926" cy="2324814"/>
              <a:chOff x="3428567" y="380286"/>
              <a:chExt cx="5784203" cy="6160167"/>
            </a:xfrm>
            <a:effectLst>
              <a:outerShdw blurRad="520700" sx="117000" sy="117000" algn="ctr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grpSpPr>
          <p:sp>
            <p:nvSpPr>
              <p:cNvPr id="80" name="Hexagon 79"/>
              <p:cNvSpPr/>
              <p:nvPr/>
            </p:nvSpPr>
            <p:spPr>
              <a:xfrm rot="5400000">
                <a:off x="3015915" y="792938"/>
                <a:ext cx="6160167" cy="5334863"/>
              </a:xfrm>
              <a:prstGeom prst="hexagon">
                <a:avLst>
                  <a:gd name="adj" fmla="val 28932"/>
                  <a:gd name="vf" fmla="val 115470"/>
                </a:avLst>
              </a:prstGeom>
              <a:blipFill dpi="0" rotWithShape="0">
                <a:blip r:embed="rId2"/>
                <a:srcRect/>
                <a:stretch>
                  <a:fillRect l="-25000" t="-25000" r="6000" b="-4000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Freeform: Shape 53"/>
              <p:cNvSpPr/>
              <p:nvPr/>
            </p:nvSpPr>
            <p:spPr>
              <a:xfrm rot="1798156">
                <a:off x="5105155" y="982197"/>
                <a:ext cx="4107615" cy="1063219"/>
              </a:xfrm>
              <a:custGeom>
                <a:avLst/>
                <a:gdLst>
                  <a:gd name="connsiteX0" fmla="*/ 0 w 4303644"/>
                  <a:gd name="connsiteY0" fmla="*/ 1063219 h 1063219"/>
                  <a:gd name="connsiteX1" fmla="*/ 615221 w 4303644"/>
                  <a:gd name="connsiteY1" fmla="*/ 0 h 1063219"/>
                  <a:gd name="connsiteX2" fmla="*/ 3688422 w 4303644"/>
                  <a:gd name="connsiteY2" fmla="*/ 0 h 1063219"/>
                  <a:gd name="connsiteX3" fmla="*/ 4303644 w 4303644"/>
                  <a:gd name="connsiteY3" fmla="*/ 1063219 h 1063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644" h="1063219">
                    <a:moveTo>
                      <a:pt x="0" y="1063219"/>
                    </a:moveTo>
                    <a:lnTo>
                      <a:pt x="615221" y="0"/>
                    </a:lnTo>
                    <a:lnTo>
                      <a:pt x="3688422" y="0"/>
                    </a:lnTo>
                    <a:lnTo>
                      <a:pt x="4303644" y="1063219"/>
                    </a:lnTo>
                    <a:close/>
                  </a:path>
                </a:pathLst>
              </a:custGeom>
              <a:solidFill>
                <a:srgbClr val="10576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Neeraj Tiwari</a:t>
                </a:r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 rot="-3600000">
              <a:off x="6893850" y="237524"/>
              <a:ext cx="2211425" cy="2324814"/>
              <a:chOff x="3428569" y="380286"/>
              <a:chExt cx="5859716" cy="6160167"/>
            </a:xfrm>
            <a:effectLst>
              <a:outerShdw blurRad="520700" sx="117000" sy="117000" algn="ctr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grpSpPr>
          <p:sp>
            <p:nvSpPr>
              <p:cNvPr id="78" name="Hexagon 77"/>
              <p:cNvSpPr/>
              <p:nvPr/>
            </p:nvSpPr>
            <p:spPr>
              <a:xfrm rot="5400000">
                <a:off x="3015917" y="792938"/>
                <a:ext cx="6160167" cy="5334863"/>
              </a:xfrm>
              <a:prstGeom prst="hexagon">
                <a:avLst>
                  <a:gd name="adj" fmla="val 28932"/>
                  <a:gd name="vf" fmla="val 115470"/>
                </a:avLst>
              </a:prstGeom>
              <a:blipFill dpi="0" rotWithShape="0">
                <a:blip r:embed="rId3"/>
                <a:srcRect/>
                <a:stretch>
                  <a:fillRect r="-600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Freeform: Shape 60"/>
              <p:cNvSpPr/>
              <p:nvPr/>
            </p:nvSpPr>
            <p:spPr>
              <a:xfrm rot="1706331">
                <a:off x="5282822" y="754211"/>
                <a:ext cx="4005463" cy="1113511"/>
              </a:xfrm>
              <a:custGeom>
                <a:avLst/>
                <a:gdLst>
                  <a:gd name="connsiteX0" fmla="*/ 0 w 4303644"/>
                  <a:gd name="connsiteY0" fmla="*/ 1063219 h 1063219"/>
                  <a:gd name="connsiteX1" fmla="*/ 615221 w 4303644"/>
                  <a:gd name="connsiteY1" fmla="*/ 0 h 1063219"/>
                  <a:gd name="connsiteX2" fmla="*/ 3688422 w 4303644"/>
                  <a:gd name="connsiteY2" fmla="*/ 0 h 1063219"/>
                  <a:gd name="connsiteX3" fmla="*/ 4303644 w 4303644"/>
                  <a:gd name="connsiteY3" fmla="*/ 1063219 h 1063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644" h="1063219">
                    <a:moveTo>
                      <a:pt x="0" y="1063219"/>
                    </a:moveTo>
                    <a:lnTo>
                      <a:pt x="615221" y="0"/>
                    </a:lnTo>
                    <a:lnTo>
                      <a:pt x="3688422" y="0"/>
                    </a:lnTo>
                    <a:lnTo>
                      <a:pt x="4303644" y="1063219"/>
                    </a:lnTo>
                    <a:close/>
                  </a:path>
                </a:pathLst>
              </a:custGeom>
              <a:solidFill>
                <a:srgbClr val="10576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Markanday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Shukla</a:t>
                </a: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 rot="-7200000">
              <a:off x="4641273" y="341203"/>
              <a:ext cx="2022539" cy="2324814"/>
              <a:chOff x="3428567" y="380286"/>
              <a:chExt cx="5359216" cy="6160167"/>
            </a:xfrm>
            <a:effectLst>
              <a:outerShdw blurRad="520700" sx="117000" sy="117000" algn="ctr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grpSpPr>
          <p:sp>
            <p:nvSpPr>
              <p:cNvPr id="76" name="Hexagon 75"/>
              <p:cNvSpPr/>
              <p:nvPr/>
            </p:nvSpPr>
            <p:spPr>
              <a:xfrm rot="5400000">
                <a:off x="3015915" y="792938"/>
                <a:ext cx="6160167" cy="5334863"/>
              </a:xfrm>
              <a:prstGeom prst="hexagon">
                <a:avLst>
                  <a:gd name="adj" fmla="val 28932"/>
                  <a:gd name="vf" fmla="val 115470"/>
                </a:avLst>
              </a:prstGeom>
              <a:blipFill dpi="0" rotWithShape="0">
                <a:blip r:embed="rId4"/>
                <a:srcRect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Freeform: Shape 63"/>
              <p:cNvSpPr/>
              <p:nvPr/>
            </p:nvSpPr>
            <p:spPr>
              <a:xfrm rot="5400000">
                <a:off x="6104352" y="2928761"/>
                <a:ext cx="4303644" cy="1063219"/>
              </a:xfrm>
              <a:custGeom>
                <a:avLst/>
                <a:gdLst>
                  <a:gd name="connsiteX0" fmla="*/ 0 w 4303644"/>
                  <a:gd name="connsiteY0" fmla="*/ 1063219 h 1063219"/>
                  <a:gd name="connsiteX1" fmla="*/ 615221 w 4303644"/>
                  <a:gd name="connsiteY1" fmla="*/ 0 h 1063219"/>
                  <a:gd name="connsiteX2" fmla="*/ 3688422 w 4303644"/>
                  <a:gd name="connsiteY2" fmla="*/ 0 h 1063219"/>
                  <a:gd name="connsiteX3" fmla="*/ 4303644 w 4303644"/>
                  <a:gd name="connsiteY3" fmla="*/ 1063219 h 1063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644" h="1063219">
                    <a:moveTo>
                      <a:pt x="0" y="1063219"/>
                    </a:moveTo>
                    <a:lnTo>
                      <a:pt x="615221" y="0"/>
                    </a:lnTo>
                    <a:lnTo>
                      <a:pt x="3688422" y="0"/>
                    </a:lnTo>
                    <a:lnTo>
                      <a:pt x="4303644" y="1063219"/>
                    </a:ln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Alok Ranjan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 flipH="1">
              <a:off x="3238831" y="2266593"/>
              <a:ext cx="2227212" cy="2324814"/>
              <a:chOff x="3428567" y="380286"/>
              <a:chExt cx="5901548" cy="6160167"/>
            </a:xfrm>
            <a:effectLst>
              <a:outerShdw blurRad="520700" sx="117000" sy="117000" algn="ctr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grpSpPr>
          <p:sp>
            <p:nvSpPr>
              <p:cNvPr id="74" name="Hexagon 73"/>
              <p:cNvSpPr/>
              <p:nvPr/>
            </p:nvSpPr>
            <p:spPr>
              <a:xfrm rot="5400000">
                <a:off x="3015915" y="792938"/>
                <a:ext cx="6160167" cy="5334863"/>
              </a:xfrm>
              <a:prstGeom prst="hexagon">
                <a:avLst>
                  <a:gd name="adj" fmla="val 28932"/>
                  <a:gd name="vf" fmla="val 115470"/>
                </a:avLst>
              </a:prstGeom>
              <a:blipFill dpi="0" rotWithShape="0">
                <a:blip r:embed="rId5"/>
                <a:srcRect/>
                <a:stretch>
                  <a:fillRect t="1000" b="-2900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Freeform: Shape 66"/>
              <p:cNvSpPr/>
              <p:nvPr/>
            </p:nvSpPr>
            <p:spPr>
              <a:xfrm rot="1781114">
                <a:off x="5026470" y="1045815"/>
                <a:ext cx="4303645" cy="1063219"/>
              </a:xfrm>
              <a:custGeom>
                <a:avLst/>
                <a:gdLst>
                  <a:gd name="connsiteX0" fmla="*/ 0 w 4303644"/>
                  <a:gd name="connsiteY0" fmla="*/ 1063219 h 1063219"/>
                  <a:gd name="connsiteX1" fmla="*/ 615221 w 4303644"/>
                  <a:gd name="connsiteY1" fmla="*/ 0 h 1063219"/>
                  <a:gd name="connsiteX2" fmla="*/ 3688422 w 4303644"/>
                  <a:gd name="connsiteY2" fmla="*/ 0 h 1063219"/>
                  <a:gd name="connsiteX3" fmla="*/ 4303644 w 4303644"/>
                  <a:gd name="connsiteY3" fmla="*/ 1063219 h 1063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3644" h="1063219">
                    <a:moveTo>
                      <a:pt x="0" y="1063219"/>
                    </a:moveTo>
                    <a:lnTo>
                      <a:pt x="615221" y="0"/>
                    </a:lnTo>
                    <a:lnTo>
                      <a:pt x="3688422" y="0"/>
                    </a:lnTo>
                    <a:lnTo>
                      <a:pt x="4303644" y="1063219"/>
                    </a:lnTo>
                    <a:close/>
                  </a:path>
                </a:pathLst>
              </a:custGeom>
              <a:solidFill>
                <a:srgbClr val="10576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Rupak Sriwastwa</a:t>
                </a:r>
              </a:p>
            </p:txBody>
          </p:sp>
        </p:grpSp>
      </p:grpSp>
      <p:sp>
        <p:nvSpPr>
          <p:cNvPr id="113" name="Rectangle 112"/>
          <p:cNvSpPr/>
          <p:nvPr/>
        </p:nvSpPr>
        <p:spPr>
          <a:xfrm>
            <a:off x="70266" y="1038306"/>
            <a:ext cx="34252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/>
              </a:rPr>
              <a:t>24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 Years of experience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(DBS, Teradata, Mercedez, Avaya, Aegis) 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95425" y="1038306"/>
            <a:ext cx="40263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/>
              </a:rPr>
              <a:t>20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 Years of experience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(McKinsey, Fiserv,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Zafin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TataSky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Aegis)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-301097" y="3277114"/>
            <a:ext cx="25937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/>
              </a:rPr>
              <a:t>20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 years of experience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/>
              </a:rPr>
              <a:t>(Infosys, Accenture, Kpro)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-75610" y="5124786"/>
            <a:ext cx="357111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/>
              </a:rPr>
              <a:t>20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 Years of experience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/>
              </a:rPr>
              <a:t>(McKinsey, HP, Microsoft, Dell, Aegis)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9133617" y="2692339"/>
            <a:ext cx="31456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15+ years 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of experience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/>
              </a:rPr>
              <a:t>(FIS, Rackspace ,Oracle, IBM, Flex 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62" y="184328"/>
            <a:ext cx="4395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63D5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Core Leadership Team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3353" y="5155086"/>
            <a:ext cx="40965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15+ Years of experience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Calibri"/>
              </a:rPr>
              <a:t>(McKinsey, </a:t>
            </a:r>
            <a:r>
              <a:rPr lang="en-US" sz="1600" dirty="0" err="1">
                <a:solidFill>
                  <a:prstClr val="black"/>
                </a:solidFill>
                <a:latin typeface="Calibri"/>
              </a:rPr>
              <a:t>Zafin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, IBM, </a:t>
            </a:r>
            <a:r>
              <a:rPr lang="en-US" sz="1600" dirty="0" err="1">
                <a:solidFill>
                  <a:prstClr val="black"/>
                </a:solidFill>
                <a:latin typeface="Calibri"/>
              </a:rPr>
              <a:t>TataSky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Profile photo of Pankaj Pandey">
            <a:extLst>
              <a:ext uri="{FF2B5EF4-FFF2-40B4-BE49-F238E27FC236}">
                <a16:creationId xmlns:a16="http://schemas.microsoft.com/office/drawing/2014/main" id="{7E469456-F38A-44C1-CDD3-C2BE9B2CE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014" y="5081770"/>
            <a:ext cx="1405815" cy="1405815"/>
          </a:xfrm>
          <a:prstGeom prst="rect">
            <a:avLst/>
          </a:prstGeom>
          <a:blipFill dpi="0" rotWithShape="0">
            <a:blip r:embed="rId7"/>
            <a:srcRect/>
            <a:stretch>
              <a:fillRect l="-10000" t="1000" r="-42000" b="-15000"/>
            </a:stretch>
          </a:blipFill>
          <a:ln w="12700" cap="flat" cmpd="sng" algn="ctr">
            <a:noFill/>
            <a:prstDash val="solid"/>
            <a:miter lim="800000"/>
          </a:ln>
          <a:effectLst/>
        </p:spPr>
      </p:pic>
      <p:sp>
        <p:nvSpPr>
          <p:cNvPr id="4" name="Freeform: Shape 69">
            <a:extLst>
              <a:ext uri="{FF2B5EF4-FFF2-40B4-BE49-F238E27FC236}">
                <a16:creationId xmlns:a16="http://schemas.microsoft.com/office/drawing/2014/main" id="{4B75235F-AC53-681B-F315-3226CFB3AC94}"/>
              </a:ext>
            </a:extLst>
          </p:cNvPr>
          <p:cNvSpPr/>
          <p:nvPr/>
        </p:nvSpPr>
        <p:spPr>
          <a:xfrm rot="19774128">
            <a:off x="5644760" y="4824601"/>
            <a:ext cx="1634747" cy="406892"/>
          </a:xfrm>
          <a:custGeom>
            <a:avLst/>
            <a:gdLst>
              <a:gd name="connsiteX0" fmla="*/ 0 w 4303644"/>
              <a:gd name="connsiteY0" fmla="*/ 1063219 h 1063219"/>
              <a:gd name="connsiteX1" fmla="*/ 615221 w 4303644"/>
              <a:gd name="connsiteY1" fmla="*/ 0 h 1063219"/>
              <a:gd name="connsiteX2" fmla="*/ 3688422 w 4303644"/>
              <a:gd name="connsiteY2" fmla="*/ 0 h 1063219"/>
              <a:gd name="connsiteX3" fmla="*/ 4303644 w 4303644"/>
              <a:gd name="connsiteY3" fmla="*/ 1063219 h 106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03644" h="1063219">
                <a:moveTo>
                  <a:pt x="0" y="1063219"/>
                </a:moveTo>
                <a:lnTo>
                  <a:pt x="615221" y="0"/>
                </a:lnTo>
                <a:lnTo>
                  <a:pt x="3688422" y="0"/>
                </a:lnTo>
                <a:lnTo>
                  <a:pt x="4303644" y="1063219"/>
                </a:lnTo>
                <a:close/>
              </a:path>
            </a:pathLst>
          </a:custGeom>
          <a:solidFill>
            <a:srgbClr val="1057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Pankaj Pandey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6E4BBD-2E5F-273E-A7FB-3575DB22347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2649" t="6335" r="22610" b="39114"/>
          <a:stretch/>
        </p:blipFill>
        <p:spPr>
          <a:xfrm>
            <a:off x="3804240" y="5081770"/>
            <a:ext cx="1758871" cy="1405815"/>
          </a:xfrm>
          <a:prstGeom prst="rect">
            <a:avLst/>
          </a:prstGeom>
        </p:spPr>
      </p:pic>
      <p:sp>
        <p:nvSpPr>
          <p:cNvPr id="6" name="Freeform: Shape 72">
            <a:extLst>
              <a:ext uri="{FF2B5EF4-FFF2-40B4-BE49-F238E27FC236}">
                <a16:creationId xmlns:a16="http://schemas.microsoft.com/office/drawing/2014/main" id="{90F8E8DD-41AC-83F7-6640-B010CADDCC3C}"/>
              </a:ext>
            </a:extLst>
          </p:cNvPr>
          <p:cNvSpPr/>
          <p:nvPr/>
        </p:nvSpPr>
        <p:spPr>
          <a:xfrm rot="19807041">
            <a:off x="3409856" y="4850837"/>
            <a:ext cx="1624172" cy="401253"/>
          </a:xfrm>
          <a:custGeom>
            <a:avLst/>
            <a:gdLst>
              <a:gd name="connsiteX0" fmla="*/ 0 w 4303644"/>
              <a:gd name="connsiteY0" fmla="*/ 1063219 h 1063219"/>
              <a:gd name="connsiteX1" fmla="*/ 615221 w 4303644"/>
              <a:gd name="connsiteY1" fmla="*/ 0 h 1063219"/>
              <a:gd name="connsiteX2" fmla="*/ 3688422 w 4303644"/>
              <a:gd name="connsiteY2" fmla="*/ 0 h 1063219"/>
              <a:gd name="connsiteX3" fmla="*/ 4303644 w 4303644"/>
              <a:gd name="connsiteY3" fmla="*/ 1063219 h 1063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03644" h="1063219">
                <a:moveTo>
                  <a:pt x="0" y="1063219"/>
                </a:moveTo>
                <a:lnTo>
                  <a:pt x="615221" y="0"/>
                </a:lnTo>
                <a:lnTo>
                  <a:pt x="3688422" y="0"/>
                </a:lnTo>
                <a:lnTo>
                  <a:pt x="4303644" y="1063219"/>
                </a:lnTo>
                <a:close/>
              </a:path>
            </a:pathLst>
          </a:custGeom>
          <a:solidFill>
            <a:srgbClr val="1057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Bharath Shetty</a:t>
            </a:r>
          </a:p>
        </p:txBody>
      </p:sp>
    </p:spTree>
    <p:extLst>
      <p:ext uri="{BB962C8B-B14F-4D97-AF65-F5344CB8AC3E}">
        <p14:creationId xmlns:p14="http://schemas.microsoft.com/office/powerpoint/2010/main" val="2005058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65EDD10-CA5D-4FB4-BD92-00433191D775}"/>
              </a:ext>
            </a:extLst>
          </p:cNvPr>
          <p:cNvSpPr/>
          <p:nvPr/>
        </p:nvSpPr>
        <p:spPr>
          <a:xfrm>
            <a:off x="955276" y="2177078"/>
            <a:ext cx="10110829" cy="907790"/>
          </a:xfrm>
          <a:prstGeom prst="rect">
            <a:avLst/>
          </a:prstGeom>
          <a:solidFill>
            <a:srgbClr val="F0EEE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E9030EC-FF76-4D98-8B81-F5AB10725586}"/>
              </a:ext>
            </a:extLst>
          </p:cNvPr>
          <p:cNvSpPr/>
          <p:nvPr/>
        </p:nvSpPr>
        <p:spPr>
          <a:xfrm>
            <a:off x="955276" y="3318121"/>
            <a:ext cx="10110829" cy="907790"/>
          </a:xfrm>
          <a:prstGeom prst="rect">
            <a:avLst/>
          </a:prstGeom>
          <a:solidFill>
            <a:srgbClr val="F0EEE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5192554-E201-42A4-840A-A352F06022FF}"/>
              </a:ext>
            </a:extLst>
          </p:cNvPr>
          <p:cNvSpPr/>
          <p:nvPr/>
        </p:nvSpPr>
        <p:spPr>
          <a:xfrm>
            <a:off x="955276" y="4459164"/>
            <a:ext cx="10110829" cy="907790"/>
          </a:xfrm>
          <a:prstGeom prst="rect">
            <a:avLst/>
          </a:prstGeom>
          <a:solidFill>
            <a:srgbClr val="F0EEE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BCEC70-E5FF-4F48-A628-7F49EF755E43}"/>
              </a:ext>
            </a:extLst>
          </p:cNvPr>
          <p:cNvSpPr/>
          <p:nvPr/>
        </p:nvSpPr>
        <p:spPr>
          <a:xfrm>
            <a:off x="955276" y="5581546"/>
            <a:ext cx="10110829" cy="907790"/>
          </a:xfrm>
          <a:prstGeom prst="rect">
            <a:avLst/>
          </a:prstGeom>
          <a:solidFill>
            <a:srgbClr val="F0EEE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CE46B6A-CAD7-44E7-993E-1227624D2D68}"/>
              </a:ext>
            </a:extLst>
          </p:cNvPr>
          <p:cNvGrpSpPr/>
          <p:nvPr/>
        </p:nvGrpSpPr>
        <p:grpSpPr>
          <a:xfrm>
            <a:off x="783927" y="2085836"/>
            <a:ext cx="10132418" cy="907790"/>
            <a:chOff x="3925455" y="1191491"/>
            <a:chExt cx="6400799" cy="969818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1E98486-91CC-4474-8EE9-9AC26B65C086}"/>
                </a:ext>
              </a:extLst>
            </p:cNvPr>
            <p:cNvSpPr/>
            <p:nvPr/>
          </p:nvSpPr>
          <p:spPr>
            <a:xfrm>
              <a:off x="4895271" y="1191491"/>
              <a:ext cx="5430983" cy="96981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150C307-EEAC-4644-9798-A48954088CC3}"/>
                </a:ext>
              </a:extLst>
            </p:cNvPr>
            <p:cNvGrpSpPr/>
            <p:nvPr/>
          </p:nvGrpSpPr>
          <p:grpSpPr>
            <a:xfrm>
              <a:off x="3925455" y="1191491"/>
              <a:ext cx="1178646" cy="969818"/>
              <a:chOff x="3925455" y="1191491"/>
              <a:chExt cx="1178646" cy="969818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6783BA1-D74E-453C-81F1-0CE6F854557A}"/>
                  </a:ext>
                </a:extLst>
              </p:cNvPr>
              <p:cNvSpPr/>
              <p:nvPr/>
            </p:nvSpPr>
            <p:spPr>
              <a:xfrm>
                <a:off x="3925455" y="1191491"/>
                <a:ext cx="969818" cy="969818"/>
              </a:xfrm>
              <a:prstGeom prst="rect">
                <a:avLst/>
              </a:prstGeom>
              <a:solidFill>
                <a:srgbClr val="00B09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/>
                <a:r>
                  <a:rPr lang="en-US" sz="2000" dirty="0">
                    <a:solidFill>
                      <a:schemeClr val="bg1"/>
                    </a:solidFill>
                  </a:rPr>
                  <a:t>Frameworks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CF221196-E406-4C5E-BFD2-BA556F7468A9}"/>
                  </a:ext>
                </a:extLst>
              </p:cNvPr>
              <p:cNvSpPr/>
              <p:nvPr/>
            </p:nvSpPr>
            <p:spPr>
              <a:xfrm rot="5400000">
                <a:off x="4803124" y="1537059"/>
                <a:ext cx="323272" cy="278683"/>
              </a:xfrm>
              <a:prstGeom prst="triangle">
                <a:avLst/>
              </a:prstGeom>
              <a:solidFill>
                <a:srgbClr val="00B09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BC65B11-B34A-4B32-8C3C-DBD249EDE5C6}"/>
              </a:ext>
            </a:extLst>
          </p:cNvPr>
          <p:cNvGrpSpPr/>
          <p:nvPr/>
        </p:nvGrpSpPr>
        <p:grpSpPr>
          <a:xfrm>
            <a:off x="783927" y="3226807"/>
            <a:ext cx="10132418" cy="907790"/>
            <a:chOff x="3925455" y="1191491"/>
            <a:chExt cx="6400799" cy="969818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2A7CEB7-80BC-4393-A7E8-8D3EF12FD341}"/>
                </a:ext>
              </a:extLst>
            </p:cNvPr>
            <p:cNvSpPr/>
            <p:nvPr/>
          </p:nvSpPr>
          <p:spPr>
            <a:xfrm>
              <a:off x="4895271" y="1191491"/>
              <a:ext cx="5430983" cy="96981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9313B9A-12E5-4CF7-BD7B-5D7C0C5B5CF8}"/>
                </a:ext>
              </a:extLst>
            </p:cNvPr>
            <p:cNvGrpSpPr/>
            <p:nvPr/>
          </p:nvGrpSpPr>
          <p:grpSpPr>
            <a:xfrm>
              <a:off x="3925455" y="1191491"/>
              <a:ext cx="1178646" cy="969818"/>
              <a:chOff x="3925455" y="1191491"/>
              <a:chExt cx="1178646" cy="969818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8E0272A1-B6C6-40FD-8130-526048B9048E}"/>
                  </a:ext>
                </a:extLst>
              </p:cNvPr>
              <p:cNvSpPr/>
              <p:nvPr/>
            </p:nvSpPr>
            <p:spPr>
              <a:xfrm>
                <a:off x="3925455" y="1191491"/>
                <a:ext cx="969818" cy="969818"/>
              </a:xfrm>
              <a:prstGeom prst="rect">
                <a:avLst/>
              </a:prstGeom>
              <a:solidFill>
                <a:srgbClr val="0D95B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/>
                <a:r>
                  <a:rPr lang="en-US" sz="2000" dirty="0">
                    <a:solidFill>
                      <a:schemeClr val="bg1"/>
                    </a:solidFill>
                  </a:rPr>
                  <a:t>Services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55" name="Isosceles Triangle 54">
                <a:extLst>
                  <a:ext uri="{FF2B5EF4-FFF2-40B4-BE49-F238E27FC236}">
                    <a16:creationId xmlns:a16="http://schemas.microsoft.com/office/drawing/2014/main" id="{E3B98952-4921-4AC7-86BB-EE4EFF8B428A}"/>
                  </a:ext>
                </a:extLst>
              </p:cNvPr>
              <p:cNvSpPr/>
              <p:nvPr/>
            </p:nvSpPr>
            <p:spPr>
              <a:xfrm rot="5400000">
                <a:off x="4803124" y="1537059"/>
                <a:ext cx="323272" cy="278683"/>
              </a:xfrm>
              <a:prstGeom prst="triangle">
                <a:avLst/>
              </a:prstGeom>
              <a:solidFill>
                <a:srgbClr val="0D95B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E4C44DF-74C0-4D5A-9B5C-6C8631DE11F1}"/>
              </a:ext>
            </a:extLst>
          </p:cNvPr>
          <p:cNvGrpSpPr/>
          <p:nvPr/>
        </p:nvGrpSpPr>
        <p:grpSpPr>
          <a:xfrm>
            <a:off x="783927" y="4367778"/>
            <a:ext cx="10132418" cy="907790"/>
            <a:chOff x="3925455" y="1191491"/>
            <a:chExt cx="6400799" cy="96981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C124FE0-6932-46DF-A825-01547D972B44}"/>
                </a:ext>
              </a:extLst>
            </p:cNvPr>
            <p:cNvSpPr/>
            <p:nvPr/>
          </p:nvSpPr>
          <p:spPr>
            <a:xfrm>
              <a:off x="4895271" y="1191491"/>
              <a:ext cx="5430983" cy="96981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DE728BB-180B-4EDA-8CFE-9883B06F1E70}"/>
                </a:ext>
              </a:extLst>
            </p:cNvPr>
            <p:cNvGrpSpPr/>
            <p:nvPr/>
          </p:nvGrpSpPr>
          <p:grpSpPr>
            <a:xfrm>
              <a:off x="3925455" y="1191491"/>
              <a:ext cx="1178646" cy="969818"/>
              <a:chOff x="3925455" y="1191491"/>
              <a:chExt cx="1178646" cy="969818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37671BDA-C9D3-4AA2-9D95-D7FC552187EE}"/>
                  </a:ext>
                </a:extLst>
              </p:cNvPr>
              <p:cNvSpPr/>
              <p:nvPr/>
            </p:nvSpPr>
            <p:spPr>
              <a:xfrm>
                <a:off x="3925455" y="1191491"/>
                <a:ext cx="969818" cy="96981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lvl="0" algn="ctr"/>
                <a:r>
                  <a:rPr lang="en-US" sz="2000" dirty="0">
                    <a:solidFill>
                      <a:schemeClr val="bg1"/>
                    </a:solidFill>
                  </a:rPr>
                  <a:t>Processes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60" name="Isosceles Triangle 59">
                <a:extLst>
                  <a:ext uri="{FF2B5EF4-FFF2-40B4-BE49-F238E27FC236}">
                    <a16:creationId xmlns:a16="http://schemas.microsoft.com/office/drawing/2014/main" id="{80AE2320-6CD4-4644-86A6-9FEBDBF205C6}"/>
                  </a:ext>
                </a:extLst>
              </p:cNvPr>
              <p:cNvSpPr/>
              <p:nvPr/>
            </p:nvSpPr>
            <p:spPr>
              <a:xfrm rot="5400000">
                <a:off x="4803124" y="1537059"/>
                <a:ext cx="323272" cy="278683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921EE4A-F1DC-4F48-AB94-34D18B72D3B0}"/>
              </a:ext>
            </a:extLst>
          </p:cNvPr>
          <p:cNvGrpSpPr/>
          <p:nvPr/>
        </p:nvGrpSpPr>
        <p:grpSpPr>
          <a:xfrm>
            <a:off x="783927" y="5490086"/>
            <a:ext cx="10132418" cy="907790"/>
            <a:chOff x="3925455" y="1191491"/>
            <a:chExt cx="6400799" cy="969818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AAF9DBB-541A-49BA-AA7E-27771EC76B72}"/>
                </a:ext>
              </a:extLst>
            </p:cNvPr>
            <p:cNvSpPr/>
            <p:nvPr/>
          </p:nvSpPr>
          <p:spPr>
            <a:xfrm>
              <a:off x="4895271" y="1191491"/>
              <a:ext cx="5430983" cy="96981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5804BA4-CC1D-44C6-8B39-14DC48D556C3}"/>
                </a:ext>
              </a:extLst>
            </p:cNvPr>
            <p:cNvGrpSpPr/>
            <p:nvPr/>
          </p:nvGrpSpPr>
          <p:grpSpPr>
            <a:xfrm>
              <a:off x="3925455" y="1191491"/>
              <a:ext cx="1178646" cy="969818"/>
              <a:chOff x="3925455" y="1191491"/>
              <a:chExt cx="1178646" cy="969818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E795B4B-CDE7-4495-9F8A-291382C218C1}"/>
                  </a:ext>
                </a:extLst>
              </p:cNvPr>
              <p:cNvSpPr/>
              <p:nvPr/>
            </p:nvSpPr>
            <p:spPr>
              <a:xfrm>
                <a:off x="3925455" y="1191491"/>
                <a:ext cx="969818" cy="96981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</a:rPr>
                  <a:t>Human Resources</a:t>
                </a:r>
              </a:p>
            </p:txBody>
          </p:sp>
          <p:sp>
            <p:nvSpPr>
              <p:cNvPr id="65" name="Isosceles Triangle 64">
                <a:extLst>
                  <a:ext uri="{FF2B5EF4-FFF2-40B4-BE49-F238E27FC236}">
                    <a16:creationId xmlns:a16="http://schemas.microsoft.com/office/drawing/2014/main" id="{EAF7A422-A827-4F45-881A-6B0DB2090E96}"/>
                  </a:ext>
                </a:extLst>
              </p:cNvPr>
              <p:cNvSpPr/>
              <p:nvPr/>
            </p:nvSpPr>
            <p:spPr>
              <a:xfrm rot="5400000">
                <a:off x="4803124" y="1537059"/>
                <a:ext cx="323272" cy="278683"/>
              </a:xfrm>
              <a:prstGeom prst="triangl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A1BFEDDA-25FD-43C1-B0B4-0390B0AC5966}"/>
              </a:ext>
            </a:extLst>
          </p:cNvPr>
          <p:cNvSpPr txBox="1"/>
          <p:nvPr/>
        </p:nvSpPr>
        <p:spPr>
          <a:xfrm>
            <a:off x="2713690" y="2374601"/>
            <a:ext cx="6524542" cy="338554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lvl="0" algn="just"/>
            <a:r>
              <a:rPr lang="en-US" sz="1600" b="1" kern="0" dirty="0">
                <a:solidFill>
                  <a:prstClr val="black"/>
                </a:solidFill>
              </a:rPr>
              <a:t>1. </a:t>
            </a:r>
            <a:r>
              <a:rPr lang="en-US" sz="1600" kern="0" dirty="0">
                <a:solidFill>
                  <a:prstClr val="black"/>
                </a:solidFill>
              </a:rPr>
              <a:t>Acceleration Framework</a:t>
            </a:r>
            <a:r>
              <a:rPr lang="en-US" sz="1600" b="1" kern="0" dirty="0">
                <a:solidFill>
                  <a:prstClr val="black"/>
                </a:solidFill>
              </a:rPr>
              <a:t> 2. </a:t>
            </a:r>
            <a:r>
              <a:rPr lang="en-US" sz="1600" kern="0" dirty="0">
                <a:solidFill>
                  <a:prstClr val="black"/>
                </a:solidFill>
              </a:rPr>
              <a:t>Design Templates </a:t>
            </a:r>
            <a:r>
              <a:rPr lang="en-US" sz="1600" b="1" kern="0" dirty="0">
                <a:solidFill>
                  <a:prstClr val="black"/>
                </a:solidFill>
              </a:rPr>
              <a:t>3. </a:t>
            </a:r>
            <a:r>
              <a:rPr lang="en-US" sz="1600" kern="0" dirty="0">
                <a:solidFill>
                  <a:prstClr val="black"/>
                </a:solidFill>
              </a:rPr>
              <a:t>Review Templates</a:t>
            </a:r>
            <a:endParaRPr kumimoji="0" lang="en-US" sz="16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FE9EB59-8BBE-41DD-B7A7-3ACA8AFACC8A}"/>
              </a:ext>
            </a:extLst>
          </p:cNvPr>
          <p:cNvSpPr txBox="1"/>
          <p:nvPr/>
        </p:nvSpPr>
        <p:spPr>
          <a:xfrm>
            <a:off x="2713690" y="3216610"/>
            <a:ext cx="7269748" cy="830997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lvl="0" algn="just"/>
            <a:r>
              <a:rPr lang="en-US" sz="1600" b="1" kern="0" dirty="0">
                <a:solidFill>
                  <a:prstClr val="black"/>
                </a:solidFill>
              </a:rPr>
              <a:t>1. </a:t>
            </a:r>
            <a:r>
              <a:rPr lang="en-US" sz="1600" kern="0" dirty="0">
                <a:solidFill>
                  <a:prstClr val="black"/>
                </a:solidFill>
              </a:rPr>
              <a:t>Consulting </a:t>
            </a:r>
            <a:r>
              <a:rPr lang="en-US" sz="1600" b="1" kern="0" dirty="0">
                <a:solidFill>
                  <a:prstClr val="black"/>
                </a:solidFill>
              </a:rPr>
              <a:t>2. </a:t>
            </a:r>
            <a:r>
              <a:rPr lang="en-US" sz="1600" kern="0" dirty="0">
                <a:solidFill>
                  <a:prstClr val="black"/>
                </a:solidFill>
              </a:rPr>
              <a:t>Machine Learning and Artificial Intelligence </a:t>
            </a:r>
            <a:r>
              <a:rPr lang="en-US" sz="1600" b="1" kern="0" dirty="0">
                <a:solidFill>
                  <a:prstClr val="black"/>
                </a:solidFill>
              </a:rPr>
              <a:t>3. </a:t>
            </a:r>
            <a:r>
              <a:rPr lang="en-US" sz="1600" kern="0" dirty="0">
                <a:solidFill>
                  <a:prstClr val="black"/>
                </a:solidFill>
              </a:rPr>
              <a:t>Custom Use Cases          </a:t>
            </a:r>
            <a:r>
              <a:rPr lang="en-US" sz="1600" b="1" kern="0" dirty="0">
                <a:solidFill>
                  <a:prstClr val="black"/>
                </a:solidFill>
              </a:rPr>
              <a:t>4.</a:t>
            </a:r>
            <a:r>
              <a:rPr lang="en-US" sz="1600" kern="0" dirty="0">
                <a:solidFill>
                  <a:prstClr val="black"/>
                </a:solidFill>
              </a:rPr>
              <a:t>Business Intelligence Applications </a:t>
            </a:r>
            <a:r>
              <a:rPr lang="en-US" sz="1600" b="1" kern="0" dirty="0">
                <a:solidFill>
                  <a:prstClr val="black"/>
                </a:solidFill>
              </a:rPr>
              <a:t>5. </a:t>
            </a:r>
            <a:r>
              <a:rPr lang="en-US" sz="1600" kern="0" dirty="0">
                <a:solidFill>
                  <a:prstClr val="black"/>
                </a:solidFill>
              </a:rPr>
              <a:t>Mobile Application </a:t>
            </a:r>
            <a:r>
              <a:rPr lang="en-US" sz="1600" b="1" kern="0" dirty="0">
                <a:solidFill>
                  <a:prstClr val="black"/>
                </a:solidFill>
              </a:rPr>
              <a:t>6. </a:t>
            </a:r>
            <a:r>
              <a:rPr lang="en-US" sz="1600" kern="0" dirty="0">
                <a:solidFill>
                  <a:prstClr val="black"/>
                </a:solidFill>
              </a:rPr>
              <a:t>Security Services                </a:t>
            </a:r>
            <a:r>
              <a:rPr lang="en-US" sz="1600" b="1" kern="0" dirty="0">
                <a:solidFill>
                  <a:prstClr val="black"/>
                </a:solidFill>
              </a:rPr>
              <a:t>7. </a:t>
            </a:r>
            <a:r>
              <a:rPr lang="en-US" sz="1600" kern="0" dirty="0">
                <a:solidFill>
                  <a:prstClr val="black"/>
                </a:solidFill>
              </a:rPr>
              <a:t>IOT/Blockchain</a:t>
            </a:r>
            <a:r>
              <a:rPr lang="en-US" sz="1600" b="1" kern="0" dirty="0">
                <a:solidFill>
                  <a:prstClr val="black"/>
                </a:solidFill>
              </a:rPr>
              <a:t> 8. </a:t>
            </a:r>
            <a:r>
              <a:rPr lang="en-US" sz="1600" kern="0" dirty="0">
                <a:solidFill>
                  <a:prstClr val="black"/>
                </a:solidFill>
              </a:rPr>
              <a:t>Managed Services</a:t>
            </a:r>
            <a:r>
              <a:rPr lang="en-US" sz="1600" b="1" kern="0" dirty="0">
                <a:solidFill>
                  <a:prstClr val="black"/>
                </a:solidFill>
              </a:rPr>
              <a:t> 9. </a:t>
            </a:r>
            <a:r>
              <a:rPr lang="en-US" sz="1600" kern="0" dirty="0">
                <a:solidFill>
                  <a:prstClr val="black"/>
                </a:solidFill>
              </a:rPr>
              <a:t>Training </a:t>
            </a:r>
            <a:r>
              <a:rPr lang="en-US" sz="1600" b="1" kern="0" dirty="0">
                <a:solidFill>
                  <a:prstClr val="black"/>
                </a:solidFill>
              </a:rPr>
              <a:t>10. </a:t>
            </a:r>
            <a:r>
              <a:rPr lang="en-US" sz="1600" kern="0" dirty="0">
                <a:solidFill>
                  <a:prstClr val="black"/>
                </a:solidFill>
              </a:rPr>
              <a:t>Staff Augmentation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53E9D5A-7F0A-49A7-8B0D-85ACAFE97ECF}"/>
              </a:ext>
            </a:extLst>
          </p:cNvPr>
          <p:cNvSpPr txBox="1"/>
          <p:nvPr/>
        </p:nvSpPr>
        <p:spPr>
          <a:xfrm>
            <a:off x="2713690" y="4401234"/>
            <a:ext cx="6524542" cy="584775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lvl="0" algn="just">
              <a:defRPr/>
            </a:pPr>
            <a:r>
              <a:rPr lang="en-US" sz="1600" b="1" kern="0" dirty="0">
                <a:solidFill>
                  <a:prstClr val="black"/>
                </a:solidFill>
              </a:rPr>
              <a:t>1. </a:t>
            </a:r>
            <a:r>
              <a:rPr lang="en-US" sz="1600" kern="0" dirty="0">
                <a:solidFill>
                  <a:prstClr val="black"/>
                </a:solidFill>
              </a:rPr>
              <a:t>Hiring &amp; On-Boarding Process (Bootcamp) </a:t>
            </a:r>
            <a:r>
              <a:rPr lang="en-US" sz="1600" b="1" kern="0" dirty="0">
                <a:solidFill>
                  <a:prstClr val="black"/>
                </a:solidFill>
              </a:rPr>
              <a:t>2. </a:t>
            </a:r>
            <a:r>
              <a:rPr lang="en-US" sz="1600" kern="0" dirty="0">
                <a:solidFill>
                  <a:prstClr val="black"/>
                </a:solidFill>
              </a:rPr>
              <a:t>Training &amp; Development        </a:t>
            </a:r>
            <a:r>
              <a:rPr lang="en-US" sz="1600" b="1" kern="0" dirty="0">
                <a:solidFill>
                  <a:prstClr val="black"/>
                </a:solidFill>
              </a:rPr>
              <a:t>3. </a:t>
            </a:r>
            <a:r>
              <a:rPr lang="en-US" sz="1600" kern="0" dirty="0">
                <a:solidFill>
                  <a:prstClr val="black"/>
                </a:solidFill>
              </a:rPr>
              <a:t>Gang Model of execution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1045339-D2BF-4826-8CE5-496B5AAB6FAC}"/>
              </a:ext>
            </a:extLst>
          </p:cNvPr>
          <p:cNvSpPr txBox="1"/>
          <p:nvPr/>
        </p:nvSpPr>
        <p:spPr>
          <a:xfrm>
            <a:off x="2713690" y="5631348"/>
            <a:ext cx="7011935" cy="584775"/>
          </a:xfrm>
          <a:prstGeom prst="rect">
            <a:avLst/>
          </a:prstGeom>
          <a:noFill/>
        </p:spPr>
        <p:txBody>
          <a:bodyPr wrap="square" lIns="0" rtlCol="0" anchor="b">
            <a:spAutoFit/>
          </a:bodyPr>
          <a:lstStyle/>
          <a:p>
            <a:pPr lvl="0" algn="just"/>
            <a:r>
              <a:rPr lang="en-US" sz="1600" b="1" kern="0" dirty="0">
                <a:solidFill>
                  <a:prstClr val="black"/>
                </a:solidFill>
              </a:rPr>
              <a:t>1. </a:t>
            </a:r>
            <a:r>
              <a:rPr lang="en-US" sz="1600" kern="0" dirty="0">
                <a:solidFill>
                  <a:prstClr val="black"/>
                </a:solidFill>
              </a:rPr>
              <a:t>Highly skilled Engineers </a:t>
            </a:r>
            <a:r>
              <a:rPr lang="en-US" sz="1600" b="1" kern="0" dirty="0">
                <a:solidFill>
                  <a:prstClr val="black"/>
                </a:solidFill>
              </a:rPr>
              <a:t>2. </a:t>
            </a:r>
            <a:r>
              <a:rPr lang="en-US" sz="1600" kern="0" dirty="0">
                <a:solidFill>
                  <a:prstClr val="black"/>
                </a:solidFill>
              </a:rPr>
              <a:t>Data Scientists and Architects. </a:t>
            </a:r>
          </a:p>
          <a:p>
            <a:pPr lvl="0" algn="just"/>
            <a:r>
              <a:rPr lang="en-US" sz="1600" b="1" kern="0" dirty="0">
                <a:solidFill>
                  <a:prstClr val="black"/>
                </a:solidFill>
              </a:rPr>
              <a:t>Current Employee Strength is </a:t>
            </a:r>
            <a:r>
              <a:rPr lang="en-US" sz="1600" b="1" kern="0" dirty="0">
                <a:solidFill>
                  <a:prstClr val="black"/>
                </a:solidFill>
                <a:highlight>
                  <a:srgbClr val="FFFF00"/>
                </a:highlight>
              </a:rPr>
              <a:t>47 (Including 21 Trainees)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3DD7D32-2BE1-42D7-A183-CE8B1D38B4C1}"/>
              </a:ext>
            </a:extLst>
          </p:cNvPr>
          <p:cNvSpPr/>
          <p:nvPr/>
        </p:nvSpPr>
        <p:spPr>
          <a:xfrm>
            <a:off x="955276" y="1076264"/>
            <a:ext cx="10110829" cy="907790"/>
          </a:xfrm>
          <a:prstGeom prst="rect">
            <a:avLst/>
          </a:prstGeom>
          <a:solidFill>
            <a:srgbClr val="F0EEE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507DB15-1F75-4457-A132-FB08437E3682}"/>
              </a:ext>
            </a:extLst>
          </p:cNvPr>
          <p:cNvGrpSpPr/>
          <p:nvPr/>
        </p:nvGrpSpPr>
        <p:grpSpPr>
          <a:xfrm>
            <a:off x="783927" y="977902"/>
            <a:ext cx="10132418" cy="927592"/>
            <a:chOff x="3925455" y="1183884"/>
            <a:chExt cx="6400799" cy="990974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2777588-9F0B-41D4-988A-BBC980C98683}"/>
                </a:ext>
              </a:extLst>
            </p:cNvPr>
            <p:cNvSpPr/>
            <p:nvPr/>
          </p:nvSpPr>
          <p:spPr>
            <a:xfrm>
              <a:off x="4895271" y="1191491"/>
              <a:ext cx="5430983" cy="96981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B76346E-DCE0-4CF2-9D72-68AA3FBD0C6E}"/>
                </a:ext>
              </a:extLst>
            </p:cNvPr>
            <p:cNvSpPr/>
            <p:nvPr/>
          </p:nvSpPr>
          <p:spPr>
            <a:xfrm>
              <a:off x="3925455" y="1191491"/>
              <a:ext cx="969818" cy="96981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/>
              <a:r>
                <a:rPr lang="en-US" sz="20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Products</a:t>
              </a:r>
              <a:endParaRPr kumimoji="0" lang="en-US" sz="20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8FCB663-AEE1-4EB3-BEBB-84394CA8292F}"/>
                </a:ext>
              </a:extLst>
            </p:cNvPr>
            <p:cNvSpPr/>
            <p:nvPr/>
          </p:nvSpPr>
          <p:spPr>
            <a:xfrm>
              <a:off x="7180020" y="1183884"/>
              <a:ext cx="969818" cy="969817"/>
            </a:xfrm>
            <a:prstGeom prst="rect">
              <a:avLst/>
            </a:prstGeom>
            <a:solidFill>
              <a:srgbClr val="92D050"/>
            </a:solidFill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BuildMyCV</a:t>
              </a:r>
            </a:p>
            <a:p>
              <a:pPr algn="ctr"/>
              <a:r>
                <a:rPr lang="en-US" sz="1400" dirty="0">
                  <a:latin typeface="+mj-lt"/>
                </a:rPr>
                <a:t>(Platform to create resume)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FC45186-87F9-4100-822E-F0681AC5F18A}"/>
                </a:ext>
              </a:extLst>
            </p:cNvPr>
            <p:cNvSpPr/>
            <p:nvPr/>
          </p:nvSpPr>
          <p:spPr>
            <a:xfrm>
              <a:off x="8216977" y="1189174"/>
              <a:ext cx="969818" cy="969817"/>
            </a:xfrm>
            <a:prstGeom prst="rect">
              <a:avLst/>
            </a:prstGeom>
            <a:solidFill>
              <a:srgbClr val="5C8688"/>
            </a:solidFill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Customer Engagement Scoring Framework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EF0D7FC-4E74-4468-BA30-0A7554B626B0}"/>
                </a:ext>
              </a:extLst>
            </p:cNvPr>
            <p:cNvSpPr/>
            <p:nvPr/>
          </p:nvSpPr>
          <p:spPr>
            <a:xfrm>
              <a:off x="9253934" y="1194464"/>
              <a:ext cx="969818" cy="969817"/>
            </a:xfrm>
            <a:prstGeom prst="rect">
              <a:avLst/>
            </a:prstGeom>
            <a:solidFill>
              <a:srgbClr val="5C8688"/>
            </a:solidFill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Customer Experience Analytics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22F1571-7A3F-4954-AEBA-FD85156B2ED8}"/>
                </a:ext>
              </a:extLst>
            </p:cNvPr>
            <p:cNvSpPr/>
            <p:nvPr/>
          </p:nvSpPr>
          <p:spPr>
            <a:xfrm>
              <a:off x="5106107" y="1199753"/>
              <a:ext cx="969818" cy="969817"/>
            </a:xfrm>
            <a:prstGeom prst="rect">
              <a:avLst/>
            </a:prstGeom>
            <a:solidFill>
              <a:srgbClr val="92D050"/>
            </a:solidFill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Nyota          (Making event an experience)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70D08D8-2B7D-4045-8DB5-F7F66CD61564}"/>
                </a:ext>
              </a:extLst>
            </p:cNvPr>
            <p:cNvSpPr/>
            <p:nvPr/>
          </p:nvSpPr>
          <p:spPr>
            <a:xfrm>
              <a:off x="6143063" y="1205041"/>
              <a:ext cx="969818" cy="969817"/>
            </a:xfrm>
            <a:prstGeom prst="rect">
              <a:avLst/>
            </a:prstGeom>
            <a:solidFill>
              <a:srgbClr val="92D050"/>
            </a:solidFill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  <a:softEdge rad="63500"/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/>
          </p:spPr>
          <p:txBody>
            <a:bodyPr rtlCol="0" anchor="ctr"/>
            <a:lstStyle/>
            <a:p>
              <a:pPr algn="ctr"/>
              <a:r>
                <a:rPr lang="en-US" sz="1400" dirty="0">
                  <a:latin typeface="+mj-lt"/>
                </a:rPr>
                <a:t>Forensic Audit (Saving money for organization)</a:t>
              </a:r>
            </a:p>
          </p:txBody>
        </p:sp>
      </p:grpSp>
      <p:sp>
        <p:nvSpPr>
          <p:cNvPr id="97" name="Isosceles Triangle 96">
            <a:extLst>
              <a:ext uri="{FF2B5EF4-FFF2-40B4-BE49-F238E27FC236}">
                <a16:creationId xmlns:a16="http://schemas.microsoft.com/office/drawing/2014/main" id="{575F647F-1A19-422B-8331-75835B960331}"/>
              </a:ext>
            </a:extLst>
          </p:cNvPr>
          <p:cNvSpPr/>
          <p:nvPr/>
        </p:nvSpPr>
        <p:spPr>
          <a:xfrm rot="5400000">
            <a:off x="2242971" y="1227909"/>
            <a:ext cx="302596" cy="441153"/>
          </a:xfrm>
          <a:prstGeom prst="triangle">
            <a:avLst>
              <a:gd name="adj" fmla="val 46916"/>
            </a:avLst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50BDD8B-0AA5-47B1-A56D-B25C7D60D8CC}"/>
              </a:ext>
            </a:extLst>
          </p:cNvPr>
          <p:cNvSpPr/>
          <p:nvPr/>
        </p:nvSpPr>
        <p:spPr>
          <a:xfrm>
            <a:off x="0" y="0"/>
            <a:ext cx="1242071" cy="754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1" indent="0" algn="l" defTabSz="121917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dirty="0">
                <a:ln>
                  <a:noFill/>
                </a:ln>
                <a:solidFill>
                  <a:srgbClr val="063D54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Assets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63D54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085C7F6A-B705-4F00-8E40-7FA227884F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438" y="2100283"/>
            <a:ext cx="740458" cy="817181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6E669477-D13E-4AB5-8B2C-FFD7699795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438" y="3402609"/>
            <a:ext cx="572820" cy="57282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4DD051E0-216D-487B-9CE3-90D4269A84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438" y="4443657"/>
            <a:ext cx="694872" cy="694874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CCC9074E-CBCE-43D9-A046-56D71E73B5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438" y="5591993"/>
            <a:ext cx="612207" cy="61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FD9AD-84C0-6C10-E0EF-E9CDF423E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4FCE80C1-908E-D041-D507-22EAF39BE76E}"/>
              </a:ext>
            </a:extLst>
          </p:cNvPr>
          <p:cNvSpPr/>
          <p:nvPr/>
        </p:nvSpPr>
        <p:spPr>
          <a:xfrm>
            <a:off x="0" y="0"/>
            <a:ext cx="2201052" cy="7546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1" indent="0" algn="l" defTabSz="121917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dirty="0">
                <a:ln>
                  <a:noFill/>
                </a:ln>
                <a:solidFill>
                  <a:srgbClr val="063D54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Nyota Invite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63D54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AE62F6-E506-3E3E-D5FB-4C0C59011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764" y="1307119"/>
            <a:ext cx="2194691" cy="48770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D0465D-FF85-C379-0F58-72D16C010701}"/>
              </a:ext>
            </a:extLst>
          </p:cNvPr>
          <p:cNvSpPr txBox="1"/>
          <p:nvPr/>
        </p:nvSpPr>
        <p:spPr>
          <a:xfrm>
            <a:off x="1530166" y="6203062"/>
            <a:ext cx="989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Nyota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41CD1D-A89A-225E-960F-5728CE849DEA}"/>
              </a:ext>
            </a:extLst>
          </p:cNvPr>
          <p:cNvSpPr txBox="1"/>
          <p:nvPr/>
        </p:nvSpPr>
        <p:spPr>
          <a:xfrm>
            <a:off x="4267282" y="6183695"/>
            <a:ext cx="9898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Nyota V2.0</a:t>
            </a:r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058262AB-EF37-F661-194D-05701963C699}"/>
              </a:ext>
            </a:extLst>
          </p:cNvPr>
          <p:cNvSpPr/>
          <p:nvPr/>
        </p:nvSpPr>
        <p:spPr>
          <a:xfrm rot="5400000">
            <a:off x="2952758" y="3355572"/>
            <a:ext cx="881935" cy="26801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850DC7-FC89-6D79-BC15-C575B736A764}"/>
              </a:ext>
            </a:extLst>
          </p:cNvPr>
          <p:cNvSpPr txBox="1"/>
          <p:nvPr/>
        </p:nvSpPr>
        <p:spPr>
          <a:xfrm>
            <a:off x="6650422" y="385362"/>
            <a:ext cx="410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How to make money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AE4158E-8A7D-0730-70B0-9FDB75859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442558"/>
              </p:ext>
            </p:extLst>
          </p:nvPr>
        </p:nvGraphicFramePr>
        <p:xfrm>
          <a:off x="6577223" y="1307119"/>
          <a:ext cx="4552695" cy="2878896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552695">
                  <a:extLst>
                    <a:ext uri="{9D8B030D-6E8A-4147-A177-3AD203B41FA5}">
                      <a16:colId xmlns:a16="http://schemas.microsoft.com/office/drawing/2014/main" val="2082878390"/>
                    </a:ext>
                  </a:extLst>
                </a:gridCol>
              </a:tblGrid>
              <a:tr h="37474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Strategy to Monetization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11294590"/>
                  </a:ext>
                </a:extLst>
              </a:tr>
              <a:tr h="37474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Freemium Model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2737482"/>
                  </a:ext>
                </a:extLst>
              </a:tr>
              <a:tr h="37474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In-App Purchases (IAP)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7614709"/>
                  </a:ext>
                </a:extLst>
              </a:tr>
              <a:tr h="26174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Event and Party Planning Partnerships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2220674"/>
                  </a:ext>
                </a:extLst>
              </a:tr>
              <a:tr h="37474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Corporate/Group Sales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1222515"/>
                  </a:ext>
                </a:extLst>
              </a:tr>
              <a:tr h="37474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Subscription Model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9015299"/>
                  </a:ext>
                </a:extLst>
              </a:tr>
              <a:tr h="37474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Custom Invitation Services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0996670"/>
                  </a:ext>
                </a:extLst>
              </a:tr>
              <a:tr h="316101">
                <a:tc>
                  <a:txBody>
                    <a:bodyPr/>
                    <a:lstStyle/>
                    <a:p>
                      <a:pPr marL="0" marR="0" lvl="0" indent="0" algn="l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Vendor and Suppliers (11% Commission)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374238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1D78EA30-1A11-1D76-0E12-C8374E0FE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996" y="1307119"/>
            <a:ext cx="2194459" cy="4876576"/>
          </a:xfrm>
          <a:prstGeom prst="rect">
            <a:avLst/>
          </a:prstGeom>
        </p:spPr>
      </p:pic>
      <p:sp>
        <p:nvSpPr>
          <p:cNvPr id="3" name="Triangle 2">
            <a:extLst>
              <a:ext uri="{FF2B5EF4-FFF2-40B4-BE49-F238E27FC236}">
                <a16:creationId xmlns:a16="http://schemas.microsoft.com/office/drawing/2014/main" id="{8BC0CE28-B95C-9E83-1B55-A2089AC5D6D3}"/>
              </a:ext>
            </a:extLst>
          </p:cNvPr>
          <p:cNvSpPr/>
          <p:nvPr/>
        </p:nvSpPr>
        <p:spPr>
          <a:xfrm rot="5400000">
            <a:off x="5837628" y="3355573"/>
            <a:ext cx="881935" cy="268014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FB77BF-241B-15FB-B35C-DCC42800B72D}"/>
              </a:ext>
            </a:extLst>
          </p:cNvPr>
          <p:cNvSpPr txBox="1"/>
          <p:nvPr/>
        </p:nvSpPr>
        <p:spPr>
          <a:xfrm>
            <a:off x="6577223" y="4627551"/>
            <a:ext cx="45526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-apple-system"/>
              </a:rPr>
              <a:t>Download the app now and start</a:t>
            </a:r>
            <a:br>
              <a:rPr lang="en-US" b="0" i="0" dirty="0">
                <a:effectLst/>
                <a:latin typeface="-apple-system"/>
              </a:rPr>
            </a:br>
            <a:r>
              <a:rPr lang="en-US" b="0" i="0" dirty="0">
                <a:effectLst/>
                <a:latin typeface="-apple-system"/>
              </a:rPr>
              <a:t>🍎 Apple: </a:t>
            </a:r>
            <a:r>
              <a:rPr lang="en-US" b="1" i="0" dirty="0">
                <a:solidFill>
                  <a:srgbClr val="0A66C2"/>
                </a:solidFill>
                <a:effectLst/>
                <a:latin typeface="-apple-system"/>
                <a:hlinkClick r:id="rId4"/>
              </a:rPr>
              <a:t>https://lnkd.in/ggPKKHQU</a:t>
            </a:r>
            <a:br>
              <a:rPr lang="en-US" b="0" i="0" dirty="0">
                <a:effectLst/>
                <a:latin typeface="-apple-system"/>
              </a:rPr>
            </a:br>
            <a:r>
              <a:rPr lang="en-US" b="0" i="0" dirty="0">
                <a:effectLst/>
                <a:latin typeface="-apple-system"/>
              </a:rPr>
              <a:t>🤖 Android: </a:t>
            </a:r>
            <a:r>
              <a:rPr lang="en-US" b="1" i="0" dirty="0">
                <a:solidFill>
                  <a:srgbClr val="0A66C2"/>
                </a:solidFill>
                <a:effectLst/>
                <a:latin typeface="-apple-system"/>
                <a:hlinkClick r:id="rId5"/>
              </a:rPr>
              <a:t>https://lnkd.in/ggdyvE9w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126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F4164-91AD-AEE1-34F4-D8E24B781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7397D2-D1BE-5368-7C65-A94E7CB40F9F}"/>
              </a:ext>
            </a:extLst>
          </p:cNvPr>
          <p:cNvSpPr/>
          <p:nvPr/>
        </p:nvSpPr>
        <p:spPr>
          <a:xfrm>
            <a:off x="0" y="0"/>
            <a:ext cx="3942554" cy="754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1" indent="0" algn="l" defTabSz="121917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noProof="0" dirty="0">
                <a:solidFill>
                  <a:srgbClr val="063D54"/>
                </a:solidFill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Nyota – Product Detail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63D54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Graphic 4" descr="Man with solid fill">
            <a:extLst>
              <a:ext uri="{FF2B5EF4-FFF2-40B4-BE49-F238E27FC236}">
                <a16:creationId xmlns:a16="http://schemas.microsoft.com/office/drawing/2014/main" id="{CB892048-76BD-DB0E-7575-ED02F88950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61257" y="3374986"/>
            <a:ext cx="914400" cy="9144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AD45C61-9912-4B1D-D4B5-6CAC164B5FB0}"/>
              </a:ext>
            </a:extLst>
          </p:cNvPr>
          <p:cNvGrpSpPr/>
          <p:nvPr/>
        </p:nvGrpSpPr>
        <p:grpSpPr>
          <a:xfrm>
            <a:off x="339589" y="1395259"/>
            <a:ext cx="2330208" cy="4873854"/>
            <a:chOff x="1033479" y="1016087"/>
            <a:chExt cx="2330208" cy="487385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04732A3-E684-042A-3FF2-D575884014A3}"/>
                </a:ext>
              </a:extLst>
            </p:cNvPr>
            <p:cNvSpPr txBox="1"/>
            <p:nvPr/>
          </p:nvSpPr>
          <p:spPr>
            <a:xfrm>
              <a:off x="1263455" y="1728534"/>
              <a:ext cx="14797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Family Parties</a:t>
              </a:r>
            </a:p>
          </p:txBody>
        </p:sp>
        <p:pic>
          <p:nvPicPr>
            <p:cNvPr id="1030" name="Picture 6" descr="Images Family Members Photos and Images &amp; Pictures | Shutterstock">
              <a:extLst>
                <a:ext uri="{FF2B5EF4-FFF2-40B4-BE49-F238E27FC236}">
                  <a16:creationId xmlns:a16="http://schemas.microsoft.com/office/drawing/2014/main" id="{E4B4F0A1-CFAE-9CEF-64F6-8C2E18C06D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466"/>
            <a:stretch/>
          </p:blipFill>
          <p:spPr bwMode="auto">
            <a:xfrm>
              <a:off x="1438902" y="1016087"/>
              <a:ext cx="1190000" cy="781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Friends - Wikipedia">
              <a:extLst>
                <a:ext uri="{FF2B5EF4-FFF2-40B4-BE49-F238E27FC236}">
                  <a16:creationId xmlns:a16="http://schemas.microsoft.com/office/drawing/2014/main" id="{3A698B56-D427-53FD-2723-3C1F9B28C1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8910" b="22664"/>
            <a:stretch/>
          </p:blipFill>
          <p:spPr bwMode="auto">
            <a:xfrm>
              <a:off x="1438901" y="2059192"/>
              <a:ext cx="1190000" cy="9457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Fabric Political Flags For National Parties at ₹ 20/piece in Mohali | ID:  22846961548">
              <a:extLst>
                <a:ext uri="{FF2B5EF4-FFF2-40B4-BE49-F238E27FC236}">
                  <a16:creationId xmlns:a16="http://schemas.microsoft.com/office/drawing/2014/main" id="{F7B8E644-6A01-2C54-7C5D-7745E0EBF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8901" y="3264064"/>
              <a:ext cx="1189999" cy="945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Corporate Events at ₹ 100000/pack in ...">
              <a:extLst>
                <a:ext uri="{FF2B5EF4-FFF2-40B4-BE49-F238E27FC236}">
                  <a16:creationId xmlns:a16="http://schemas.microsoft.com/office/drawing/2014/main" id="{63B26C71-41EE-6B66-9A60-28D5828687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8901" y="4521199"/>
              <a:ext cx="1168320" cy="945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F183D27-CC21-E1AA-3F5E-B4AE69F7C388}"/>
                </a:ext>
              </a:extLst>
            </p:cNvPr>
            <p:cNvSpPr txBox="1"/>
            <p:nvPr/>
          </p:nvSpPr>
          <p:spPr>
            <a:xfrm>
              <a:off x="1263456" y="2940200"/>
              <a:ext cx="16267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Friends Parties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1DC3FE9-2AFB-2221-A178-D54FCDB3CA77}"/>
                </a:ext>
              </a:extLst>
            </p:cNvPr>
            <p:cNvSpPr txBox="1"/>
            <p:nvPr/>
          </p:nvSpPr>
          <p:spPr>
            <a:xfrm>
              <a:off x="1345455" y="4180843"/>
              <a:ext cx="20182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Political Parties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CF2EECE-09D9-2380-33BD-8A569CB0841F}"/>
                </a:ext>
              </a:extLst>
            </p:cNvPr>
            <p:cNvSpPr txBox="1"/>
            <p:nvPr/>
          </p:nvSpPr>
          <p:spPr>
            <a:xfrm>
              <a:off x="1033479" y="5520609"/>
              <a:ext cx="20182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Corporate Parties</a:t>
              </a:r>
            </a:p>
          </p:txBody>
        </p:sp>
      </p:grpSp>
      <p:sp>
        <p:nvSpPr>
          <p:cNvPr id="7" name="Triangle 6">
            <a:extLst>
              <a:ext uri="{FF2B5EF4-FFF2-40B4-BE49-F238E27FC236}">
                <a16:creationId xmlns:a16="http://schemas.microsoft.com/office/drawing/2014/main" id="{83F5DD4B-0007-26E7-B1E4-454BBD3BF147}"/>
              </a:ext>
            </a:extLst>
          </p:cNvPr>
          <p:cNvSpPr/>
          <p:nvPr/>
        </p:nvSpPr>
        <p:spPr>
          <a:xfrm rot="5400000">
            <a:off x="-14018" y="3602884"/>
            <a:ext cx="1167167" cy="229723"/>
          </a:xfrm>
          <a:prstGeom prst="triangl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B7253B31-9D17-A983-A7D0-96FCD480F9CD}"/>
              </a:ext>
            </a:extLst>
          </p:cNvPr>
          <p:cNvSpPr/>
          <p:nvPr/>
        </p:nvSpPr>
        <p:spPr>
          <a:xfrm rot="5400000">
            <a:off x="1591269" y="3624430"/>
            <a:ext cx="1167167" cy="229723"/>
          </a:xfrm>
          <a:prstGeom prst="triangl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D124F29A-0C4B-FDD8-65D9-9C55C25EB8B2}"/>
              </a:ext>
            </a:extLst>
          </p:cNvPr>
          <p:cNvSpPr/>
          <p:nvPr/>
        </p:nvSpPr>
        <p:spPr>
          <a:xfrm rot="5400000">
            <a:off x="3267553" y="3624430"/>
            <a:ext cx="1167167" cy="229723"/>
          </a:xfrm>
          <a:prstGeom prst="triangl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4561BC5-A48D-DDDB-B1E6-13CC07609F1A}"/>
              </a:ext>
            </a:extLst>
          </p:cNvPr>
          <p:cNvSpPr/>
          <p:nvPr/>
        </p:nvSpPr>
        <p:spPr>
          <a:xfrm>
            <a:off x="5480" y="2676795"/>
            <a:ext cx="342900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675ADA4-443A-0EF1-7B9F-7E7946D691F2}"/>
              </a:ext>
            </a:extLst>
          </p:cNvPr>
          <p:cNvSpPr/>
          <p:nvPr/>
        </p:nvSpPr>
        <p:spPr>
          <a:xfrm>
            <a:off x="1137987" y="1031899"/>
            <a:ext cx="342900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FCABF3C-7113-FF15-7FE4-ABD1989CAA55}"/>
              </a:ext>
            </a:extLst>
          </p:cNvPr>
          <p:cNvSpPr/>
          <p:nvPr/>
        </p:nvSpPr>
        <p:spPr>
          <a:xfrm>
            <a:off x="2822447" y="1892759"/>
            <a:ext cx="342900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AD711B4-5E09-606E-D174-8EE9EE5F0DD0}"/>
              </a:ext>
            </a:extLst>
          </p:cNvPr>
          <p:cNvSpPr/>
          <p:nvPr/>
        </p:nvSpPr>
        <p:spPr>
          <a:xfrm>
            <a:off x="4046122" y="3020925"/>
            <a:ext cx="1788622" cy="12684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Opt. all required services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E38F1C0-A531-8A8D-EE72-46D76E9530B8}"/>
              </a:ext>
            </a:extLst>
          </p:cNvPr>
          <p:cNvSpPr/>
          <p:nvPr/>
        </p:nvSpPr>
        <p:spPr>
          <a:xfrm>
            <a:off x="4768983" y="2550657"/>
            <a:ext cx="342900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4B9DBFE-99F9-CF8B-840C-8E40E9265E0E}"/>
              </a:ext>
            </a:extLst>
          </p:cNvPr>
          <p:cNvSpPr/>
          <p:nvPr/>
        </p:nvSpPr>
        <p:spPr>
          <a:xfrm>
            <a:off x="6224714" y="3020925"/>
            <a:ext cx="1788622" cy="12684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Pay to Nyota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91882C-5CF9-9B61-1DA2-114F20F0420E}"/>
              </a:ext>
            </a:extLst>
          </p:cNvPr>
          <p:cNvSpPr/>
          <p:nvPr/>
        </p:nvSpPr>
        <p:spPr>
          <a:xfrm>
            <a:off x="6947575" y="2550657"/>
            <a:ext cx="342900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0BF6EE84-0108-605B-23AF-E303EB2BB3C1}"/>
              </a:ext>
            </a:extLst>
          </p:cNvPr>
          <p:cNvSpPr/>
          <p:nvPr/>
        </p:nvSpPr>
        <p:spPr>
          <a:xfrm rot="5400000">
            <a:off x="5444300" y="3540294"/>
            <a:ext cx="1167167" cy="229723"/>
          </a:xfrm>
          <a:prstGeom prst="triangl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4981E2F-4131-4D76-2C9B-B2B36032A2E0}"/>
              </a:ext>
            </a:extLst>
          </p:cNvPr>
          <p:cNvSpPr/>
          <p:nvPr/>
        </p:nvSpPr>
        <p:spPr>
          <a:xfrm>
            <a:off x="8403306" y="2989581"/>
            <a:ext cx="1788622" cy="12684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Feedback and Fulfillment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1F1CF9-70C1-1A7C-5262-ABE45E395E7F}"/>
              </a:ext>
            </a:extLst>
          </p:cNvPr>
          <p:cNvSpPr/>
          <p:nvPr/>
        </p:nvSpPr>
        <p:spPr>
          <a:xfrm>
            <a:off x="9126167" y="2519313"/>
            <a:ext cx="342900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F5131CA1-AB05-F282-4651-003F9750A081}"/>
              </a:ext>
            </a:extLst>
          </p:cNvPr>
          <p:cNvSpPr/>
          <p:nvPr/>
        </p:nvSpPr>
        <p:spPr>
          <a:xfrm rot="5400000">
            <a:off x="7622892" y="3508950"/>
            <a:ext cx="1167167" cy="229723"/>
          </a:xfrm>
          <a:prstGeom prst="triangl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87B423-BEAE-74B7-8CFF-A07998021B57}"/>
              </a:ext>
            </a:extLst>
          </p:cNvPr>
          <p:cNvSpPr txBox="1"/>
          <p:nvPr/>
        </p:nvSpPr>
        <p:spPr>
          <a:xfrm>
            <a:off x="5150792" y="4744681"/>
            <a:ext cx="704120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 Digital Invitation, Posters, Videos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Manage details of event, inviter, invitees, Vendors and suppliers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Organize end to end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 memorable events through photo and videos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Maintain all expenses related with any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Organize gifting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Misc.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49180C-106E-EED9-32D7-3FF7B3CADD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4960" y="2416848"/>
            <a:ext cx="1381031" cy="329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006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787E8-5C33-BED0-248D-3DC4FDB7D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9379354C-A5F4-49CE-B57A-A0F256D6BB32}"/>
              </a:ext>
            </a:extLst>
          </p:cNvPr>
          <p:cNvSpPr/>
          <p:nvPr/>
        </p:nvSpPr>
        <p:spPr>
          <a:xfrm>
            <a:off x="0" y="0"/>
            <a:ext cx="7075976" cy="754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1" indent="0" algn="l" defTabSz="121917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dirty="0">
                <a:ln>
                  <a:noFill/>
                </a:ln>
                <a:solidFill>
                  <a:srgbClr val="063D54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Expense Submission and Audit - </a:t>
            </a:r>
            <a:r>
              <a:rPr kumimoji="0" lang="en-US" sz="3200" b="0" i="0" u="none" strike="noStrike" kern="1200" cap="none" spc="0" normalizeH="0" baseline="0" dirty="0" err="1">
                <a:ln>
                  <a:noFill/>
                </a:ln>
                <a:solidFill>
                  <a:srgbClr val="063D54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ExpAudit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63D54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 descr="A screenshot of a website&#10;&#10;Description automatically generated">
            <a:extLst>
              <a:ext uri="{FF2B5EF4-FFF2-40B4-BE49-F238E27FC236}">
                <a16:creationId xmlns:a16="http://schemas.microsoft.com/office/drawing/2014/main" id="{91C9CD24-9050-6B1A-DAC6-92FB3EB7C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7916"/>
            <a:ext cx="3423003" cy="2133339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EDA93CFE-3ACA-CAF2-2C16-4A38F9BB2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936384"/>
            <a:ext cx="3423004" cy="2133340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10A29C3B-C856-59E3-23CD-11C381EEA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680" y="3936386"/>
            <a:ext cx="3423003" cy="2133338"/>
          </a:xfrm>
          <a:prstGeom prst="rect">
            <a:avLst/>
          </a:prstGeom>
        </p:spPr>
      </p:pic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AE4A6EC1-044E-5195-3C4F-044AA14297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680" y="1047917"/>
            <a:ext cx="3423002" cy="2133338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478504F-1519-DE1D-E18A-31B31C6DA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943024"/>
              </p:ext>
            </p:extLst>
          </p:nvPr>
        </p:nvGraphicFramePr>
        <p:xfrm>
          <a:off x="7357363" y="1137944"/>
          <a:ext cx="4231986" cy="4582112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66699">
                  <a:extLst>
                    <a:ext uri="{9D8B030D-6E8A-4147-A177-3AD203B41FA5}">
                      <a16:colId xmlns:a16="http://schemas.microsoft.com/office/drawing/2014/main" val="3248734149"/>
                    </a:ext>
                  </a:extLst>
                </a:gridCol>
                <a:gridCol w="2065287">
                  <a:extLst>
                    <a:ext uri="{9D8B030D-6E8A-4147-A177-3AD203B41FA5}">
                      <a16:colId xmlns:a16="http://schemas.microsoft.com/office/drawing/2014/main" val="3764520846"/>
                    </a:ext>
                  </a:extLst>
                </a:gridCol>
              </a:tblGrid>
              <a:tr h="43969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effectLst/>
                        </a:rPr>
                        <a:t>Monetization Model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effectLst/>
                        </a:rPr>
                        <a:t>Revenue Type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0628333"/>
                  </a:ext>
                </a:extLst>
              </a:tr>
              <a:tr h="48598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Freemium Model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Subscription (Monthly/Annual)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1006344"/>
                  </a:ext>
                </a:extLst>
              </a:tr>
              <a:tr h="43969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Transaction Fees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Per-Transaction Fees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2823087"/>
                  </a:ext>
                </a:extLst>
              </a:tr>
              <a:tr h="48598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Corporate/Enterprise Sales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Licensing, Subscription, Per-User Fees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0232310"/>
                  </a:ext>
                </a:extLst>
              </a:tr>
              <a:tr h="43969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Affiliate Marketing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Commissions from Affiliates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6636845"/>
                  </a:ext>
                </a:extLst>
              </a:tr>
              <a:tr h="43969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Data Insights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Data Sales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19146154"/>
                  </a:ext>
                </a:extLst>
              </a:tr>
              <a:tr h="48598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Premium Features/Add-ons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One-Time Payments, Subscriptions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79747181"/>
                  </a:ext>
                </a:extLst>
              </a:tr>
              <a:tr h="48598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Travel Insurance Partnerships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Commissions from Insurance Sales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4219350"/>
                  </a:ext>
                </a:extLst>
              </a:tr>
              <a:tr h="43969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White-Label Solution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Licensing Fees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3581107"/>
                  </a:ext>
                </a:extLst>
              </a:tr>
              <a:tr h="43969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API Access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API Access Fees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66892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477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EB9C9-89BF-BA73-3730-60312BFF0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67DFFA4A-A82A-A35C-FA72-57B06C7D455D}"/>
              </a:ext>
            </a:extLst>
          </p:cNvPr>
          <p:cNvSpPr/>
          <p:nvPr/>
        </p:nvSpPr>
        <p:spPr>
          <a:xfrm>
            <a:off x="0" y="0"/>
            <a:ext cx="7075976" cy="754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1" indent="0" algn="l" defTabSz="121917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dirty="0">
                <a:ln>
                  <a:noFill/>
                </a:ln>
                <a:solidFill>
                  <a:srgbClr val="063D54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Expense Submission and Audit - </a:t>
            </a:r>
            <a:r>
              <a:rPr kumimoji="0" lang="en-US" sz="3200" b="0" i="0" u="none" strike="noStrike" kern="1200" cap="none" spc="0" normalizeH="0" baseline="0" dirty="0" err="1">
                <a:ln>
                  <a:noFill/>
                </a:ln>
                <a:solidFill>
                  <a:srgbClr val="063D54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ExpAudit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63D54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 descr="A screenshot of a website&#10;&#10;Description automatically generated">
            <a:extLst>
              <a:ext uri="{FF2B5EF4-FFF2-40B4-BE49-F238E27FC236}">
                <a16:creationId xmlns:a16="http://schemas.microsoft.com/office/drawing/2014/main" id="{ABFD0C65-4AAD-9A72-0CAC-77F0D6011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4" y="1047916"/>
            <a:ext cx="3423003" cy="2133339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55131176-8720-F289-2F58-87965DB85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5" y="3936384"/>
            <a:ext cx="3423004" cy="2133340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CC5A39D6-32FD-0E6E-6D5C-71333B644D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744" y="3936386"/>
            <a:ext cx="3423003" cy="2133338"/>
          </a:xfrm>
          <a:prstGeom prst="rect">
            <a:avLst/>
          </a:prstGeom>
        </p:spPr>
      </p:pic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B2894CC3-12D2-0B74-9A91-674DD09B6C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744" y="1047917"/>
            <a:ext cx="3423002" cy="2133338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1BBA840-A415-8B5E-DD02-C02F84C83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22906"/>
              </p:ext>
            </p:extLst>
          </p:nvPr>
        </p:nvGraphicFramePr>
        <p:xfrm>
          <a:off x="7357363" y="1137944"/>
          <a:ext cx="4231986" cy="185136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166699">
                  <a:extLst>
                    <a:ext uri="{9D8B030D-6E8A-4147-A177-3AD203B41FA5}">
                      <a16:colId xmlns:a16="http://schemas.microsoft.com/office/drawing/2014/main" val="3248734149"/>
                    </a:ext>
                  </a:extLst>
                </a:gridCol>
                <a:gridCol w="2065287">
                  <a:extLst>
                    <a:ext uri="{9D8B030D-6E8A-4147-A177-3AD203B41FA5}">
                      <a16:colId xmlns:a16="http://schemas.microsoft.com/office/drawing/2014/main" val="3764520846"/>
                    </a:ext>
                  </a:extLst>
                </a:gridCol>
              </a:tblGrid>
              <a:tr h="439696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effectLst/>
                        </a:rPr>
                        <a:t>Monetization Model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effectLst/>
                        </a:rPr>
                        <a:t>Revenue Type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0628333"/>
                  </a:ext>
                </a:extLst>
              </a:tr>
              <a:tr h="48598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B2B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Subscription (Monthly/Annual)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1006344"/>
                  </a:ext>
                </a:extLst>
              </a:tr>
              <a:tr h="43969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Transaction Fees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Per-Transaction Fees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2823087"/>
                  </a:ext>
                </a:extLst>
              </a:tr>
              <a:tr h="48598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Corporate/Enterprise Sales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Licensing, Subscription, Per-User Fees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0232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772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3770" y="287507"/>
            <a:ext cx="11664463" cy="6282984"/>
          </a:xfrm>
          <a:prstGeom prst="rect">
            <a:avLst/>
          </a:prstGeom>
          <a:solidFill>
            <a:srgbClr val="033D5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 defTabSz="914354"/>
            <a:endParaRPr lang="en-US" sz="1867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31130" y="1636383"/>
            <a:ext cx="4714257" cy="1200327"/>
          </a:xfrm>
          <a:prstGeom prst="rect">
            <a:avLst/>
          </a:prstGeom>
          <a:noFill/>
        </p:spPr>
        <p:txBody>
          <a:bodyPr wrap="square" lIns="91439" tIns="45719" rIns="91439" bIns="45719" rtlCol="0">
            <a:spAutoFit/>
          </a:bodyPr>
          <a:lstStyle/>
          <a:p>
            <a:pPr defTabSz="914354"/>
            <a:r>
              <a:rPr lang="en-US" sz="7200" dirty="0">
                <a:solidFill>
                  <a:prstClr val="white"/>
                </a:solidFill>
                <a:latin typeface="Calibri"/>
              </a:rPr>
              <a:t>Thank You!! 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8591" y="3311821"/>
            <a:ext cx="1255816" cy="1180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832" y="3311821"/>
            <a:ext cx="2481751" cy="1180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4367726" y="4782950"/>
            <a:ext cx="3841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www.kpro.co.in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035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3043" y="1059926"/>
            <a:ext cx="11664463" cy="5313165"/>
          </a:xfrm>
          <a:prstGeom prst="rect">
            <a:avLst/>
          </a:prstGeom>
          <a:solidFill>
            <a:srgbClr val="033D5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9" tIns="45719" rIns="91439" bIns="45719" rtlCol="0" anchor="ctr"/>
          <a:lstStyle/>
          <a:p>
            <a:pPr algn="ctr" defTabSz="914354"/>
            <a:endParaRPr lang="en-US" sz="1867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66" y="2709593"/>
            <a:ext cx="1036939" cy="9524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66" y="5123165"/>
            <a:ext cx="988697" cy="9886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66" y="1460577"/>
            <a:ext cx="1036939" cy="10369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66" y="3874149"/>
            <a:ext cx="1036939" cy="10369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67228" y="1809769"/>
            <a:ext cx="9365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https://www.youtube.com/channel/UCcks4KEpT694r1Qj2gwTqyQ/featured?reload=9&amp;disable_polymer=true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7228" y="3017849"/>
            <a:ext cx="4567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https://www.facebook.com/</a:t>
            </a:r>
            <a:r>
              <a:rPr lang="en-US" dirty="0" err="1">
                <a:solidFill>
                  <a:schemeClr val="bg1"/>
                </a:solidFill>
              </a:rPr>
              <a:t>kpro.solutions.pvt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67228" y="4256707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https://www.linkedin.com/company/kprosolutions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7228" y="5432847"/>
            <a:ext cx="342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https://twitter.com/kprosolutions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96" y="192585"/>
            <a:ext cx="78602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63D54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Our Open Source Contribution &amp; Co-ordinates</a:t>
            </a:r>
            <a:endParaRPr lang="en-US" sz="3200" dirty="0">
              <a:solidFill>
                <a:srgbClr val="063D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372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50D74-35CA-B670-A780-074B02BF9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BE422E4C-F1CB-DAB5-4450-BD878025CD9D}"/>
              </a:ext>
            </a:extLst>
          </p:cNvPr>
          <p:cNvSpPr/>
          <p:nvPr/>
        </p:nvSpPr>
        <p:spPr>
          <a:xfrm>
            <a:off x="0" y="0"/>
            <a:ext cx="5161798" cy="754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1" indent="0" algn="l" defTabSz="121917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dirty="0">
                <a:ln>
                  <a:noFill/>
                </a:ln>
                <a:solidFill>
                  <a:srgbClr val="063D54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Exit Strategy for Seed Investor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63D54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9EAD6E-A519-9E4E-8948-766DA9C53133}"/>
              </a:ext>
            </a:extLst>
          </p:cNvPr>
          <p:cNvSpPr txBox="1"/>
          <p:nvPr/>
        </p:nvSpPr>
        <p:spPr>
          <a:xfrm>
            <a:off x="383060" y="1223319"/>
            <a:ext cx="1244325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400" b="1" dirty="0"/>
              <a:t>Series B Funding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b="1" dirty="0"/>
              <a:t>Acquisition by a Larger Company</a:t>
            </a:r>
            <a:endParaRPr lang="en-US" sz="14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b="1" dirty="0"/>
              <a:t>Investors sell their shares to other investors or private equity firms.</a:t>
            </a:r>
            <a:endParaRPr lang="en-US" sz="14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b="1" dirty="0"/>
              <a:t>The startup offers to buy back shares from the seed investors at a predefined valuation</a:t>
            </a:r>
            <a:r>
              <a:rPr lang="en-US" sz="1400" dirty="0"/>
              <a:t>.</a:t>
            </a:r>
            <a:endParaRPr lang="en-US" sz="1400" b="1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b="1" dirty="0"/>
              <a:t>Investors’ equity can be converted into debt instruments, providing periodic returns.</a:t>
            </a:r>
            <a:endParaRPr lang="en-US" sz="1400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1400" b="1" dirty="0"/>
              <a:t>Timeline:   	</a:t>
            </a:r>
            <a:r>
              <a:rPr lang="en-US" sz="1400" dirty="0"/>
              <a:t>6 Years </a:t>
            </a:r>
          </a:p>
          <a:p>
            <a:r>
              <a:rPr lang="en-US" sz="1400" dirty="0"/>
              <a:t>		Best Case: 		2.5 times of invested money (~16.5% XIRR per annum - 	</a:t>
            </a:r>
            <a:r>
              <a:rPr lang="en-US" sz="1400" b="1" i="0" dirty="0">
                <a:solidFill>
                  <a:srgbClr val="212529"/>
                </a:solidFill>
                <a:effectLst/>
                <a:latin typeface="Lato" panose="020F0502020204030203" pitchFamily="34" charset="0"/>
              </a:rPr>
              <a:t>8,10,11,546 + 10% Company Equity</a:t>
            </a:r>
            <a:r>
              <a:rPr lang="en-US" sz="1400" dirty="0"/>
              <a:t>)</a:t>
            </a:r>
          </a:p>
          <a:p>
            <a:r>
              <a:rPr lang="en-US" sz="1400" dirty="0"/>
              <a:t>		Average Case:	1.6 times of invested money (~12.5% XIRR per annum - 	</a:t>
            </a:r>
            <a:r>
              <a:rPr lang="en-US" sz="1400" b="1" i="0" dirty="0">
                <a:solidFill>
                  <a:srgbClr val="212529"/>
                </a:solidFill>
                <a:effectLst/>
                <a:latin typeface="Lato" panose="020F0502020204030203" pitchFamily="34" charset="0"/>
              </a:rPr>
              <a:t>5,81,84,303 +   7% Company Equity</a:t>
            </a:r>
            <a:r>
              <a:rPr lang="en-US" sz="1400" dirty="0"/>
              <a:t>)</a:t>
            </a:r>
          </a:p>
          <a:p>
            <a:r>
              <a:rPr lang="en-US" sz="1400" dirty="0"/>
              <a:t>		Worst Case:		Invested money + FD Return (9% Yearly - 		</a:t>
            </a:r>
            <a:r>
              <a:rPr lang="en-US" sz="1400" b="1" i="0" dirty="0">
                <a:solidFill>
                  <a:srgbClr val="212529"/>
                </a:solidFill>
                <a:effectLst/>
                <a:latin typeface="Lato" panose="020F0502020204030203" pitchFamily="34" charset="0"/>
              </a:rPr>
              <a:t>4,56,73,229 +   5% Company Equity</a:t>
            </a:r>
            <a:r>
              <a:rPr lang="en-US" sz="1400" dirty="0"/>
              <a:t>)</a:t>
            </a:r>
          </a:p>
          <a:p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EC9114-F26A-E823-607F-3D705675EC7E}"/>
              </a:ext>
            </a:extLst>
          </p:cNvPr>
          <p:cNvSpPr txBox="1"/>
          <p:nvPr/>
        </p:nvSpPr>
        <p:spPr>
          <a:xfrm>
            <a:off x="3345503" y="6093101"/>
            <a:ext cx="3380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ARPU- 200 Rs per user per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0000"/>
                </a:solidFill>
              </a:rPr>
              <a:t>*</a:t>
            </a:r>
            <a:r>
              <a:rPr lang="en-US" sz="1200" dirty="0"/>
              <a:t> Exit offer based on choice at series B funding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Bonus- Depends on funding or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DEB164-6B28-3C4D-CA89-D55E73397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149201"/>
              </p:ext>
            </p:extLst>
          </p:nvPr>
        </p:nvGraphicFramePr>
        <p:xfrm>
          <a:off x="470705" y="3429000"/>
          <a:ext cx="10972797" cy="2259110"/>
        </p:xfrm>
        <a:graphic>
          <a:graphicData uri="http://schemas.openxmlformats.org/drawingml/2006/table">
            <a:tbl>
              <a:tblPr/>
              <a:tblGrid>
                <a:gridCol w="657461">
                  <a:extLst>
                    <a:ext uri="{9D8B030D-6E8A-4147-A177-3AD203B41FA5}">
                      <a16:colId xmlns:a16="http://schemas.microsoft.com/office/drawing/2014/main" val="3416185139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3612731697"/>
                    </a:ext>
                  </a:extLst>
                </a:gridCol>
                <a:gridCol w="755702">
                  <a:extLst>
                    <a:ext uri="{9D8B030D-6E8A-4147-A177-3AD203B41FA5}">
                      <a16:colId xmlns:a16="http://schemas.microsoft.com/office/drawing/2014/main" val="1350969691"/>
                    </a:ext>
                  </a:extLst>
                </a:gridCol>
                <a:gridCol w="755702">
                  <a:extLst>
                    <a:ext uri="{9D8B030D-6E8A-4147-A177-3AD203B41FA5}">
                      <a16:colId xmlns:a16="http://schemas.microsoft.com/office/drawing/2014/main" val="3404137205"/>
                    </a:ext>
                  </a:extLst>
                </a:gridCol>
                <a:gridCol w="1624760">
                  <a:extLst>
                    <a:ext uri="{9D8B030D-6E8A-4147-A177-3AD203B41FA5}">
                      <a16:colId xmlns:a16="http://schemas.microsoft.com/office/drawing/2014/main" val="184466807"/>
                    </a:ext>
                  </a:extLst>
                </a:gridCol>
                <a:gridCol w="755702">
                  <a:extLst>
                    <a:ext uri="{9D8B030D-6E8A-4147-A177-3AD203B41FA5}">
                      <a16:colId xmlns:a16="http://schemas.microsoft.com/office/drawing/2014/main" val="671629171"/>
                    </a:ext>
                  </a:extLst>
                </a:gridCol>
                <a:gridCol w="755702">
                  <a:extLst>
                    <a:ext uri="{9D8B030D-6E8A-4147-A177-3AD203B41FA5}">
                      <a16:colId xmlns:a16="http://schemas.microsoft.com/office/drawing/2014/main" val="815847953"/>
                    </a:ext>
                  </a:extLst>
                </a:gridCol>
                <a:gridCol w="1141111">
                  <a:extLst>
                    <a:ext uri="{9D8B030D-6E8A-4147-A177-3AD203B41FA5}">
                      <a16:colId xmlns:a16="http://schemas.microsoft.com/office/drawing/2014/main" val="3368409146"/>
                    </a:ext>
                  </a:extLst>
                </a:gridCol>
                <a:gridCol w="755702">
                  <a:extLst>
                    <a:ext uri="{9D8B030D-6E8A-4147-A177-3AD203B41FA5}">
                      <a16:colId xmlns:a16="http://schemas.microsoft.com/office/drawing/2014/main" val="2222471371"/>
                    </a:ext>
                  </a:extLst>
                </a:gridCol>
                <a:gridCol w="695246">
                  <a:extLst>
                    <a:ext uri="{9D8B030D-6E8A-4147-A177-3AD203B41FA5}">
                      <a16:colId xmlns:a16="http://schemas.microsoft.com/office/drawing/2014/main" val="1437565524"/>
                    </a:ext>
                  </a:extLst>
                </a:gridCol>
                <a:gridCol w="2078182">
                  <a:extLst>
                    <a:ext uri="{9D8B030D-6E8A-4147-A177-3AD203B41FA5}">
                      <a16:colId xmlns:a16="http://schemas.microsoft.com/office/drawing/2014/main" val="1508967503"/>
                    </a:ext>
                  </a:extLst>
                </a:gridCol>
              </a:tblGrid>
              <a:tr h="161365"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Kpro Revenue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968479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Revenue in Rupees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Investment/ Expenses Required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Break Even Projection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Funding Startegy Roadmap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688850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Year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Best Case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 Case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Worst Case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Best Case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 Case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Worst Case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Best Case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Average Case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Worst Case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71249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2025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-21800000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-23400000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-24980000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Seed Funding  3  to 4 CR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543588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2026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-10500000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-14300000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-10900000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284100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2027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-24500000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-22000000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-9100000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Series A Funding 1 to 1.5 Million Dollar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329706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2028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-35000000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-23000000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-12200000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533756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2029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-41000000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-28000000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-8400000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391904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13700000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-20500000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-31000000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-3800000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Series B Funding 2 to 2.5 Million Dollar </a:t>
                      </a:r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*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626249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2031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21400000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-39500000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-8600000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16856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2032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229500000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38700000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132000000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-15500000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-6300000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269501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2033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621000000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174000000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81600000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513500000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34100000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905946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2034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2356500000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612000000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260400000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2229000000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524500000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202900000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325024"/>
                  </a:ext>
                </a:extLst>
              </a:tr>
              <a:tr h="16136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3432700000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949300000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435220000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705000000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535000000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282500000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2727700000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414300000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152720000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564" marR="7564" marT="756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496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122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CF505-3A9B-D172-DA8A-A43340E95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4C80A2EF-99B2-3EB6-71B8-55F786CF9BF3}"/>
              </a:ext>
            </a:extLst>
          </p:cNvPr>
          <p:cNvSpPr/>
          <p:nvPr/>
        </p:nvSpPr>
        <p:spPr>
          <a:xfrm>
            <a:off x="0" y="0"/>
            <a:ext cx="6047489" cy="754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1" indent="0" algn="l" defTabSz="121917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noProof="0" dirty="0">
                <a:solidFill>
                  <a:srgbClr val="063D54"/>
                </a:solidFill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Expense and Audit – Product Detail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63D54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Graphic 1" descr="Man with solid fill">
            <a:extLst>
              <a:ext uri="{FF2B5EF4-FFF2-40B4-BE49-F238E27FC236}">
                <a16:creationId xmlns:a16="http://schemas.microsoft.com/office/drawing/2014/main" id="{CB19738F-EDF6-CA22-0F99-A61F1B7D5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188539"/>
            <a:ext cx="914400" cy="914400"/>
          </a:xfrm>
          <a:prstGeom prst="rect">
            <a:avLst/>
          </a:prstGeom>
        </p:spPr>
      </p:pic>
      <p:sp>
        <p:nvSpPr>
          <p:cNvPr id="3" name="Triangle 2">
            <a:extLst>
              <a:ext uri="{FF2B5EF4-FFF2-40B4-BE49-F238E27FC236}">
                <a16:creationId xmlns:a16="http://schemas.microsoft.com/office/drawing/2014/main" id="{DA5BB6CC-4BCB-CFA4-E987-0856280EB6BF}"/>
              </a:ext>
            </a:extLst>
          </p:cNvPr>
          <p:cNvSpPr/>
          <p:nvPr/>
        </p:nvSpPr>
        <p:spPr>
          <a:xfrm rot="5400000">
            <a:off x="247239" y="2416437"/>
            <a:ext cx="1167167" cy="229723"/>
          </a:xfrm>
          <a:prstGeom prst="triangl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B63404-1A72-C54F-9439-6B410FF9B636}"/>
              </a:ext>
            </a:extLst>
          </p:cNvPr>
          <p:cNvSpPr/>
          <p:nvPr/>
        </p:nvSpPr>
        <p:spPr>
          <a:xfrm>
            <a:off x="266737" y="1490348"/>
            <a:ext cx="342900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C6A7575-1C17-60E4-72DF-B1E47F4A35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35" y="1464629"/>
            <a:ext cx="3423002" cy="2133338"/>
          </a:xfrm>
          <a:prstGeom prst="rect">
            <a:avLst/>
          </a:prstGeom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727E808E-9803-3A24-303E-1BCD9E61B4F4}"/>
              </a:ext>
            </a:extLst>
          </p:cNvPr>
          <p:cNvSpPr/>
          <p:nvPr/>
        </p:nvSpPr>
        <p:spPr>
          <a:xfrm rot="5400000">
            <a:off x="4119144" y="2404494"/>
            <a:ext cx="1167167" cy="229723"/>
          </a:xfrm>
          <a:prstGeom prst="triangl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C354B0-70E4-91A9-CE7F-D222445098DE}"/>
              </a:ext>
            </a:extLst>
          </p:cNvPr>
          <p:cNvSpPr/>
          <p:nvPr/>
        </p:nvSpPr>
        <p:spPr>
          <a:xfrm>
            <a:off x="4897713" y="1800989"/>
            <a:ext cx="1788622" cy="12684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 Trip</a:t>
            </a:r>
          </a:p>
          <a:p>
            <a:pPr algn="ctr"/>
            <a:r>
              <a:rPr lang="en-US" dirty="0"/>
              <a:t>Get Approval</a:t>
            </a:r>
          </a:p>
          <a:p>
            <a:pPr algn="ctr"/>
            <a:r>
              <a:rPr lang="en-US" dirty="0"/>
              <a:t>Manage Trip</a:t>
            </a:r>
          </a:p>
          <a:p>
            <a:pPr algn="ctr"/>
            <a:r>
              <a:rPr lang="en-US" dirty="0"/>
              <a:t>Submit Expense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8AC50AC-541F-A3FD-2298-0DC7B56F95CC}"/>
              </a:ext>
            </a:extLst>
          </p:cNvPr>
          <p:cNvSpPr/>
          <p:nvPr/>
        </p:nvSpPr>
        <p:spPr>
          <a:xfrm>
            <a:off x="7076305" y="1800989"/>
            <a:ext cx="1788622" cy="12684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Approve Expense</a:t>
            </a:r>
          </a:p>
          <a:p>
            <a:pPr algn="ctr"/>
            <a:r>
              <a:rPr lang="en-US" dirty="0"/>
              <a:t>Pay Expenses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DCA6FF2C-89CA-C5FE-0D2E-6BE70E25768A}"/>
              </a:ext>
            </a:extLst>
          </p:cNvPr>
          <p:cNvSpPr/>
          <p:nvPr/>
        </p:nvSpPr>
        <p:spPr>
          <a:xfrm rot="5400000">
            <a:off x="6295891" y="2320358"/>
            <a:ext cx="1167167" cy="229723"/>
          </a:xfrm>
          <a:prstGeom prst="triangl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DCA696C-FFCB-C701-C5FF-A8A40A7900C6}"/>
              </a:ext>
            </a:extLst>
          </p:cNvPr>
          <p:cNvSpPr/>
          <p:nvPr/>
        </p:nvSpPr>
        <p:spPr>
          <a:xfrm>
            <a:off x="9254897" y="1769645"/>
            <a:ext cx="1788622" cy="12684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Perform Audit</a:t>
            </a: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6D6C20BE-F692-639C-952C-35B60AC0F53E}"/>
              </a:ext>
            </a:extLst>
          </p:cNvPr>
          <p:cNvSpPr/>
          <p:nvPr/>
        </p:nvSpPr>
        <p:spPr>
          <a:xfrm rot="5400000">
            <a:off x="8474483" y="2289014"/>
            <a:ext cx="1167167" cy="229723"/>
          </a:xfrm>
          <a:prstGeom prst="triangl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9A82AC-AF73-0B80-0E1C-9E5773D988B8}"/>
              </a:ext>
            </a:extLst>
          </p:cNvPr>
          <p:cNvSpPr txBox="1"/>
          <p:nvPr/>
        </p:nvSpPr>
        <p:spPr>
          <a:xfrm>
            <a:off x="4465737" y="3213680"/>
            <a:ext cx="7791598" cy="3130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Expense capture</a:t>
            </a:r>
            <a:r>
              <a:rPr lang="en-US" sz="1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 Capture expenses, mileage, and per diem using the app 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Receipt scanner</a:t>
            </a:r>
            <a:r>
              <a:rPr lang="en-US" sz="1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 Use the AI-powered receipt scanner to submit expenses quickly 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Automated approvals</a:t>
            </a:r>
            <a:r>
              <a:rPr lang="en-US" sz="1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 Set custom policy rules to automate expense approvals 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Mileage tracking</a:t>
            </a:r>
            <a:r>
              <a:rPr lang="en-US" sz="1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 Submit and process compliant mileage entries 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Credit card reconciliation</a:t>
            </a:r>
            <a:r>
              <a:rPr lang="en-US" sz="1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 Automate the credit card reconciliation process 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Smart Audit</a:t>
            </a:r>
            <a:r>
              <a:rPr lang="en-US" sz="1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 Use AI to automatically detect and flag non-compliant and suspicious claims 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Real-time visibility</a:t>
            </a:r>
            <a:r>
              <a:rPr lang="en-US" sz="1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 Finance teams have real-time visibility on employee spend 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Currency conversion</a:t>
            </a:r>
            <a:r>
              <a:rPr lang="en-US" sz="1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 App converts foreign currency using real-time exchange rates 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Expense cards</a:t>
            </a:r>
            <a:r>
              <a:rPr lang="en-US" sz="1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 Smart virtual and physical business cards for one-time and recurring spending 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7E312AE-4E09-26C8-FB09-C6837C22A675}"/>
              </a:ext>
            </a:extLst>
          </p:cNvPr>
          <p:cNvSpPr/>
          <p:nvPr/>
        </p:nvSpPr>
        <p:spPr>
          <a:xfrm>
            <a:off x="2411336" y="982046"/>
            <a:ext cx="342900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B1812EA-4A7E-E7FD-C27B-0BCAA0FF2ABF}"/>
              </a:ext>
            </a:extLst>
          </p:cNvPr>
          <p:cNvSpPr/>
          <p:nvPr/>
        </p:nvSpPr>
        <p:spPr>
          <a:xfrm>
            <a:off x="5615474" y="1373469"/>
            <a:ext cx="342900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274802-6BAD-6AB7-73BD-8D6B0DA1201F}"/>
              </a:ext>
            </a:extLst>
          </p:cNvPr>
          <p:cNvSpPr/>
          <p:nvPr/>
        </p:nvSpPr>
        <p:spPr>
          <a:xfrm>
            <a:off x="7799166" y="1370483"/>
            <a:ext cx="342900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9DEED78-09C3-0B52-71AF-DE43FE97A017}"/>
              </a:ext>
            </a:extLst>
          </p:cNvPr>
          <p:cNvSpPr/>
          <p:nvPr/>
        </p:nvSpPr>
        <p:spPr>
          <a:xfrm>
            <a:off x="9959495" y="1351378"/>
            <a:ext cx="342900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18658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8D964-840A-17C9-FDAE-F63266B6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23B88B5D-5F1E-DB95-D451-C170E87AF71E}"/>
              </a:ext>
            </a:extLst>
          </p:cNvPr>
          <p:cNvSpPr/>
          <p:nvPr/>
        </p:nvSpPr>
        <p:spPr>
          <a:xfrm>
            <a:off x="0" y="0"/>
            <a:ext cx="2267159" cy="7546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1" indent="0" algn="l" defTabSz="121917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dirty="0">
                <a:ln>
                  <a:noFill/>
                </a:ln>
                <a:solidFill>
                  <a:srgbClr val="063D54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Exit Strategy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63D54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19FC3-63FA-C059-F82E-03C12492716C}"/>
              </a:ext>
            </a:extLst>
          </p:cNvPr>
          <p:cNvSpPr txBox="1"/>
          <p:nvPr/>
        </p:nvSpPr>
        <p:spPr>
          <a:xfrm>
            <a:off x="271850" y="1075038"/>
            <a:ext cx="1078744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1600" b="1" dirty="0">
                <a:solidFill>
                  <a:srgbClr val="00B050"/>
                </a:solidFill>
              </a:rPr>
              <a:t>Step 1: Bootstrapping</a:t>
            </a:r>
          </a:p>
          <a:p>
            <a:r>
              <a:rPr lang="en-US" sz="1600" dirty="0"/>
              <a:t>	Objective: Prove the concept with minimal resources.</a:t>
            </a:r>
          </a:p>
          <a:p>
            <a:r>
              <a:rPr lang="en-US" sz="1600" dirty="0"/>
              <a:t>	Action: Develop a minimum viable product (MVP) and gain initial traction.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b="1" dirty="0">
                <a:solidFill>
                  <a:srgbClr val="00B050"/>
                </a:solidFill>
              </a:rPr>
              <a:t>Step 2: Pre-Seed Funding</a:t>
            </a:r>
          </a:p>
          <a:p>
            <a:r>
              <a:rPr lang="en-US" sz="1600" dirty="0"/>
              <a:t>	Objective: Validate the idea with a basic prototype or proof of concept.</a:t>
            </a:r>
          </a:p>
          <a:p>
            <a:r>
              <a:rPr lang="en-US" sz="1600" dirty="0"/>
              <a:t>	Action: Build a core team and refine the business model.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b="1" dirty="0">
                <a:solidFill>
                  <a:srgbClr val="00B050"/>
                </a:solidFill>
              </a:rPr>
              <a:t>Step 3: Seed Funding</a:t>
            </a:r>
          </a:p>
          <a:p>
            <a:r>
              <a:rPr lang="en-US" sz="1600" dirty="0"/>
              <a:t>	Objective: Develop the product further, conduct market research, and acquire early customers.</a:t>
            </a:r>
          </a:p>
          <a:p>
            <a:r>
              <a:rPr lang="en-US" sz="1600" dirty="0"/>
              <a:t>	Action: Create a compelling pitch deck, demonstrate product-market fit, and start reaching out to investors.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b="1" dirty="0"/>
              <a:t>Step 4: Pre Series A Funding</a:t>
            </a:r>
          </a:p>
          <a:p>
            <a:r>
              <a:rPr lang="en-US" sz="1600" dirty="0"/>
              <a:t>	Objective: Expand the team, enhance product features, and grow the customer base.</a:t>
            </a:r>
          </a:p>
          <a:p>
            <a:r>
              <a:rPr lang="en-US" sz="1600" dirty="0"/>
              <a:t>	Action: Show consistent revenue growth, provide metrics that prove sustainability, and seek investors interested in </a:t>
            </a:r>
          </a:p>
          <a:p>
            <a:r>
              <a:rPr lang="en-US" sz="1600" dirty="0"/>
              <a:t>	scaling ventures.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b="1" dirty="0"/>
              <a:t>Step 5: Series B Funding</a:t>
            </a:r>
          </a:p>
          <a:p>
            <a:r>
              <a:rPr lang="en-US" sz="1600" dirty="0"/>
              <a:t>	Objective: Further scale operations, penetrate new markets, and improve infrastructure.</a:t>
            </a:r>
          </a:p>
          <a:p>
            <a:r>
              <a:rPr lang="en-US" sz="1600" dirty="0"/>
              <a:t>	Action: Demonstrate business scalability, strong financial performance, and strategic growth plans.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b="1" dirty="0"/>
              <a:t>Step 6: Series C and Beyond</a:t>
            </a:r>
          </a:p>
          <a:p>
            <a:r>
              <a:rPr lang="en-US" sz="1600" dirty="0"/>
              <a:t>	Objective: Prepare for potential IPO or acquisition, enter international markets, and enhance competitive positioning.</a:t>
            </a:r>
          </a:p>
          <a:p>
            <a:r>
              <a:rPr lang="en-US" sz="1600" dirty="0"/>
              <a:t>	Action: Show robust growth metrics, a solid market position, and strong operational foundations.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1600" b="1" dirty="0"/>
              <a:t>Step 7: Initial Public Offering (IPO) or Acquisition</a:t>
            </a:r>
          </a:p>
          <a:p>
            <a:r>
              <a:rPr lang="en-US" sz="1600" dirty="0"/>
              <a:t>	IPO Definition: The process of a private company offering shares to the public in a new stock issuance.</a:t>
            </a:r>
          </a:p>
          <a:p>
            <a:r>
              <a:rPr lang="en-US" sz="1600" dirty="0"/>
              <a:t>	Acquisition Definition: Being bought out by a larger company.</a:t>
            </a:r>
          </a:p>
        </p:txBody>
      </p:sp>
    </p:spTree>
    <p:extLst>
      <p:ext uri="{BB962C8B-B14F-4D97-AF65-F5344CB8AC3E}">
        <p14:creationId xmlns:p14="http://schemas.microsoft.com/office/powerpoint/2010/main" val="2732330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5771B0BA-0664-40A2-842B-F2951A5ADC6A}"/>
              </a:ext>
            </a:extLst>
          </p:cNvPr>
          <p:cNvSpPr txBox="1"/>
          <p:nvPr/>
        </p:nvSpPr>
        <p:spPr>
          <a:xfrm>
            <a:off x="146997" y="75659"/>
            <a:ext cx="9245600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1219170">
              <a:lnSpc>
                <a:spcPct val="150000"/>
              </a:lnSpc>
              <a:buClr>
                <a:srgbClr val="0070C0"/>
              </a:buClr>
              <a:defRPr/>
            </a:pPr>
            <a:r>
              <a:rPr lang="en-US" sz="3200" dirty="0">
                <a:solidFill>
                  <a:srgbClr val="002060"/>
                </a:solidFill>
                <a:latin typeface="Calibri"/>
              </a:rPr>
              <a:t>Revenue Status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08941D2-486D-154A-84CA-CBA383A6CB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29" y="1028292"/>
            <a:ext cx="4604035" cy="2827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0E1B56F-2A23-6D45-AF8A-36BBC05493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267" y="1028292"/>
            <a:ext cx="4705304" cy="2827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29E011-5F1C-7C47-8EBC-605C88D61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29" y="3967400"/>
            <a:ext cx="11144411" cy="245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5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5771B0BA-0664-40A2-842B-F2951A5ADC6A}"/>
              </a:ext>
            </a:extLst>
          </p:cNvPr>
          <p:cNvSpPr txBox="1"/>
          <p:nvPr/>
        </p:nvSpPr>
        <p:spPr>
          <a:xfrm>
            <a:off x="146997" y="75659"/>
            <a:ext cx="9245600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1219170">
              <a:lnSpc>
                <a:spcPct val="150000"/>
              </a:lnSpc>
              <a:buClr>
                <a:srgbClr val="0070C0"/>
              </a:buClr>
              <a:defRPr/>
            </a:pPr>
            <a:r>
              <a:rPr lang="en-US" sz="3200" dirty="0">
                <a:solidFill>
                  <a:srgbClr val="002060"/>
                </a:solidFill>
                <a:latin typeface="Calibri"/>
              </a:rPr>
              <a:t>Revenue Status (Cont..)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9B67CF-C6AF-B04B-A3EB-C25A372095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22" y="1059096"/>
            <a:ext cx="4821852" cy="27220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9E93AB-CED8-E241-9AC6-4C0BE41934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96" y="3986204"/>
            <a:ext cx="4566461" cy="26936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6DDB21-0276-3142-B996-56469F8BAA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01" y="1059096"/>
            <a:ext cx="4412412" cy="27220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030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8F9EFEE0-B638-4279-AB95-725A1BC2EC15}"/>
              </a:ext>
            </a:extLst>
          </p:cNvPr>
          <p:cNvSpPr txBox="1"/>
          <p:nvPr/>
        </p:nvSpPr>
        <p:spPr>
          <a:xfrm>
            <a:off x="146997" y="75659"/>
            <a:ext cx="11718432" cy="754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1219170">
              <a:lnSpc>
                <a:spcPct val="150000"/>
              </a:lnSpc>
              <a:buClr>
                <a:srgbClr val="0070C0"/>
              </a:buClr>
              <a:defRPr/>
            </a:pPr>
            <a:r>
              <a:rPr lang="en-US" sz="3200" dirty="0">
                <a:solidFill>
                  <a:srgbClr val="002060"/>
                </a:solidFill>
              </a:rPr>
              <a:t>Revenue &amp; Expense Forecast from 1</a:t>
            </a:r>
            <a:r>
              <a:rPr lang="en-US" sz="3200" baseline="30000" dirty="0">
                <a:solidFill>
                  <a:srgbClr val="002060"/>
                </a:solidFill>
              </a:rPr>
              <a:t>st</a:t>
            </a:r>
            <a:r>
              <a:rPr lang="en-US" sz="3200" dirty="0">
                <a:solidFill>
                  <a:srgbClr val="002060"/>
                </a:solidFill>
              </a:rPr>
              <a:t> to 3</a:t>
            </a:r>
            <a:r>
              <a:rPr lang="en-US" sz="3200" baseline="30000" dirty="0">
                <a:solidFill>
                  <a:srgbClr val="002060"/>
                </a:solidFill>
              </a:rPr>
              <a:t>rd</a:t>
            </a:r>
            <a:r>
              <a:rPr lang="en-US" sz="3200" dirty="0">
                <a:solidFill>
                  <a:srgbClr val="002060"/>
                </a:solidFill>
              </a:rPr>
              <a:t> Year – TherdEye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AE69DA5-8AC0-47D9-B0C1-8515D3E45C98}"/>
              </a:ext>
            </a:extLst>
          </p:cNvPr>
          <p:cNvGrpSpPr/>
          <p:nvPr/>
        </p:nvGrpSpPr>
        <p:grpSpPr>
          <a:xfrm>
            <a:off x="814548" y="1891986"/>
            <a:ext cx="4597208" cy="701576"/>
            <a:chOff x="6847561" y="1069587"/>
            <a:chExt cx="4933933" cy="108989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6D317D3-938E-423C-BE87-DEEA65A572C8}"/>
                </a:ext>
              </a:extLst>
            </p:cNvPr>
            <p:cNvSpPr/>
            <p:nvPr/>
          </p:nvSpPr>
          <p:spPr>
            <a:xfrm>
              <a:off x="6847561" y="1069587"/>
              <a:ext cx="4933933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pPr lvl="0"/>
              <a:r>
                <a:rPr lang="en-US" sz="1600" kern="0" noProof="1"/>
                <a:t>200 Employees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0C84F10-D6C2-4E90-AC32-ED46813165C1}"/>
                </a:ext>
              </a:extLst>
            </p:cNvPr>
            <p:cNvSpPr/>
            <p:nvPr/>
          </p:nvSpPr>
          <p:spPr>
            <a:xfrm>
              <a:off x="6847562" y="106958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013D4D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B43F55C-EBA3-4E70-B81E-2E76705FE2CC}"/>
              </a:ext>
            </a:extLst>
          </p:cNvPr>
          <p:cNvGrpSpPr/>
          <p:nvPr/>
        </p:nvGrpSpPr>
        <p:grpSpPr>
          <a:xfrm>
            <a:off x="814548" y="1072586"/>
            <a:ext cx="4597208" cy="701576"/>
            <a:chOff x="6847561" y="1069587"/>
            <a:chExt cx="4933933" cy="1089891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34443FF-65DC-4303-BA7E-C2AC34274E55}"/>
                </a:ext>
              </a:extLst>
            </p:cNvPr>
            <p:cNvSpPr/>
            <p:nvPr/>
          </p:nvSpPr>
          <p:spPr>
            <a:xfrm>
              <a:off x="6847561" y="1069587"/>
              <a:ext cx="4933933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pPr lvl="0"/>
              <a:r>
                <a:rPr lang="en-US" sz="1600" kern="0" noProof="1"/>
                <a:t>19.5 Million Dollar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0CC54C-A9BD-4118-89AF-7795E9B05913}"/>
                </a:ext>
              </a:extLst>
            </p:cNvPr>
            <p:cNvSpPr/>
            <p:nvPr/>
          </p:nvSpPr>
          <p:spPr>
            <a:xfrm>
              <a:off x="6847562" y="106958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013D4D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177298B-7C34-4CED-870C-E436C6242664}"/>
              </a:ext>
            </a:extLst>
          </p:cNvPr>
          <p:cNvGrpSpPr/>
          <p:nvPr/>
        </p:nvGrpSpPr>
        <p:grpSpPr>
          <a:xfrm>
            <a:off x="814548" y="2733158"/>
            <a:ext cx="4597208" cy="701576"/>
            <a:chOff x="6732574" y="-202667"/>
            <a:chExt cx="4933933" cy="1089891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5891B95-0F55-47A8-880F-6DC78FC88B56}"/>
                </a:ext>
              </a:extLst>
            </p:cNvPr>
            <p:cNvSpPr/>
            <p:nvPr/>
          </p:nvSpPr>
          <p:spPr>
            <a:xfrm>
              <a:off x="6732574" y="-202667"/>
              <a:ext cx="4933933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pPr lvl="0"/>
              <a:r>
                <a:rPr lang="en-US" sz="1600" kern="0" noProof="1"/>
                <a:t>Conversion of Kpro TherdEye from B2B to B2C</a:t>
              </a: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799E791-2601-4ED8-8AE2-B81C9D65891D}"/>
                </a:ext>
              </a:extLst>
            </p:cNvPr>
            <p:cNvSpPr/>
            <p:nvPr/>
          </p:nvSpPr>
          <p:spPr>
            <a:xfrm>
              <a:off x="6732575" y="-20266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013D4D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1643DB5-D025-401C-AEA5-15ED6F0E3E59}"/>
              </a:ext>
            </a:extLst>
          </p:cNvPr>
          <p:cNvGrpSpPr/>
          <p:nvPr/>
        </p:nvGrpSpPr>
        <p:grpSpPr>
          <a:xfrm>
            <a:off x="814547" y="3606988"/>
            <a:ext cx="4597209" cy="701576"/>
            <a:chOff x="6732574" y="-202667"/>
            <a:chExt cx="4933933" cy="1089891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D50E6CAC-FB98-46CE-AE88-75783E2DA446}"/>
                </a:ext>
              </a:extLst>
            </p:cNvPr>
            <p:cNvSpPr/>
            <p:nvPr/>
          </p:nvSpPr>
          <p:spPr>
            <a:xfrm>
              <a:off x="6732574" y="-202667"/>
              <a:ext cx="4933933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pPr lvl="0"/>
              <a:r>
                <a:rPr lang="en-US" sz="1600" kern="0" noProof="1"/>
                <a:t>Enabling Kpro TherdEye to other domains (Schools, Home Security and Small Stores)</a:t>
              </a: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36C63F-E7AA-425A-A7E7-C9E58F9DFA71}"/>
                </a:ext>
              </a:extLst>
            </p:cNvPr>
            <p:cNvSpPr/>
            <p:nvPr/>
          </p:nvSpPr>
          <p:spPr>
            <a:xfrm>
              <a:off x="6732575" y="-20266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013D4D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75D2190-605A-4DA4-83CD-A328D42A19FD}"/>
              </a:ext>
            </a:extLst>
          </p:cNvPr>
          <p:cNvGrpSpPr/>
          <p:nvPr/>
        </p:nvGrpSpPr>
        <p:grpSpPr>
          <a:xfrm>
            <a:off x="814547" y="5213130"/>
            <a:ext cx="4597210" cy="701576"/>
            <a:chOff x="6732574" y="-202667"/>
            <a:chExt cx="4933933" cy="1089891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D816F2A5-1A8C-4D09-A58E-A046477BB40A}"/>
                </a:ext>
              </a:extLst>
            </p:cNvPr>
            <p:cNvSpPr/>
            <p:nvPr/>
          </p:nvSpPr>
          <p:spPr>
            <a:xfrm>
              <a:off x="6732574" y="-202667"/>
              <a:ext cx="4933933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r>
                <a:rPr lang="en-GB" sz="1600" dirty="0"/>
                <a:t>Revenue from other product and services</a:t>
              </a: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8A13B22-A6AF-4BB4-A10C-04A4C3DF646C}"/>
                </a:ext>
              </a:extLst>
            </p:cNvPr>
            <p:cNvSpPr/>
            <p:nvPr/>
          </p:nvSpPr>
          <p:spPr>
            <a:xfrm>
              <a:off x="6732575" y="-20266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013D4D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65530BC-057D-42B6-91ED-ABFFF2EB2CB9}"/>
              </a:ext>
            </a:extLst>
          </p:cNvPr>
          <p:cNvGrpSpPr/>
          <p:nvPr/>
        </p:nvGrpSpPr>
        <p:grpSpPr>
          <a:xfrm>
            <a:off x="814547" y="4426388"/>
            <a:ext cx="4597209" cy="701576"/>
            <a:chOff x="6732574" y="-202667"/>
            <a:chExt cx="4933933" cy="1089891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B0B73800-B86E-4693-BFEA-89B0EA927553}"/>
                </a:ext>
              </a:extLst>
            </p:cNvPr>
            <p:cNvSpPr/>
            <p:nvPr/>
          </p:nvSpPr>
          <p:spPr>
            <a:xfrm>
              <a:off x="6732574" y="-202667"/>
              <a:ext cx="4933933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pPr lvl="0"/>
              <a:r>
                <a:rPr lang="en-US" sz="1600" kern="0" noProof="1"/>
                <a:t>Derive active subscription of TherdEye to 500K Subscriber with revenue of 12.8 Million Dollar for best case scenario</a:t>
              </a: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14D5B86-D2BC-49BE-99C9-260CFE20F008}"/>
                </a:ext>
              </a:extLst>
            </p:cNvPr>
            <p:cNvSpPr/>
            <p:nvPr/>
          </p:nvSpPr>
          <p:spPr>
            <a:xfrm>
              <a:off x="6732575" y="-20266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013D4D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61F87D0B-B605-4D19-9599-4A7E65C85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496" y="1170558"/>
            <a:ext cx="5997989" cy="397136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70B0E348-5A46-684C-B906-D6CFB3059964}"/>
              </a:ext>
            </a:extLst>
          </p:cNvPr>
          <p:cNvGrpSpPr/>
          <p:nvPr/>
        </p:nvGrpSpPr>
        <p:grpSpPr>
          <a:xfrm>
            <a:off x="814546" y="5999872"/>
            <a:ext cx="4597210" cy="701576"/>
            <a:chOff x="6732574" y="-202667"/>
            <a:chExt cx="4933933" cy="1089891"/>
          </a:xfrm>
        </p:grpSpPr>
        <p:sp>
          <p:nvSpPr>
            <p:cNvPr id="27" name="Rectangle: Rounded Corners 51">
              <a:extLst>
                <a:ext uri="{FF2B5EF4-FFF2-40B4-BE49-F238E27FC236}">
                  <a16:creationId xmlns:a16="http://schemas.microsoft.com/office/drawing/2014/main" id="{93BC7C0F-0F3E-5447-BC93-3B6CA163B550}"/>
                </a:ext>
              </a:extLst>
            </p:cNvPr>
            <p:cNvSpPr/>
            <p:nvPr/>
          </p:nvSpPr>
          <p:spPr>
            <a:xfrm>
              <a:off x="6732574" y="-202667"/>
              <a:ext cx="4933933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r>
                <a:rPr lang="en-GB" sz="1600" dirty="0"/>
                <a:t>Expense will be 25 Million Dollar</a:t>
              </a:r>
            </a:p>
          </p:txBody>
        </p:sp>
        <p:sp>
          <p:nvSpPr>
            <p:cNvPr id="29" name="Freeform: Shape 52">
              <a:extLst>
                <a:ext uri="{FF2B5EF4-FFF2-40B4-BE49-F238E27FC236}">
                  <a16:creationId xmlns:a16="http://schemas.microsoft.com/office/drawing/2014/main" id="{70733D3C-2FC7-664B-84B5-15110D0EED86}"/>
                </a:ext>
              </a:extLst>
            </p:cNvPr>
            <p:cNvSpPr/>
            <p:nvPr/>
          </p:nvSpPr>
          <p:spPr>
            <a:xfrm>
              <a:off x="6732575" y="-20266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1BBC896-E4A0-564E-8EE0-9D550038DB5D}"/>
              </a:ext>
            </a:extLst>
          </p:cNvPr>
          <p:cNvSpPr txBox="1"/>
          <p:nvPr/>
        </p:nvSpPr>
        <p:spPr>
          <a:xfrm>
            <a:off x="5671496" y="5222208"/>
            <a:ext cx="5997989" cy="138499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estimate is only for Indian market, in case of international market, revenue will exponentially increase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Breakeven will be achieved in 4</a:t>
            </a:r>
            <a:r>
              <a:rPr lang="en-US" sz="1400" baseline="30000" dirty="0"/>
              <a:t>th</a:t>
            </a:r>
            <a:r>
              <a:rPr lang="en-US" sz="1400" dirty="0"/>
              <a:t>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Second round of investment will be required in 2</a:t>
            </a:r>
            <a:r>
              <a:rPr lang="en-US" sz="1400" baseline="30000" dirty="0"/>
              <a:t>nd</a:t>
            </a:r>
            <a:r>
              <a:rPr lang="en-US" sz="1400" dirty="0"/>
              <a:t>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Third round of investment will be required in 3</a:t>
            </a:r>
            <a:r>
              <a:rPr lang="en-US" sz="1400" baseline="30000" dirty="0"/>
              <a:t>rd </a:t>
            </a:r>
            <a:r>
              <a:rPr lang="en-US" sz="1400" dirty="0"/>
              <a:t> Year with valuation of more than 200 Million Dollar</a:t>
            </a:r>
          </a:p>
        </p:txBody>
      </p:sp>
    </p:spTree>
    <p:extLst>
      <p:ext uri="{BB962C8B-B14F-4D97-AF65-F5344CB8AC3E}">
        <p14:creationId xmlns:p14="http://schemas.microsoft.com/office/powerpoint/2010/main" val="3022735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>
            <a:extLst>
              <a:ext uri="{FF2B5EF4-FFF2-40B4-BE49-F238E27FC236}">
                <a16:creationId xmlns:a16="http://schemas.microsoft.com/office/drawing/2014/main" id="{1CBCDD6C-CA8B-4026-B7C5-D577066C7107}"/>
              </a:ext>
            </a:extLst>
          </p:cNvPr>
          <p:cNvSpPr txBox="1"/>
          <p:nvPr/>
        </p:nvSpPr>
        <p:spPr>
          <a:xfrm>
            <a:off x="146996" y="75659"/>
            <a:ext cx="10760489" cy="754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1219170">
              <a:lnSpc>
                <a:spcPct val="150000"/>
              </a:lnSpc>
              <a:buClr>
                <a:srgbClr val="0070C0"/>
              </a:buClr>
              <a:defRPr/>
            </a:pPr>
            <a:r>
              <a:rPr lang="en-US" sz="3200" dirty="0">
                <a:solidFill>
                  <a:srgbClr val="002060"/>
                </a:solidFill>
              </a:rPr>
              <a:t>Revenue &amp; Expense Forecast from 4</a:t>
            </a:r>
            <a:r>
              <a:rPr lang="en-US" sz="3200" baseline="30000" dirty="0">
                <a:solidFill>
                  <a:srgbClr val="002060"/>
                </a:solidFill>
              </a:rPr>
              <a:t>th</a:t>
            </a:r>
            <a:r>
              <a:rPr lang="en-US" sz="3200" dirty="0">
                <a:solidFill>
                  <a:srgbClr val="002060"/>
                </a:solidFill>
              </a:rPr>
              <a:t> to 5</a:t>
            </a:r>
            <a:r>
              <a:rPr lang="en-US" sz="3200" baseline="30000" dirty="0">
                <a:solidFill>
                  <a:srgbClr val="002060"/>
                </a:solidFill>
              </a:rPr>
              <a:t>th</a:t>
            </a:r>
            <a:r>
              <a:rPr lang="en-US" sz="3200" dirty="0">
                <a:solidFill>
                  <a:srgbClr val="002060"/>
                </a:solidFill>
              </a:rPr>
              <a:t> Year – TherdEye,*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20BB381-DF48-4856-A1CE-AB7986FFBC14}"/>
              </a:ext>
            </a:extLst>
          </p:cNvPr>
          <p:cNvGrpSpPr/>
          <p:nvPr/>
        </p:nvGrpSpPr>
        <p:grpSpPr>
          <a:xfrm>
            <a:off x="689929" y="1179884"/>
            <a:ext cx="4597208" cy="701576"/>
            <a:chOff x="6847561" y="1069587"/>
            <a:chExt cx="4933933" cy="1089891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2FDD5895-5C7D-4D23-9A5A-699CEB537B62}"/>
                </a:ext>
              </a:extLst>
            </p:cNvPr>
            <p:cNvSpPr/>
            <p:nvPr/>
          </p:nvSpPr>
          <p:spPr>
            <a:xfrm>
              <a:off x="6847561" y="1069587"/>
              <a:ext cx="4933933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pPr lvl="0"/>
              <a:r>
                <a:rPr lang="en-US" sz="1600" kern="0" noProof="1"/>
                <a:t>128.4 Million Dollar</a:t>
              </a: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572B342-B40F-427F-AAD4-9B93CF1A0D9A}"/>
                </a:ext>
              </a:extLst>
            </p:cNvPr>
            <p:cNvSpPr/>
            <p:nvPr/>
          </p:nvSpPr>
          <p:spPr>
            <a:xfrm>
              <a:off x="6847562" y="106958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013D4D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07CD2ED-24B4-41FC-A641-E6F2A8613598}"/>
              </a:ext>
            </a:extLst>
          </p:cNvPr>
          <p:cNvGrpSpPr/>
          <p:nvPr/>
        </p:nvGrpSpPr>
        <p:grpSpPr>
          <a:xfrm>
            <a:off x="689929" y="2035737"/>
            <a:ext cx="4597208" cy="701576"/>
            <a:chOff x="6847561" y="1069587"/>
            <a:chExt cx="4933933" cy="1089891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0C4293BF-AA1B-4534-B739-3D5B084A171C}"/>
                </a:ext>
              </a:extLst>
            </p:cNvPr>
            <p:cNvSpPr/>
            <p:nvPr/>
          </p:nvSpPr>
          <p:spPr>
            <a:xfrm>
              <a:off x="6847561" y="1069587"/>
              <a:ext cx="4933933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pPr lvl="0"/>
              <a:r>
                <a:rPr lang="en-GB" sz="1600" dirty="0"/>
                <a:t>300 Employees</a:t>
              </a: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966F73D-9306-4BD9-8F05-3C2D4B601DD5}"/>
                </a:ext>
              </a:extLst>
            </p:cNvPr>
            <p:cNvSpPr/>
            <p:nvPr/>
          </p:nvSpPr>
          <p:spPr>
            <a:xfrm>
              <a:off x="6847562" y="106958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013D4D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D970A0A-A872-407F-BD26-EC2D3A1CBD28}"/>
              </a:ext>
            </a:extLst>
          </p:cNvPr>
          <p:cNvGrpSpPr/>
          <p:nvPr/>
        </p:nvGrpSpPr>
        <p:grpSpPr>
          <a:xfrm>
            <a:off x="689929" y="2891594"/>
            <a:ext cx="4597208" cy="701576"/>
            <a:chOff x="6847561" y="1069587"/>
            <a:chExt cx="4933933" cy="1089891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45EAD87F-A0B0-41B8-A909-B459D7279A20}"/>
                </a:ext>
              </a:extLst>
            </p:cNvPr>
            <p:cNvSpPr/>
            <p:nvPr/>
          </p:nvSpPr>
          <p:spPr>
            <a:xfrm>
              <a:off x="6847561" y="1069587"/>
              <a:ext cx="4933933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pPr lvl="0"/>
              <a:r>
                <a:rPr lang="en-GB" sz="1600" dirty="0"/>
                <a:t>Large Scale adoption of Kpro TherdEye</a:t>
              </a: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EE89272-347A-4C37-8DCC-5871D0C03096}"/>
                </a:ext>
              </a:extLst>
            </p:cNvPr>
            <p:cNvSpPr/>
            <p:nvPr/>
          </p:nvSpPr>
          <p:spPr>
            <a:xfrm>
              <a:off x="6847562" y="106958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013D4D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C8F9094-74A0-439A-B6D3-B9AA5A500956}"/>
              </a:ext>
            </a:extLst>
          </p:cNvPr>
          <p:cNvGrpSpPr/>
          <p:nvPr/>
        </p:nvGrpSpPr>
        <p:grpSpPr>
          <a:xfrm>
            <a:off x="689929" y="3790994"/>
            <a:ext cx="4597208" cy="701576"/>
            <a:chOff x="6847561" y="1069587"/>
            <a:chExt cx="4933933" cy="1089891"/>
          </a:xfrm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9EFB470B-8287-4B01-BAD8-857EAA8D4E2B}"/>
                </a:ext>
              </a:extLst>
            </p:cNvPr>
            <p:cNvSpPr/>
            <p:nvPr/>
          </p:nvSpPr>
          <p:spPr>
            <a:xfrm>
              <a:off x="6847561" y="1069587"/>
              <a:ext cx="4933933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pPr lvl="0"/>
              <a:r>
                <a:rPr lang="en-GB" sz="1600" dirty="0"/>
                <a:t>Increase Active Subscriber to 5 Million by reaching out restaurant chain, retail chain, offices etc.</a:t>
              </a: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45EF2F8-CB7D-4208-8964-9DF81EE7B6F8}"/>
                </a:ext>
              </a:extLst>
            </p:cNvPr>
            <p:cNvSpPr/>
            <p:nvPr/>
          </p:nvSpPr>
          <p:spPr>
            <a:xfrm>
              <a:off x="6847562" y="106958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013D4D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19BBBEA-11D1-4838-AE36-89E665320BB4}"/>
              </a:ext>
            </a:extLst>
          </p:cNvPr>
          <p:cNvGrpSpPr/>
          <p:nvPr/>
        </p:nvGrpSpPr>
        <p:grpSpPr>
          <a:xfrm>
            <a:off x="689929" y="4668619"/>
            <a:ext cx="4597208" cy="701576"/>
            <a:chOff x="6847561" y="1069587"/>
            <a:chExt cx="4933933" cy="1089891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B8CA56AA-1C9D-4AA1-9267-A29E1DE45ABF}"/>
                </a:ext>
              </a:extLst>
            </p:cNvPr>
            <p:cNvSpPr/>
            <p:nvPr/>
          </p:nvSpPr>
          <p:spPr>
            <a:xfrm>
              <a:off x="6847561" y="1069587"/>
              <a:ext cx="4933933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pPr lvl="0"/>
              <a:r>
                <a:rPr lang="en-GB" sz="1600" dirty="0"/>
                <a:t>Increase the adoption of other products in B2B market</a:t>
              </a: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699BC68-1D2A-44FD-A19B-E3994CC317F7}"/>
                </a:ext>
              </a:extLst>
            </p:cNvPr>
            <p:cNvSpPr/>
            <p:nvPr/>
          </p:nvSpPr>
          <p:spPr>
            <a:xfrm>
              <a:off x="6847562" y="106958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013D4D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78" name="Picture 77">
            <a:extLst>
              <a:ext uri="{FF2B5EF4-FFF2-40B4-BE49-F238E27FC236}">
                <a16:creationId xmlns:a16="http://schemas.microsoft.com/office/drawing/2014/main" id="{A5BABA78-DB26-4DC8-B213-4EC7A81BF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31" y="1179884"/>
            <a:ext cx="6192117" cy="403111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85BDC90-80B2-A847-8D59-7287E38941CE}"/>
              </a:ext>
            </a:extLst>
          </p:cNvPr>
          <p:cNvGrpSpPr/>
          <p:nvPr/>
        </p:nvGrpSpPr>
        <p:grpSpPr>
          <a:xfrm>
            <a:off x="689929" y="5477358"/>
            <a:ext cx="4597210" cy="701576"/>
            <a:chOff x="6732574" y="-202667"/>
            <a:chExt cx="4933933" cy="1089891"/>
          </a:xfrm>
        </p:grpSpPr>
        <p:sp>
          <p:nvSpPr>
            <p:cNvPr id="21" name="Rectangle: Rounded Corners 51">
              <a:extLst>
                <a:ext uri="{FF2B5EF4-FFF2-40B4-BE49-F238E27FC236}">
                  <a16:creationId xmlns:a16="http://schemas.microsoft.com/office/drawing/2014/main" id="{A7BAEE1F-F64D-1B44-B869-0092A705B496}"/>
                </a:ext>
              </a:extLst>
            </p:cNvPr>
            <p:cNvSpPr/>
            <p:nvPr/>
          </p:nvSpPr>
          <p:spPr>
            <a:xfrm>
              <a:off x="6732574" y="-202667"/>
              <a:ext cx="4933933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r>
                <a:rPr lang="en-GB" sz="1600" dirty="0"/>
                <a:t>Expense will be 93 Million Dollar</a:t>
              </a:r>
            </a:p>
          </p:txBody>
        </p:sp>
        <p:sp>
          <p:nvSpPr>
            <p:cNvPr id="22" name="Freeform: Shape 52">
              <a:extLst>
                <a:ext uri="{FF2B5EF4-FFF2-40B4-BE49-F238E27FC236}">
                  <a16:creationId xmlns:a16="http://schemas.microsoft.com/office/drawing/2014/main" id="{1F66528F-337D-C54C-A4E2-FCD6819C9052}"/>
                </a:ext>
              </a:extLst>
            </p:cNvPr>
            <p:cNvSpPr/>
            <p:nvPr/>
          </p:nvSpPr>
          <p:spPr>
            <a:xfrm>
              <a:off x="6732575" y="-20266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FFC000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265F8AB-E5B2-5148-B507-D48E24E9D39E}"/>
              </a:ext>
            </a:extLst>
          </p:cNvPr>
          <p:cNvSpPr txBox="1"/>
          <p:nvPr/>
        </p:nvSpPr>
        <p:spPr>
          <a:xfrm>
            <a:off x="5671496" y="5396553"/>
            <a:ext cx="6185152" cy="73866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estimate is only for Indian market, in case of international market, revenue will exponentially increase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profit will be 35.4 Million Dollar, with evaluation 1.5 Billion Dollar  </a:t>
            </a:r>
          </a:p>
        </p:txBody>
      </p:sp>
    </p:spTree>
    <p:extLst>
      <p:ext uri="{BB962C8B-B14F-4D97-AF65-F5344CB8AC3E}">
        <p14:creationId xmlns:p14="http://schemas.microsoft.com/office/powerpoint/2010/main" val="2297876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45ADBA8C-3D84-468F-8D26-840349DF6F5C}"/>
              </a:ext>
            </a:extLst>
          </p:cNvPr>
          <p:cNvGrpSpPr/>
          <p:nvPr/>
        </p:nvGrpSpPr>
        <p:grpSpPr>
          <a:xfrm>
            <a:off x="278811" y="3258666"/>
            <a:ext cx="1708726" cy="1486126"/>
            <a:chOff x="6847562" y="2350973"/>
            <a:chExt cx="1708726" cy="1089891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BDE0DA3F-8440-4500-A05F-8A527E80C4AE}"/>
                </a:ext>
              </a:extLst>
            </p:cNvPr>
            <p:cNvSpPr/>
            <p:nvPr/>
          </p:nvSpPr>
          <p:spPr>
            <a:xfrm>
              <a:off x="6847562" y="2350973"/>
              <a:ext cx="1708726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27432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sz="1600" b="1" kern="0" dirty="0">
                  <a:solidFill>
                    <a:srgbClr val="00A891"/>
                  </a:solidFill>
                </a:rPr>
                <a:t>Product Enhancement</a:t>
              </a: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2260926-8472-4D5E-8CB3-1D0B762B2036}"/>
                </a:ext>
              </a:extLst>
            </p:cNvPr>
            <p:cNvSpPr/>
            <p:nvPr/>
          </p:nvSpPr>
          <p:spPr>
            <a:xfrm>
              <a:off x="6847562" y="2350973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00A891"/>
            </a:solidFill>
            <a:ln w="12700" cap="flat" cmpd="sng" algn="ctr">
              <a:solidFill>
                <a:srgbClr val="00A89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89ADD2C-C0C7-43B1-B918-578F00815A0D}"/>
              </a:ext>
            </a:extLst>
          </p:cNvPr>
          <p:cNvGrpSpPr/>
          <p:nvPr/>
        </p:nvGrpSpPr>
        <p:grpSpPr>
          <a:xfrm>
            <a:off x="278811" y="1345905"/>
            <a:ext cx="1708726" cy="1678985"/>
            <a:chOff x="6847562" y="1069587"/>
            <a:chExt cx="1708726" cy="1089891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E90C4747-4CBF-4A4B-8A79-20542E169025}"/>
                </a:ext>
              </a:extLst>
            </p:cNvPr>
            <p:cNvSpPr/>
            <p:nvPr/>
          </p:nvSpPr>
          <p:spPr>
            <a:xfrm>
              <a:off x="6847562" y="1069587"/>
              <a:ext cx="1708726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pPr lvl="0" algn="ctr"/>
              <a:r>
                <a:rPr lang="en-US" sz="1600" b="1" kern="0" dirty="0">
                  <a:solidFill>
                    <a:srgbClr val="013D4D"/>
                  </a:solidFill>
                </a:rPr>
                <a:t>Human Resource Expansion</a:t>
              </a: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6DDA537-22CF-448F-8658-8101680FE068}"/>
                </a:ext>
              </a:extLst>
            </p:cNvPr>
            <p:cNvSpPr/>
            <p:nvPr/>
          </p:nvSpPr>
          <p:spPr>
            <a:xfrm>
              <a:off x="6847562" y="106958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013D4D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EF26D92-BE2E-43C9-995B-0BCAA44EC6E3}"/>
              </a:ext>
            </a:extLst>
          </p:cNvPr>
          <p:cNvSpPr txBox="1"/>
          <p:nvPr/>
        </p:nvSpPr>
        <p:spPr>
          <a:xfrm>
            <a:off x="2167317" y="1289296"/>
            <a:ext cx="4321573" cy="1754326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marL="342900" lvl="0" indent="-342900"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Add more engineers, data scientists and architects</a:t>
            </a:r>
          </a:p>
          <a:p>
            <a:pPr marL="342900" lvl="0" indent="-342900"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Add sales and marketing resources</a:t>
            </a:r>
          </a:p>
          <a:p>
            <a:pPr marL="342900" lvl="0" indent="-342900"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Add feet on street</a:t>
            </a:r>
          </a:p>
          <a:p>
            <a:pPr marL="342900" lvl="0" indent="-342900"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Add 24/7 customer support</a:t>
            </a:r>
          </a:p>
          <a:p>
            <a:pPr marL="342900" lvl="0" indent="-342900"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Enhance the R&amp;D Team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87D266-646C-48BB-B8B1-9D224B03273B}"/>
              </a:ext>
            </a:extLst>
          </p:cNvPr>
          <p:cNvSpPr txBox="1"/>
          <p:nvPr/>
        </p:nvSpPr>
        <p:spPr>
          <a:xfrm>
            <a:off x="2147547" y="3258666"/>
            <a:ext cx="4030377" cy="1477328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marL="342900" lvl="0" indent="-342900"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Enhance Kpro TherdEye from B2B to B2C</a:t>
            </a:r>
          </a:p>
          <a:p>
            <a:pPr marL="342900" lvl="0" indent="-342900"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Integrate voice analytics capability </a:t>
            </a:r>
          </a:p>
          <a:p>
            <a:pPr marL="342900" lvl="0" indent="-342900"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Enhance mobile Interface</a:t>
            </a:r>
          </a:p>
          <a:p>
            <a:pPr marL="342900" lvl="0" indent="-342900"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Enhance the service architecture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2B864B-660D-489F-9DA3-A5A486F0E60D}"/>
              </a:ext>
            </a:extLst>
          </p:cNvPr>
          <p:cNvSpPr txBox="1"/>
          <p:nvPr/>
        </p:nvSpPr>
        <p:spPr>
          <a:xfrm>
            <a:off x="146997" y="75659"/>
            <a:ext cx="9245600" cy="754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1219170">
              <a:lnSpc>
                <a:spcPct val="150000"/>
              </a:lnSpc>
              <a:buClr>
                <a:srgbClr val="0070C0"/>
              </a:buClr>
              <a:defRPr/>
            </a:pPr>
            <a:r>
              <a:rPr lang="en-US" sz="3200" dirty="0">
                <a:solidFill>
                  <a:srgbClr val="002060"/>
                </a:solidFill>
              </a:rPr>
              <a:t>High Level Plans for 1</a:t>
            </a:r>
            <a:r>
              <a:rPr lang="en-US" sz="3200" baseline="30000" dirty="0">
                <a:solidFill>
                  <a:srgbClr val="002060"/>
                </a:solidFill>
              </a:rPr>
              <a:t>st</a:t>
            </a:r>
            <a:r>
              <a:rPr lang="en-US" sz="3200" dirty="0">
                <a:solidFill>
                  <a:srgbClr val="002060"/>
                </a:solidFill>
              </a:rPr>
              <a:t> to 3</a:t>
            </a:r>
            <a:r>
              <a:rPr lang="en-US" sz="3200" baseline="30000" dirty="0">
                <a:solidFill>
                  <a:srgbClr val="002060"/>
                </a:solidFill>
              </a:rPr>
              <a:t>rd</a:t>
            </a:r>
            <a:r>
              <a:rPr lang="en-US" sz="3200" dirty="0">
                <a:solidFill>
                  <a:srgbClr val="002060"/>
                </a:solidFill>
              </a:rPr>
              <a:t> Year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8E8B375-EF44-7C43-A7DF-324AE6122856}"/>
              </a:ext>
            </a:extLst>
          </p:cNvPr>
          <p:cNvGrpSpPr/>
          <p:nvPr/>
        </p:nvGrpSpPr>
        <p:grpSpPr>
          <a:xfrm>
            <a:off x="6712213" y="1303774"/>
            <a:ext cx="1708726" cy="3441017"/>
            <a:chOff x="6847562" y="1069587"/>
            <a:chExt cx="1708726" cy="1089891"/>
          </a:xfrm>
        </p:grpSpPr>
        <p:sp>
          <p:nvSpPr>
            <p:cNvPr id="60" name="Rectangle: Rounded Corners 31">
              <a:extLst>
                <a:ext uri="{FF2B5EF4-FFF2-40B4-BE49-F238E27FC236}">
                  <a16:creationId xmlns:a16="http://schemas.microsoft.com/office/drawing/2014/main" id="{12DC3AAB-B214-094F-A076-E05A434E5EDE}"/>
                </a:ext>
              </a:extLst>
            </p:cNvPr>
            <p:cNvSpPr/>
            <p:nvPr/>
          </p:nvSpPr>
          <p:spPr>
            <a:xfrm>
              <a:off x="6847562" y="1069587"/>
              <a:ext cx="1708726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lIns="274320" rtlCol="0" anchor="ctr"/>
            <a:lstStyle/>
            <a:p>
              <a:pPr lvl="0" algn="ctr"/>
              <a:r>
                <a:rPr lang="en-US" sz="1600" b="1" kern="0" dirty="0">
                  <a:solidFill>
                    <a:srgbClr val="013D4D"/>
                  </a:solidFill>
                </a:rPr>
                <a:t>Customer Acquisition Plan</a:t>
              </a:r>
            </a:p>
          </p:txBody>
        </p:sp>
        <p:sp>
          <p:nvSpPr>
            <p:cNvPr id="61" name="Freeform: Shape 32">
              <a:extLst>
                <a:ext uri="{FF2B5EF4-FFF2-40B4-BE49-F238E27FC236}">
                  <a16:creationId xmlns:a16="http://schemas.microsoft.com/office/drawing/2014/main" id="{D5E094BC-F98A-7D40-9EC8-D3D424A0E663}"/>
                </a:ext>
              </a:extLst>
            </p:cNvPr>
            <p:cNvSpPr/>
            <p:nvPr/>
          </p:nvSpPr>
          <p:spPr>
            <a:xfrm>
              <a:off x="6847562" y="106958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013D4D"/>
            </a:solidFill>
            <a:ln w="12700" cap="flat" cmpd="sng" algn="ctr">
              <a:solidFill>
                <a:srgbClr val="013D4D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12A9D62F-15F6-9649-9359-A8080F2B162B}"/>
              </a:ext>
            </a:extLst>
          </p:cNvPr>
          <p:cNvSpPr txBox="1"/>
          <p:nvPr/>
        </p:nvSpPr>
        <p:spPr>
          <a:xfrm>
            <a:off x="8644262" y="1303774"/>
            <a:ext cx="3379181" cy="3416320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marL="342900" lvl="0" indent="-342900"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Digital Marketing (Social Media, Google Click.</a:t>
            </a:r>
          </a:p>
          <a:p>
            <a:pPr marL="342900" indent="-342900">
              <a:buFontTx/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Tie up with Camera Vendor Collaboration</a:t>
            </a:r>
          </a:p>
          <a:p>
            <a:pPr marL="342900" indent="-342900">
              <a:buFontTx/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Collaboration with school chains</a:t>
            </a:r>
          </a:p>
          <a:p>
            <a:pPr marL="342900" indent="-342900">
              <a:buFontTx/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Collaboration with open office provider</a:t>
            </a:r>
          </a:p>
          <a:p>
            <a:pPr marL="342900" indent="-342900">
              <a:buFontTx/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Collaboration with play school providers</a:t>
            </a:r>
          </a:p>
          <a:p>
            <a:pPr marL="342900" indent="-342900">
              <a:buFontTx/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Collaboration with transport providers</a:t>
            </a:r>
          </a:p>
          <a:p>
            <a:pPr marL="342900" indent="-342900">
              <a:buFontTx/>
              <a:buAutoNum type="arabicPeriod"/>
            </a:pPr>
            <a:r>
              <a:rPr lang="en-US" kern="0" dirty="0">
                <a:solidFill>
                  <a:prstClr val="black"/>
                </a:solidFill>
              </a:rPr>
              <a:t>Collaboration with retail chains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12BDE52-8A5F-204A-86C1-9763E1B2BE2A}"/>
              </a:ext>
            </a:extLst>
          </p:cNvPr>
          <p:cNvGrpSpPr/>
          <p:nvPr/>
        </p:nvGrpSpPr>
        <p:grpSpPr>
          <a:xfrm>
            <a:off x="2724066" y="5337983"/>
            <a:ext cx="7672263" cy="950633"/>
            <a:chOff x="3832843" y="5236164"/>
            <a:chExt cx="4218118" cy="950633"/>
          </a:xfrm>
        </p:grpSpPr>
        <p:grpSp>
          <p:nvGrpSpPr>
            <p:cNvPr id="87" name="1 Grupo">
              <a:extLst>
                <a:ext uri="{FF2B5EF4-FFF2-40B4-BE49-F238E27FC236}">
                  <a16:creationId xmlns:a16="http://schemas.microsoft.com/office/drawing/2014/main" id="{E01773DF-F123-074F-9F1A-A77618DB010B}"/>
                </a:ext>
              </a:extLst>
            </p:cNvPr>
            <p:cNvGrpSpPr/>
            <p:nvPr/>
          </p:nvGrpSpPr>
          <p:grpSpPr>
            <a:xfrm>
              <a:off x="3832843" y="5639266"/>
              <a:ext cx="4218118" cy="143413"/>
              <a:chOff x="467544" y="2597889"/>
              <a:chExt cx="8208861" cy="81000"/>
            </a:xfrm>
          </p:grpSpPr>
          <p:cxnSp>
            <p:nvCxnSpPr>
              <p:cNvPr id="104" name="18 Conector recto">
                <a:extLst>
                  <a:ext uri="{FF2B5EF4-FFF2-40B4-BE49-F238E27FC236}">
                    <a16:creationId xmlns:a16="http://schemas.microsoft.com/office/drawing/2014/main" id="{E5053593-C97E-9747-A9BD-49E1807C3B38}"/>
                  </a:ext>
                </a:extLst>
              </p:cNvPr>
              <p:cNvCxnSpPr>
                <a:stCxn id="106" idx="6"/>
                <a:endCxn id="105" idx="2"/>
              </p:cNvCxnSpPr>
              <p:nvPr/>
            </p:nvCxnSpPr>
            <p:spPr>
              <a:xfrm>
                <a:off x="548552" y="2638389"/>
                <a:ext cx="8046843" cy="0"/>
              </a:xfrm>
              <a:prstGeom prst="line">
                <a:avLst/>
              </a:prstGeom>
              <a:noFill/>
              <a:ln w="3810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105" name="23 Elipse">
                <a:extLst>
                  <a:ext uri="{FF2B5EF4-FFF2-40B4-BE49-F238E27FC236}">
                    <a16:creationId xmlns:a16="http://schemas.microsoft.com/office/drawing/2014/main" id="{B3CDCCA6-BF81-E040-91CE-64F90D45EF0A}"/>
                  </a:ext>
                </a:extLst>
              </p:cNvPr>
              <p:cNvSpPr/>
              <p:nvPr/>
            </p:nvSpPr>
            <p:spPr>
              <a:xfrm>
                <a:off x="8595394" y="2597889"/>
                <a:ext cx="81011" cy="81000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lIns="68572" tIns="34286" rIns="68572" bIns="34286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106" name="24 Elipse">
                <a:extLst>
                  <a:ext uri="{FF2B5EF4-FFF2-40B4-BE49-F238E27FC236}">
                    <a16:creationId xmlns:a16="http://schemas.microsoft.com/office/drawing/2014/main" id="{324F1244-0FCC-E440-A675-DDC51CF9B122}"/>
                  </a:ext>
                </a:extLst>
              </p:cNvPr>
              <p:cNvSpPr/>
              <p:nvPr/>
            </p:nvSpPr>
            <p:spPr>
              <a:xfrm>
                <a:off x="467544" y="2597889"/>
                <a:ext cx="81011" cy="81000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lIns="68572" tIns="34286" rIns="68572" bIns="34286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rebuchet MS" panose="020B0603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88" name="2 Grupo">
              <a:extLst>
                <a:ext uri="{FF2B5EF4-FFF2-40B4-BE49-F238E27FC236}">
                  <a16:creationId xmlns:a16="http://schemas.microsoft.com/office/drawing/2014/main" id="{9775431F-FEEB-0646-8F68-CDAB62EB9AF8}"/>
                </a:ext>
              </a:extLst>
            </p:cNvPr>
            <p:cNvGrpSpPr/>
            <p:nvPr/>
          </p:nvGrpSpPr>
          <p:grpSpPr>
            <a:xfrm>
              <a:off x="4656636" y="5236164"/>
              <a:ext cx="114818" cy="509750"/>
              <a:chOff x="1436278" y="1787812"/>
              <a:chExt cx="135019" cy="918087"/>
            </a:xfrm>
          </p:grpSpPr>
          <p:sp>
            <p:nvSpPr>
              <p:cNvPr id="101" name="25 Elipse">
                <a:extLst>
                  <a:ext uri="{FF2B5EF4-FFF2-40B4-BE49-F238E27FC236}">
                    <a16:creationId xmlns:a16="http://schemas.microsoft.com/office/drawing/2014/main" id="{E09147A3-91DF-0A46-9B6D-1C0C13655761}"/>
                  </a:ext>
                </a:extLst>
              </p:cNvPr>
              <p:cNvSpPr/>
              <p:nvPr/>
            </p:nvSpPr>
            <p:spPr>
              <a:xfrm>
                <a:off x="1436278" y="2570899"/>
                <a:ext cx="135019" cy="135000"/>
              </a:xfrm>
              <a:prstGeom prst="ellipse">
                <a:avLst/>
              </a:prstGeom>
              <a:solidFill>
                <a:srgbClr val="5B9BD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68572" tIns="34286" rIns="68572" bIns="34286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  <p:cxnSp>
            <p:nvCxnSpPr>
              <p:cNvPr id="102" name="40 Conector recto">
                <a:extLst>
                  <a:ext uri="{FF2B5EF4-FFF2-40B4-BE49-F238E27FC236}">
                    <a16:creationId xmlns:a16="http://schemas.microsoft.com/office/drawing/2014/main" id="{33DF9477-D8B6-4341-A12D-55BA7105FD7F}"/>
                  </a:ext>
                </a:extLst>
              </p:cNvPr>
              <p:cNvCxnSpPr/>
              <p:nvPr/>
            </p:nvCxnSpPr>
            <p:spPr>
              <a:xfrm flipV="1">
                <a:off x="1503186" y="1857792"/>
                <a:ext cx="5547" cy="713104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103" name="41 Elipse">
                <a:extLst>
                  <a:ext uri="{FF2B5EF4-FFF2-40B4-BE49-F238E27FC236}">
                    <a16:creationId xmlns:a16="http://schemas.microsoft.com/office/drawing/2014/main" id="{42D8E125-5145-3148-820E-1A9CA7EE268F}"/>
                  </a:ext>
                </a:extLst>
              </p:cNvPr>
              <p:cNvSpPr/>
              <p:nvPr/>
            </p:nvSpPr>
            <p:spPr>
              <a:xfrm>
                <a:off x="1467943" y="1787812"/>
                <a:ext cx="81011" cy="81000"/>
              </a:xfrm>
              <a:prstGeom prst="ellipse">
                <a:avLst/>
              </a:prstGeom>
              <a:solidFill>
                <a:sysClr val="window" lastClr="FFFFFF"/>
              </a:solidFill>
              <a:ln w="57150" cap="flat" cmpd="sng" algn="ctr">
                <a:solidFill>
                  <a:srgbClr val="5B9BD5"/>
                </a:solidFill>
                <a:prstDash val="solid"/>
                <a:miter lim="800000"/>
              </a:ln>
              <a:effectLst/>
            </p:spPr>
            <p:txBody>
              <a:bodyPr lIns="68572" tIns="34286" rIns="68572" bIns="34286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89" name="4 Grupo">
              <a:extLst>
                <a:ext uri="{FF2B5EF4-FFF2-40B4-BE49-F238E27FC236}">
                  <a16:creationId xmlns:a16="http://schemas.microsoft.com/office/drawing/2014/main" id="{FE3D6DC1-6512-3E44-B1A2-D40E8728535C}"/>
                </a:ext>
              </a:extLst>
            </p:cNvPr>
            <p:cNvGrpSpPr/>
            <p:nvPr/>
          </p:nvGrpSpPr>
          <p:grpSpPr>
            <a:xfrm>
              <a:off x="5526359" y="5670935"/>
              <a:ext cx="114818" cy="515862"/>
              <a:chOff x="2459025" y="2570898"/>
              <a:chExt cx="135019" cy="929095"/>
            </a:xfrm>
          </p:grpSpPr>
          <p:sp>
            <p:nvSpPr>
              <p:cNvPr id="98" name="26 Elipse">
                <a:extLst>
                  <a:ext uri="{FF2B5EF4-FFF2-40B4-BE49-F238E27FC236}">
                    <a16:creationId xmlns:a16="http://schemas.microsoft.com/office/drawing/2014/main" id="{C22FC14E-C8E2-AF42-A962-FE6002059F56}"/>
                  </a:ext>
                </a:extLst>
              </p:cNvPr>
              <p:cNvSpPr/>
              <p:nvPr/>
            </p:nvSpPr>
            <p:spPr>
              <a:xfrm>
                <a:off x="2459025" y="2570898"/>
                <a:ext cx="135019" cy="135000"/>
              </a:xfrm>
              <a:prstGeom prst="ellipse">
                <a:avLst/>
              </a:prstGeom>
              <a:solidFill>
                <a:srgbClr val="ED7D3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68572" tIns="34286" rIns="68572" bIns="34286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  <p:cxnSp>
            <p:nvCxnSpPr>
              <p:cNvPr id="99" name="42 Conector recto">
                <a:extLst>
                  <a:ext uri="{FF2B5EF4-FFF2-40B4-BE49-F238E27FC236}">
                    <a16:creationId xmlns:a16="http://schemas.microsoft.com/office/drawing/2014/main" id="{4B954FAD-2D55-454C-9AC4-17059275B327}"/>
                  </a:ext>
                </a:extLst>
              </p:cNvPr>
              <p:cNvCxnSpPr/>
              <p:nvPr/>
            </p:nvCxnSpPr>
            <p:spPr>
              <a:xfrm flipV="1">
                <a:off x="2518306" y="2705899"/>
                <a:ext cx="5547" cy="713105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100" name="48 Elipse">
                <a:extLst>
                  <a:ext uri="{FF2B5EF4-FFF2-40B4-BE49-F238E27FC236}">
                    <a16:creationId xmlns:a16="http://schemas.microsoft.com/office/drawing/2014/main" id="{9418F6A3-A1AC-214E-8AF9-FDD430E1A0D7}"/>
                  </a:ext>
                </a:extLst>
              </p:cNvPr>
              <p:cNvSpPr/>
              <p:nvPr/>
            </p:nvSpPr>
            <p:spPr>
              <a:xfrm>
                <a:off x="2478571" y="3418993"/>
                <a:ext cx="81011" cy="81000"/>
              </a:xfrm>
              <a:prstGeom prst="ellipse">
                <a:avLst/>
              </a:prstGeom>
              <a:solidFill>
                <a:sysClr val="window" lastClr="FFFFFF"/>
              </a:solidFill>
              <a:ln w="57150" cap="flat" cmpd="sng" algn="ctr">
                <a:solidFill>
                  <a:srgbClr val="ED7D31"/>
                </a:solidFill>
                <a:prstDash val="solid"/>
                <a:miter lim="800000"/>
              </a:ln>
              <a:effectLst/>
            </p:spPr>
            <p:txBody>
              <a:bodyPr lIns="68572" tIns="34286" rIns="68572" bIns="34286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90" name="6 Grupo">
              <a:extLst>
                <a:ext uri="{FF2B5EF4-FFF2-40B4-BE49-F238E27FC236}">
                  <a16:creationId xmlns:a16="http://schemas.microsoft.com/office/drawing/2014/main" id="{15EA2B7E-9657-654D-B31B-0A5E801DBB67}"/>
                </a:ext>
              </a:extLst>
            </p:cNvPr>
            <p:cNvGrpSpPr/>
            <p:nvPr/>
          </p:nvGrpSpPr>
          <p:grpSpPr>
            <a:xfrm>
              <a:off x="6396082" y="5236164"/>
              <a:ext cx="114818" cy="509750"/>
              <a:chOff x="3481768" y="1787812"/>
              <a:chExt cx="135019" cy="918087"/>
            </a:xfrm>
          </p:grpSpPr>
          <p:sp>
            <p:nvSpPr>
              <p:cNvPr id="95" name="27 Elipse">
                <a:extLst>
                  <a:ext uri="{FF2B5EF4-FFF2-40B4-BE49-F238E27FC236}">
                    <a16:creationId xmlns:a16="http://schemas.microsoft.com/office/drawing/2014/main" id="{4283CC21-C999-924C-A839-DC14A699844E}"/>
                  </a:ext>
                </a:extLst>
              </p:cNvPr>
              <p:cNvSpPr/>
              <p:nvPr/>
            </p:nvSpPr>
            <p:spPr>
              <a:xfrm>
                <a:off x="3481768" y="2570899"/>
                <a:ext cx="135019" cy="135000"/>
              </a:xfrm>
              <a:prstGeom prst="ellipse">
                <a:avLst/>
              </a:prstGeom>
              <a:solidFill>
                <a:srgbClr val="A5A5A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68572" tIns="34286" rIns="68572" bIns="34286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  <p:cxnSp>
            <p:nvCxnSpPr>
              <p:cNvPr id="96" name="43 Conector recto">
                <a:extLst>
                  <a:ext uri="{FF2B5EF4-FFF2-40B4-BE49-F238E27FC236}">
                    <a16:creationId xmlns:a16="http://schemas.microsoft.com/office/drawing/2014/main" id="{97279E9F-04F1-7B44-A872-29FE5A7585E9}"/>
                  </a:ext>
                </a:extLst>
              </p:cNvPr>
              <p:cNvCxnSpPr/>
              <p:nvPr/>
            </p:nvCxnSpPr>
            <p:spPr>
              <a:xfrm flipV="1">
                <a:off x="3550652" y="1859059"/>
                <a:ext cx="5547" cy="713105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97" name="49 Elipse">
                <a:extLst>
                  <a:ext uri="{FF2B5EF4-FFF2-40B4-BE49-F238E27FC236}">
                    <a16:creationId xmlns:a16="http://schemas.microsoft.com/office/drawing/2014/main" id="{291D8836-E164-BF4F-97CC-024B75825A5E}"/>
                  </a:ext>
                </a:extLst>
              </p:cNvPr>
              <p:cNvSpPr/>
              <p:nvPr/>
            </p:nvSpPr>
            <p:spPr>
              <a:xfrm>
                <a:off x="3516475" y="1787812"/>
                <a:ext cx="81011" cy="81000"/>
              </a:xfrm>
              <a:prstGeom prst="ellipse">
                <a:avLst/>
              </a:prstGeom>
              <a:solidFill>
                <a:sysClr val="window" lastClr="FFFFFF"/>
              </a:solidFill>
              <a:ln w="57150" cap="flat" cmpd="sng" algn="ctr">
                <a:solidFill>
                  <a:srgbClr val="A5A5A5"/>
                </a:solidFill>
                <a:prstDash val="solid"/>
                <a:miter lim="800000"/>
              </a:ln>
              <a:effectLst/>
            </p:spPr>
            <p:txBody>
              <a:bodyPr lIns="68572" tIns="34286" rIns="68572" bIns="34286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91" name="7 Grupo">
              <a:extLst>
                <a:ext uri="{FF2B5EF4-FFF2-40B4-BE49-F238E27FC236}">
                  <a16:creationId xmlns:a16="http://schemas.microsoft.com/office/drawing/2014/main" id="{8C206107-799B-FE40-A681-ECFA9B99D3DC}"/>
                </a:ext>
              </a:extLst>
            </p:cNvPr>
            <p:cNvGrpSpPr/>
            <p:nvPr/>
          </p:nvGrpSpPr>
          <p:grpSpPr>
            <a:xfrm>
              <a:off x="7265806" y="5670935"/>
              <a:ext cx="114818" cy="515862"/>
              <a:chOff x="4504512" y="2570897"/>
              <a:chExt cx="135019" cy="929096"/>
            </a:xfrm>
          </p:grpSpPr>
          <p:sp>
            <p:nvSpPr>
              <p:cNvPr id="92" name="36 Elipse">
                <a:extLst>
                  <a:ext uri="{FF2B5EF4-FFF2-40B4-BE49-F238E27FC236}">
                    <a16:creationId xmlns:a16="http://schemas.microsoft.com/office/drawing/2014/main" id="{6D085E3B-3EBD-1545-8167-B86C408E7425}"/>
                  </a:ext>
                </a:extLst>
              </p:cNvPr>
              <p:cNvSpPr/>
              <p:nvPr/>
            </p:nvSpPr>
            <p:spPr>
              <a:xfrm>
                <a:off x="4504512" y="2570897"/>
                <a:ext cx="135019" cy="135000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68572" tIns="34286" rIns="68572" bIns="34286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  <p:cxnSp>
            <p:nvCxnSpPr>
              <p:cNvPr id="93" name="44 Conector recto">
                <a:extLst>
                  <a:ext uri="{FF2B5EF4-FFF2-40B4-BE49-F238E27FC236}">
                    <a16:creationId xmlns:a16="http://schemas.microsoft.com/office/drawing/2014/main" id="{59E22A48-BE5B-B546-9107-2585BA0108A3}"/>
                  </a:ext>
                </a:extLst>
              </p:cNvPr>
              <p:cNvCxnSpPr/>
              <p:nvPr/>
            </p:nvCxnSpPr>
            <p:spPr>
              <a:xfrm flipV="1">
                <a:off x="4571662" y="2699129"/>
                <a:ext cx="5547" cy="713105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94" name="50 Elipse">
                <a:extLst>
                  <a:ext uri="{FF2B5EF4-FFF2-40B4-BE49-F238E27FC236}">
                    <a16:creationId xmlns:a16="http://schemas.microsoft.com/office/drawing/2014/main" id="{443A497E-2CE6-9141-AC67-959AC826CB18}"/>
                  </a:ext>
                </a:extLst>
              </p:cNvPr>
              <p:cNvSpPr/>
              <p:nvPr/>
            </p:nvSpPr>
            <p:spPr>
              <a:xfrm>
                <a:off x="4533907" y="3418993"/>
                <a:ext cx="81011" cy="81000"/>
              </a:xfrm>
              <a:prstGeom prst="ellipse">
                <a:avLst/>
              </a:prstGeom>
              <a:solidFill>
                <a:sysClr val="window" lastClr="FFFFFF"/>
              </a:solidFill>
              <a:ln w="5715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lIns="68572" tIns="34286" rIns="68572" bIns="34286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elvetica" panose="020B0604020202020204" pitchFamily="34" charset="0"/>
                  <a:ea typeface="Segoe UI" panose="020B0502040204020203" pitchFamily="34" charset="0"/>
                  <a:cs typeface="Helvetica" panose="020B0604020202020204" pitchFamily="34" charset="0"/>
                </a:endParaRPr>
              </a:p>
            </p:txBody>
          </p:sp>
        </p:grp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AF2DE6E-5E43-CA45-A5F7-E1B4A1015459}"/>
              </a:ext>
            </a:extLst>
          </p:cNvPr>
          <p:cNvSpPr/>
          <p:nvPr/>
        </p:nvSpPr>
        <p:spPr>
          <a:xfrm>
            <a:off x="2049306" y="5981849"/>
            <a:ext cx="15340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kern="0" dirty="0"/>
              <a:t>2014-2020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AD23F0C-0BE4-B140-9540-1D0B804F70DC}"/>
              </a:ext>
            </a:extLst>
          </p:cNvPr>
          <p:cNvSpPr/>
          <p:nvPr/>
        </p:nvSpPr>
        <p:spPr>
          <a:xfrm>
            <a:off x="3896609" y="4923836"/>
            <a:ext cx="8162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kern="0" dirty="0"/>
              <a:t>UK, US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DE72BB6-7E59-BC48-9AB8-6DB4743D140E}"/>
              </a:ext>
            </a:extLst>
          </p:cNvPr>
          <p:cNvSpPr/>
          <p:nvPr/>
        </p:nvSpPr>
        <p:spPr>
          <a:xfrm>
            <a:off x="4060115" y="5800280"/>
            <a:ext cx="652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kern="0" dirty="0"/>
              <a:t>2021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3558945-43F5-6842-B60E-1072EF1CF490}"/>
              </a:ext>
            </a:extLst>
          </p:cNvPr>
          <p:cNvSpPr/>
          <p:nvPr/>
        </p:nvSpPr>
        <p:spPr>
          <a:xfrm>
            <a:off x="5007619" y="6313572"/>
            <a:ext cx="17732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kern="0" dirty="0"/>
              <a:t>Japan, Singapore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E7F2534-7DF5-5147-A7C2-9879583F4F19}"/>
              </a:ext>
            </a:extLst>
          </p:cNvPr>
          <p:cNvSpPr/>
          <p:nvPr/>
        </p:nvSpPr>
        <p:spPr>
          <a:xfrm>
            <a:off x="5568662" y="5398493"/>
            <a:ext cx="652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kern="0" dirty="0"/>
              <a:t>2022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B79DD72-F401-1C45-8F0B-10E6860123AC}"/>
              </a:ext>
            </a:extLst>
          </p:cNvPr>
          <p:cNvSpPr/>
          <p:nvPr/>
        </p:nvSpPr>
        <p:spPr>
          <a:xfrm>
            <a:off x="6510067" y="4958407"/>
            <a:ext cx="21403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kern="0" dirty="0"/>
              <a:t>Canada, South Africa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57FC0B6-7EF0-9045-91B3-688020AFC8CD}"/>
              </a:ext>
            </a:extLst>
          </p:cNvPr>
          <p:cNvSpPr/>
          <p:nvPr/>
        </p:nvSpPr>
        <p:spPr>
          <a:xfrm>
            <a:off x="8660642" y="5362741"/>
            <a:ext cx="8054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kern="0" dirty="0"/>
              <a:t>2024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05AE3C6-A8E7-4F4E-8479-89432C979953}"/>
              </a:ext>
            </a:extLst>
          </p:cNvPr>
          <p:cNvGrpSpPr/>
          <p:nvPr/>
        </p:nvGrpSpPr>
        <p:grpSpPr>
          <a:xfrm>
            <a:off x="302061" y="5196139"/>
            <a:ext cx="1708726" cy="1089891"/>
            <a:chOff x="6847562" y="4913745"/>
            <a:chExt cx="1708726" cy="1089891"/>
          </a:xfrm>
        </p:grpSpPr>
        <p:sp>
          <p:nvSpPr>
            <p:cNvPr id="116" name="Rectangle: Rounded Corners 22">
              <a:extLst>
                <a:ext uri="{FF2B5EF4-FFF2-40B4-BE49-F238E27FC236}">
                  <a16:creationId xmlns:a16="http://schemas.microsoft.com/office/drawing/2014/main" id="{53F4D5FD-07D0-894F-B08E-79D72F0E7963}"/>
                </a:ext>
              </a:extLst>
            </p:cNvPr>
            <p:cNvSpPr/>
            <p:nvPr/>
          </p:nvSpPr>
          <p:spPr>
            <a:xfrm>
              <a:off x="6847562" y="4913745"/>
              <a:ext cx="1708726" cy="1089891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27432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sz="1600" b="1" kern="0" dirty="0">
                  <a:solidFill>
                    <a:srgbClr val="FE7600"/>
                  </a:solidFill>
                </a:rPr>
                <a:t>Geo</a:t>
              </a:r>
            </a:p>
            <a:p>
              <a:pPr lvl="0" algn="ctr"/>
              <a:r>
                <a:rPr lang="en-US" sz="1600" b="1" kern="0" dirty="0">
                  <a:solidFill>
                    <a:srgbClr val="FE7600"/>
                  </a:solidFill>
                </a:rPr>
                <a:t> Footprint</a:t>
              </a:r>
            </a:p>
          </p:txBody>
        </p:sp>
        <p:sp>
          <p:nvSpPr>
            <p:cNvPr id="117" name="Freeform: Shape 23">
              <a:extLst>
                <a:ext uri="{FF2B5EF4-FFF2-40B4-BE49-F238E27FC236}">
                  <a16:creationId xmlns:a16="http://schemas.microsoft.com/office/drawing/2014/main" id="{14112F58-36D0-744F-B32C-533A735881B4}"/>
                </a:ext>
              </a:extLst>
            </p:cNvPr>
            <p:cNvSpPr/>
            <p:nvPr/>
          </p:nvSpPr>
          <p:spPr>
            <a:xfrm>
              <a:off x="6847562" y="4913745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rgbClr val="FE7600"/>
            </a:solidFill>
            <a:ln w="12700" cap="flat" cmpd="sng" algn="ctr">
              <a:solidFill>
                <a:srgbClr val="FE76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BDC23E5-62A8-6740-A058-E28C9ABFC644}"/>
              </a:ext>
            </a:extLst>
          </p:cNvPr>
          <p:cNvSpPr/>
          <p:nvPr/>
        </p:nvSpPr>
        <p:spPr>
          <a:xfrm>
            <a:off x="7181285" y="5902581"/>
            <a:ext cx="652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kern="0" dirty="0"/>
              <a:t>2023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ABE3DAB-0A25-8041-8427-0CC5007FBC5C}"/>
              </a:ext>
            </a:extLst>
          </p:cNvPr>
          <p:cNvSpPr/>
          <p:nvPr/>
        </p:nvSpPr>
        <p:spPr>
          <a:xfrm>
            <a:off x="8106900" y="6308251"/>
            <a:ext cx="21403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kern="0" dirty="0"/>
              <a:t>UAE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D259F92-E1DF-984F-98A9-CC4BCBDF64F1}"/>
              </a:ext>
            </a:extLst>
          </p:cNvPr>
          <p:cNvSpPr/>
          <p:nvPr/>
        </p:nvSpPr>
        <p:spPr>
          <a:xfrm>
            <a:off x="2387037" y="5287333"/>
            <a:ext cx="8162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kern="0" dirty="0"/>
              <a:t>India</a:t>
            </a:r>
          </a:p>
        </p:txBody>
      </p:sp>
    </p:spTree>
    <p:extLst>
      <p:ext uri="{BB962C8B-B14F-4D97-AF65-F5344CB8AC3E}">
        <p14:creationId xmlns:p14="http://schemas.microsoft.com/office/powerpoint/2010/main" val="1576995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3A4AD87F-933A-4A29-B6E1-2C65056C505E}"/>
              </a:ext>
            </a:extLst>
          </p:cNvPr>
          <p:cNvSpPr txBox="1"/>
          <p:nvPr/>
        </p:nvSpPr>
        <p:spPr>
          <a:xfrm>
            <a:off x="146997" y="75659"/>
            <a:ext cx="9245600" cy="754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l" defTabSz="121917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Summary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71F251-A555-FE4C-A719-B59A4D979036}"/>
              </a:ext>
            </a:extLst>
          </p:cNvPr>
          <p:cNvGrpSpPr/>
          <p:nvPr/>
        </p:nvGrpSpPr>
        <p:grpSpPr>
          <a:xfrm>
            <a:off x="810290" y="957876"/>
            <a:ext cx="11300431" cy="2342385"/>
            <a:chOff x="1089682" y="734293"/>
            <a:chExt cx="7892186" cy="305487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E87922D-F766-8740-9865-627BE05C7A6C}"/>
                </a:ext>
              </a:extLst>
            </p:cNvPr>
            <p:cNvSpPr txBox="1"/>
            <p:nvPr/>
          </p:nvSpPr>
          <p:spPr>
            <a:xfrm>
              <a:off x="1477252" y="734293"/>
              <a:ext cx="7504616" cy="10837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Kpro is debt free company with operating profit, It has been growing with an average 100% YOY. Last year we have reported 450K USD of revenue.</a:t>
              </a:r>
            </a:p>
          </p:txBody>
        </p:sp>
        <p:sp>
          <p:nvSpPr>
            <p:cNvPr id="29" name="矩形 35">
              <a:extLst>
                <a:ext uri="{FF2B5EF4-FFF2-40B4-BE49-F238E27FC236}">
                  <a16:creationId xmlns:a16="http://schemas.microsoft.com/office/drawing/2014/main" id="{551B2285-C2BE-AC47-8942-AD2CB21F5B7F}"/>
                </a:ext>
              </a:extLst>
            </p:cNvPr>
            <p:cNvSpPr/>
            <p:nvPr/>
          </p:nvSpPr>
          <p:spPr>
            <a:xfrm>
              <a:off x="1091682" y="969792"/>
              <a:ext cx="180000" cy="180001"/>
            </a:xfrm>
            <a:prstGeom prst="rect">
              <a:avLst/>
            </a:prstGeom>
            <a:solidFill>
              <a:srgbClr val="2C99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594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" name="矩形 35">
              <a:extLst>
                <a:ext uri="{FF2B5EF4-FFF2-40B4-BE49-F238E27FC236}">
                  <a16:creationId xmlns:a16="http://schemas.microsoft.com/office/drawing/2014/main" id="{5844AF5E-949D-9A47-B464-224DAE0AF9FA}"/>
                </a:ext>
              </a:extLst>
            </p:cNvPr>
            <p:cNvSpPr/>
            <p:nvPr/>
          </p:nvSpPr>
          <p:spPr>
            <a:xfrm>
              <a:off x="1091681" y="1879018"/>
              <a:ext cx="180000" cy="17999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594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矩形 35">
              <a:extLst>
                <a:ext uri="{FF2B5EF4-FFF2-40B4-BE49-F238E27FC236}">
                  <a16:creationId xmlns:a16="http://schemas.microsoft.com/office/drawing/2014/main" id="{5C722AEB-FED7-9743-B21F-BCCDBC08457C}"/>
                </a:ext>
              </a:extLst>
            </p:cNvPr>
            <p:cNvSpPr/>
            <p:nvPr/>
          </p:nvSpPr>
          <p:spPr>
            <a:xfrm>
              <a:off x="1089682" y="2518834"/>
              <a:ext cx="180000" cy="17999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594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矩形 35">
              <a:extLst>
                <a:ext uri="{FF2B5EF4-FFF2-40B4-BE49-F238E27FC236}">
                  <a16:creationId xmlns:a16="http://schemas.microsoft.com/office/drawing/2014/main" id="{8AF2ECE0-4897-F147-92E3-447A382457DE}"/>
                </a:ext>
              </a:extLst>
            </p:cNvPr>
            <p:cNvSpPr/>
            <p:nvPr/>
          </p:nvSpPr>
          <p:spPr>
            <a:xfrm>
              <a:off x="1089682" y="3609165"/>
              <a:ext cx="180000" cy="179999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594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267E37A6-58CE-EC4B-BB82-03A97507E269}"/>
              </a:ext>
            </a:extLst>
          </p:cNvPr>
          <p:cNvSpPr txBox="1"/>
          <p:nvPr/>
        </p:nvSpPr>
        <p:spPr>
          <a:xfrm>
            <a:off x="1365232" y="1680035"/>
            <a:ext cx="10481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It will reach revenue of more than 1 Million USD By end of financial year end 2019 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74408F-14A0-974B-8E3E-BD134507C071}"/>
              </a:ext>
            </a:extLst>
          </p:cNvPr>
          <p:cNvSpPr txBox="1"/>
          <p:nvPr/>
        </p:nvSpPr>
        <p:spPr>
          <a:xfrm>
            <a:off x="1365232" y="2159738"/>
            <a:ext cx="10826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valuation of company will be more than 10 Million USD By financial year end 2019.</a:t>
            </a:r>
          </a:p>
          <a:p>
            <a:endParaRPr lang="en-US" sz="2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D5E624-C2B4-C142-BA67-90BBA32C1AB5}"/>
              </a:ext>
            </a:extLst>
          </p:cNvPr>
          <p:cNvSpPr txBox="1"/>
          <p:nvPr/>
        </p:nvSpPr>
        <p:spPr>
          <a:xfrm>
            <a:off x="1362369" y="2987233"/>
            <a:ext cx="10318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Product TherdEye will have deployment in one of the largest private bank in India.</a:t>
            </a:r>
          </a:p>
        </p:txBody>
      </p:sp>
      <p:sp>
        <p:nvSpPr>
          <p:cNvPr id="55" name="矩形 35">
            <a:extLst>
              <a:ext uri="{FF2B5EF4-FFF2-40B4-BE49-F238E27FC236}">
                <a16:creationId xmlns:a16="http://schemas.microsoft.com/office/drawing/2014/main" id="{B3EEA807-9A38-8742-B6FC-201BADFF3A9E}"/>
              </a:ext>
            </a:extLst>
          </p:cNvPr>
          <p:cNvSpPr/>
          <p:nvPr/>
        </p:nvSpPr>
        <p:spPr>
          <a:xfrm>
            <a:off x="813152" y="3751243"/>
            <a:ext cx="257733" cy="12638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59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0B2158-8B86-7E41-A7A2-6AAD9EDED7F8}"/>
              </a:ext>
            </a:extLst>
          </p:cNvPr>
          <p:cNvSpPr txBox="1"/>
          <p:nvPr/>
        </p:nvSpPr>
        <p:spPr>
          <a:xfrm>
            <a:off x="1362369" y="3564285"/>
            <a:ext cx="10146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are looking to convert the </a:t>
            </a:r>
            <a:r>
              <a:rPr lang="en-US" sz="2400" dirty="0" err="1"/>
              <a:t>TherdEye</a:t>
            </a:r>
            <a:r>
              <a:rPr lang="en-US" sz="2400" dirty="0"/>
              <a:t> product from B2B to B2C model, which requires the investment of 4.5 Million USD. </a:t>
            </a:r>
          </a:p>
        </p:txBody>
      </p:sp>
      <p:sp>
        <p:nvSpPr>
          <p:cNvPr id="14" name="矩形 35">
            <a:extLst>
              <a:ext uri="{FF2B5EF4-FFF2-40B4-BE49-F238E27FC236}">
                <a16:creationId xmlns:a16="http://schemas.microsoft.com/office/drawing/2014/main" id="{5C2A6A2A-9B93-4846-9193-E4BB26E0F60B}"/>
              </a:ext>
            </a:extLst>
          </p:cNvPr>
          <p:cNvSpPr/>
          <p:nvPr/>
        </p:nvSpPr>
        <p:spPr>
          <a:xfrm>
            <a:off x="810290" y="4601315"/>
            <a:ext cx="257733" cy="12638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59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80FF4F-2C61-4FF0-B7AA-BF07A256DE0F}"/>
              </a:ext>
            </a:extLst>
          </p:cNvPr>
          <p:cNvSpPr txBox="1"/>
          <p:nvPr/>
        </p:nvSpPr>
        <p:spPr>
          <a:xfrm>
            <a:off x="1362369" y="4400991"/>
            <a:ext cx="104841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Kpro will be making investment of 1.5 Million USD to enhance the </a:t>
            </a:r>
            <a:r>
              <a:rPr lang="en-US" sz="2400" dirty="0" err="1"/>
              <a:t>TherdEye</a:t>
            </a:r>
            <a:r>
              <a:rPr lang="en-US" sz="2400" dirty="0"/>
              <a:t> capability in year 2020. However </a:t>
            </a:r>
            <a:r>
              <a:rPr lang="en-US" sz="2400" b="1" dirty="0"/>
              <a:t>we will be running sort of 3 Million USD to make it fully equipped solution with great customer experience, which we are looking to raise for 30% stake</a:t>
            </a:r>
            <a:r>
              <a:rPr lang="en-US" sz="2400" dirty="0"/>
              <a:t>.</a:t>
            </a:r>
          </a:p>
        </p:txBody>
      </p:sp>
      <p:sp>
        <p:nvSpPr>
          <p:cNvPr id="16" name="矩形 35">
            <a:extLst>
              <a:ext uri="{FF2B5EF4-FFF2-40B4-BE49-F238E27FC236}">
                <a16:creationId xmlns:a16="http://schemas.microsoft.com/office/drawing/2014/main" id="{26414021-A4D2-4756-A42C-41503EEDDAD5}"/>
              </a:ext>
            </a:extLst>
          </p:cNvPr>
          <p:cNvSpPr/>
          <p:nvPr/>
        </p:nvSpPr>
        <p:spPr>
          <a:xfrm>
            <a:off x="810290" y="6062371"/>
            <a:ext cx="257733" cy="12638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594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8F7B4E-4AEF-4C1A-8DF0-28F6E661635C}"/>
              </a:ext>
            </a:extLst>
          </p:cNvPr>
          <p:cNvSpPr txBox="1"/>
          <p:nvPr/>
        </p:nvSpPr>
        <p:spPr>
          <a:xfrm>
            <a:off x="1362369" y="5902687"/>
            <a:ext cx="10484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Kpro will continue to generate revenue from its service and consulting portfolio.</a:t>
            </a:r>
          </a:p>
        </p:txBody>
      </p:sp>
    </p:spTree>
    <p:extLst>
      <p:ext uri="{BB962C8B-B14F-4D97-AF65-F5344CB8AC3E}">
        <p14:creationId xmlns:p14="http://schemas.microsoft.com/office/powerpoint/2010/main" val="2055444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3BA1A53-271A-4762-8A8D-7581C2312812}"/>
              </a:ext>
            </a:extLst>
          </p:cNvPr>
          <p:cNvGrpSpPr/>
          <p:nvPr/>
        </p:nvGrpSpPr>
        <p:grpSpPr>
          <a:xfrm>
            <a:off x="6533896" y="5207338"/>
            <a:ext cx="1708726" cy="1089891"/>
            <a:chOff x="6847562" y="4913745"/>
            <a:chExt cx="1708726" cy="108989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7A9F28D-8BCC-47B4-AFE5-A3946AA43088}"/>
                </a:ext>
              </a:extLst>
            </p:cNvPr>
            <p:cNvSpPr/>
            <p:nvPr/>
          </p:nvSpPr>
          <p:spPr>
            <a:xfrm>
              <a:off x="6847562" y="4913745"/>
              <a:ext cx="1708726" cy="10898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7432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E76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</a:t>
              </a:r>
              <a:r>
                <a:rPr lang="en-US" sz="4000" b="1" dirty="0">
                  <a:solidFill>
                    <a:srgbClr val="FE7600"/>
                  </a:solidFill>
                  <a:latin typeface="Calibri" panose="020F0502020204030204"/>
                </a:rPr>
                <a:t>0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E76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BF29989-EAAB-4487-99E1-674F013CF5C7}"/>
                </a:ext>
              </a:extLst>
            </p:cNvPr>
            <p:cNvSpPr/>
            <p:nvPr/>
          </p:nvSpPr>
          <p:spPr>
            <a:xfrm>
              <a:off x="6847562" y="4913745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E36BAF0-7C02-4851-AB7A-008837431F0E}"/>
              </a:ext>
            </a:extLst>
          </p:cNvPr>
          <p:cNvGrpSpPr/>
          <p:nvPr/>
        </p:nvGrpSpPr>
        <p:grpSpPr>
          <a:xfrm>
            <a:off x="6533896" y="3925952"/>
            <a:ext cx="1708726" cy="1089891"/>
            <a:chOff x="6847562" y="3632359"/>
            <a:chExt cx="1708726" cy="108989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8BC7888-6863-4218-87BF-D7CB8A74FFB4}"/>
                </a:ext>
              </a:extLst>
            </p:cNvPr>
            <p:cNvSpPr/>
            <p:nvPr/>
          </p:nvSpPr>
          <p:spPr>
            <a:xfrm>
              <a:off x="6847562" y="3632359"/>
              <a:ext cx="1708726" cy="10898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7432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000" b="1" dirty="0">
                  <a:solidFill>
                    <a:srgbClr val="B1DB15">
                      <a:lumMod val="75000"/>
                    </a:srgbClr>
                  </a:solidFill>
                  <a:latin typeface="Calibri" panose="020F0502020204030204"/>
                </a:rPr>
                <a:t>35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B1DB15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FB781A6-FB44-487A-BD53-7265F783BC0C}"/>
                </a:ext>
              </a:extLst>
            </p:cNvPr>
            <p:cNvSpPr/>
            <p:nvPr/>
          </p:nvSpPr>
          <p:spPr>
            <a:xfrm>
              <a:off x="6847562" y="3632359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328DDF-6920-480D-B088-E6A61B321EDF}"/>
              </a:ext>
            </a:extLst>
          </p:cNvPr>
          <p:cNvGrpSpPr/>
          <p:nvPr/>
        </p:nvGrpSpPr>
        <p:grpSpPr>
          <a:xfrm>
            <a:off x="6533896" y="2644566"/>
            <a:ext cx="1708726" cy="1089891"/>
            <a:chOff x="6847562" y="2350973"/>
            <a:chExt cx="1708726" cy="108989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BBCB376-3078-490F-A02D-EF009CDC3824}"/>
                </a:ext>
              </a:extLst>
            </p:cNvPr>
            <p:cNvSpPr/>
            <p:nvPr/>
          </p:nvSpPr>
          <p:spPr>
            <a:xfrm>
              <a:off x="6847562" y="2350973"/>
              <a:ext cx="1708726" cy="10898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7432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000" b="1" dirty="0">
                  <a:solidFill>
                    <a:srgbClr val="00A891"/>
                  </a:solidFill>
                  <a:latin typeface="Calibri" panose="020F0502020204030204"/>
                </a:rPr>
                <a:t>25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0A89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39B59E7-BFA4-452F-A81E-9A06F4E6BA15}"/>
                </a:ext>
              </a:extLst>
            </p:cNvPr>
            <p:cNvSpPr/>
            <p:nvPr/>
          </p:nvSpPr>
          <p:spPr>
            <a:xfrm>
              <a:off x="6847562" y="2350973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ADB996-7EFD-49C4-A265-7D00274ACEDC}"/>
              </a:ext>
            </a:extLst>
          </p:cNvPr>
          <p:cNvGrpSpPr/>
          <p:nvPr/>
        </p:nvGrpSpPr>
        <p:grpSpPr>
          <a:xfrm>
            <a:off x="6533896" y="1363180"/>
            <a:ext cx="1708726" cy="1089891"/>
            <a:chOff x="6847562" y="1069587"/>
            <a:chExt cx="1708726" cy="1089891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D1DDC67-8E81-40FF-8901-55D76A9E5577}"/>
                </a:ext>
              </a:extLst>
            </p:cNvPr>
            <p:cNvSpPr/>
            <p:nvPr/>
          </p:nvSpPr>
          <p:spPr>
            <a:xfrm>
              <a:off x="6847562" y="1069587"/>
              <a:ext cx="1708726" cy="10898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000" b="1" dirty="0">
                  <a:solidFill>
                    <a:srgbClr val="013D4D"/>
                  </a:solidFill>
                  <a:latin typeface="Calibri" panose="020F0502020204030204"/>
                </a:rPr>
                <a:t>10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013D4D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4D7C12-DB30-4438-A017-64A1655A4EAE}"/>
                </a:ext>
              </a:extLst>
            </p:cNvPr>
            <p:cNvSpPr/>
            <p:nvPr/>
          </p:nvSpPr>
          <p:spPr>
            <a:xfrm>
              <a:off x="6847562" y="1069587"/>
              <a:ext cx="229972" cy="1089891"/>
            </a:xfrm>
            <a:custGeom>
              <a:avLst/>
              <a:gdLst>
                <a:gd name="connsiteX0" fmla="*/ 181652 w 229972"/>
                <a:gd name="connsiteY0" fmla="*/ 0 h 1089891"/>
                <a:gd name="connsiteX1" fmla="*/ 229972 w 229972"/>
                <a:gd name="connsiteY1" fmla="*/ 0 h 1089891"/>
                <a:gd name="connsiteX2" fmla="*/ 229972 w 229972"/>
                <a:gd name="connsiteY2" fmla="*/ 1089891 h 1089891"/>
                <a:gd name="connsiteX3" fmla="*/ 181652 w 229972"/>
                <a:gd name="connsiteY3" fmla="*/ 1089891 h 1089891"/>
                <a:gd name="connsiteX4" fmla="*/ 0 w 229972"/>
                <a:gd name="connsiteY4" fmla="*/ 908239 h 1089891"/>
                <a:gd name="connsiteX5" fmla="*/ 0 w 229972"/>
                <a:gd name="connsiteY5" fmla="*/ 181652 h 1089891"/>
                <a:gd name="connsiteX6" fmla="*/ 181652 w 229972"/>
                <a:gd name="connsiteY6" fmla="*/ 0 h 1089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972" h="1089891">
                  <a:moveTo>
                    <a:pt x="181652" y="0"/>
                  </a:moveTo>
                  <a:lnTo>
                    <a:pt x="229972" y="0"/>
                  </a:lnTo>
                  <a:lnTo>
                    <a:pt x="229972" y="1089891"/>
                  </a:lnTo>
                  <a:lnTo>
                    <a:pt x="181652" y="1089891"/>
                  </a:lnTo>
                  <a:cubicBezTo>
                    <a:pt x="81328" y="1089891"/>
                    <a:pt x="0" y="1008563"/>
                    <a:pt x="0" y="908239"/>
                  </a:cubicBezTo>
                  <a:lnTo>
                    <a:pt x="0" y="181652"/>
                  </a:lnTo>
                  <a:cubicBezTo>
                    <a:pt x="0" y="81328"/>
                    <a:pt x="81328" y="0"/>
                    <a:pt x="181652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C33CB39-E894-4A47-8435-107DCDEFBDD4}"/>
              </a:ext>
            </a:extLst>
          </p:cNvPr>
          <p:cNvSpPr txBox="1"/>
          <p:nvPr/>
        </p:nvSpPr>
        <p:spPr>
          <a:xfrm>
            <a:off x="8408958" y="1492626"/>
            <a:ext cx="1880524" cy="83099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lvl="0"/>
            <a:r>
              <a:rPr lang="en-US" sz="2400" b="1" dirty="0">
                <a:solidFill>
                  <a:prstClr val="black"/>
                </a:solidFill>
              </a:rPr>
              <a:t>Product Enhancement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26DD3A-FC7E-420F-9E8E-760E9C6F7C5C}"/>
              </a:ext>
            </a:extLst>
          </p:cNvPr>
          <p:cNvSpPr txBox="1"/>
          <p:nvPr/>
        </p:nvSpPr>
        <p:spPr>
          <a:xfrm>
            <a:off x="8408957" y="2948863"/>
            <a:ext cx="1880524" cy="461665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lvl="0"/>
            <a:r>
              <a:rPr lang="en-US" sz="2400" b="1" dirty="0">
                <a:solidFill>
                  <a:prstClr val="black"/>
                </a:solidFill>
              </a:rPr>
              <a:t>Operation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6C964D-5D24-46A8-97D6-E5B6DB17B38D}"/>
              </a:ext>
            </a:extLst>
          </p:cNvPr>
          <p:cNvSpPr txBox="1"/>
          <p:nvPr/>
        </p:nvSpPr>
        <p:spPr>
          <a:xfrm>
            <a:off x="8408957" y="4240064"/>
            <a:ext cx="2658724" cy="461665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lvl="0"/>
            <a:r>
              <a:rPr lang="en-US" sz="2400" b="1" dirty="0">
                <a:solidFill>
                  <a:prstClr val="black"/>
                </a:solidFill>
              </a:rPr>
              <a:t>Sales &amp; Marketing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299E52-25C7-4CFD-9959-7103A6C9B1C2}"/>
              </a:ext>
            </a:extLst>
          </p:cNvPr>
          <p:cNvSpPr txBox="1"/>
          <p:nvPr/>
        </p:nvSpPr>
        <p:spPr>
          <a:xfrm>
            <a:off x="8408957" y="5490895"/>
            <a:ext cx="1880524" cy="461665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lvl="0"/>
            <a:r>
              <a:rPr lang="en-US" sz="2400" b="1" dirty="0">
                <a:solidFill>
                  <a:prstClr val="black"/>
                </a:solidFill>
              </a:rPr>
              <a:t>Infrastructure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1F8890A-2B40-46C7-81C8-1DBB381D3D3F}"/>
              </a:ext>
            </a:extLst>
          </p:cNvPr>
          <p:cNvSpPr/>
          <p:nvPr/>
        </p:nvSpPr>
        <p:spPr>
          <a:xfrm>
            <a:off x="2223537" y="3311206"/>
            <a:ext cx="1832393" cy="45307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$3 Million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5A082F-D784-49FB-8D32-DBBA6666BC73}"/>
              </a:ext>
            </a:extLst>
          </p:cNvPr>
          <p:cNvSpPr txBox="1"/>
          <p:nvPr/>
        </p:nvSpPr>
        <p:spPr>
          <a:xfrm>
            <a:off x="2072213" y="2941874"/>
            <a:ext cx="237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Required Investment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FB5E9D-70E0-44E6-9E78-CC059A201998}"/>
              </a:ext>
            </a:extLst>
          </p:cNvPr>
          <p:cNvSpPr txBox="1"/>
          <p:nvPr/>
        </p:nvSpPr>
        <p:spPr>
          <a:xfrm>
            <a:off x="6648882" y="931799"/>
            <a:ext cx="2535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Investment Distribution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4AD87F-933A-4A29-B6E1-2C65056C505E}"/>
              </a:ext>
            </a:extLst>
          </p:cNvPr>
          <p:cNvSpPr txBox="1"/>
          <p:nvPr/>
        </p:nvSpPr>
        <p:spPr>
          <a:xfrm>
            <a:off x="146997" y="75659"/>
            <a:ext cx="9245600" cy="754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1" indent="0" algn="l" defTabSz="121917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Investment Required &amp; Distribution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A1417C-040A-4A7B-9E4A-95DCB1518415}"/>
              </a:ext>
            </a:extLst>
          </p:cNvPr>
          <p:cNvGrpSpPr/>
          <p:nvPr/>
        </p:nvGrpSpPr>
        <p:grpSpPr>
          <a:xfrm>
            <a:off x="1670549" y="1756326"/>
            <a:ext cx="3043691" cy="3055833"/>
            <a:chOff x="1670549" y="1756326"/>
            <a:chExt cx="4269696" cy="4286729"/>
          </a:xfrm>
        </p:grpSpPr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CDB5516D-1653-4CF5-A16C-8B3421891EC0}"/>
                </a:ext>
              </a:extLst>
            </p:cNvPr>
            <p:cNvSpPr/>
            <p:nvPr/>
          </p:nvSpPr>
          <p:spPr>
            <a:xfrm rot="12593735">
              <a:off x="1670549" y="1756326"/>
              <a:ext cx="4194547" cy="4194547"/>
            </a:xfrm>
            <a:prstGeom prst="arc">
              <a:avLst>
                <a:gd name="adj1" fmla="val 16280135"/>
                <a:gd name="adj2" fmla="val 21581157"/>
              </a:avLst>
            </a:prstGeom>
            <a:noFill/>
            <a:ln w="373063" cap="rnd">
              <a:solidFill>
                <a:schemeClr val="accent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69947B9E-491C-49AB-8E5B-167454F9974A}"/>
                </a:ext>
              </a:extLst>
            </p:cNvPr>
            <p:cNvSpPr/>
            <p:nvPr/>
          </p:nvSpPr>
          <p:spPr>
            <a:xfrm rot="1169515">
              <a:off x="1745698" y="1848508"/>
              <a:ext cx="4194547" cy="4194547"/>
            </a:xfrm>
            <a:prstGeom prst="arc">
              <a:avLst>
                <a:gd name="adj1" fmla="val 16196098"/>
                <a:gd name="adj2" fmla="val 185616"/>
              </a:avLst>
            </a:prstGeom>
            <a:noFill/>
            <a:ln w="373063" cap="rnd">
              <a:solidFill>
                <a:srgbClr val="2DA2B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00F2D7E3-0AC6-4116-B7DE-E00C93C45A83}"/>
                </a:ext>
              </a:extLst>
            </p:cNvPr>
            <p:cNvSpPr/>
            <p:nvPr/>
          </p:nvSpPr>
          <p:spPr>
            <a:xfrm rot="17711952">
              <a:off x="1670551" y="1820867"/>
              <a:ext cx="4194547" cy="4194547"/>
            </a:xfrm>
            <a:prstGeom prst="arc">
              <a:avLst>
                <a:gd name="adj1" fmla="val 16548140"/>
                <a:gd name="adj2" fmla="val 433184"/>
              </a:avLst>
            </a:prstGeom>
            <a:noFill/>
            <a:ln w="373063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9ACC6C4C-338A-45DB-957F-C34906C435A8}"/>
                </a:ext>
              </a:extLst>
            </p:cNvPr>
            <p:cNvSpPr/>
            <p:nvPr/>
          </p:nvSpPr>
          <p:spPr>
            <a:xfrm rot="7776341">
              <a:off x="1745697" y="1848508"/>
              <a:ext cx="4194547" cy="4194547"/>
            </a:xfrm>
            <a:prstGeom prst="arc">
              <a:avLst>
                <a:gd name="adj1" fmla="val 15171687"/>
                <a:gd name="adj2" fmla="val 21581157"/>
              </a:avLst>
            </a:prstGeom>
            <a:noFill/>
            <a:ln w="373063" cap="rnd">
              <a:solidFill>
                <a:srgbClr val="39639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8C90301-7B78-498B-899C-E4390F861F50}"/>
              </a:ext>
            </a:extLst>
          </p:cNvPr>
          <p:cNvSpPr/>
          <p:nvPr/>
        </p:nvSpPr>
        <p:spPr>
          <a:xfrm>
            <a:off x="146997" y="5429517"/>
            <a:ext cx="5949003" cy="453074"/>
          </a:xfrm>
          <a:prstGeom prst="roundRect">
            <a:avLst/>
          </a:prstGeom>
          <a:solidFill>
            <a:schemeClr val="bg1"/>
          </a:solidFill>
          <a:ln>
            <a:solidFill>
              <a:srgbClr val="007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sz="2400" b="1" dirty="0">
                <a:solidFill>
                  <a:srgbClr val="007A37"/>
                </a:solidFill>
              </a:rPr>
              <a:t>Proposal: 30% Stake for 3 Million USD</a:t>
            </a:r>
          </a:p>
        </p:txBody>
      </p:sp>
    </p:spTree>
    <p:extLst>
      <p:ext uri="{BB962C8B-B14F-4D97-AF65-F5344CB8AC3E}">
        <p14:creationId xmlns:p14="http://schemas.microsoft.com/office/powerpoint/2010/main" val="26459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theme/theme1.xml><?xml version="1.0" encoding="utf-8"?>
<a:theme xmlns:a="http://schemas.openxmlformats.org/drawingml/2006/main" name="K-Pro Solutions Pvt. Ltd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plate PresentationGo">
  <a:themeElements>
    <a:clrScheme name="PGO">
      <a:dk1>
        <a:sysClr val="windowText" lastClr="000000"/>
      </a:dk1>
      <a:lt1>
        <a:sysClr val="window" lastClr="FFFFFF"/>
      </a:lt1>
      <a:dk2>
        <a:srgbClr val="063951"/>
      </a:dk2>
      <a:lt2>
        <a:srgbClr val="F0EEEF"/>
      </a:lt2>
      <a:accent1>
        <a:srgbClr val="00B09B"/>
      </a:accent1>
      <a:accent2>
        <a:srgbClr val="F36F13"/>
      </a:accent2>
      <a:accent3>
        <a:srgbClr val="0D95BC"/>
      </a:accent3>
      <a:accent4>
        <a:srgbClr val="EBCB38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emplate Presentation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emplate PresentationGo">
  <a:themeElements>
    <a:clrScheme name="PGO5">
      <a:dk1>
        <a:sysClr val="windowText" lastClr="000000"/>
      </a:dk1>
      <a:lt1>
        <a:sysClr val="window" lastClr="FFFFFF"/>
      </a:lt1>
      <a:dk2>
        <a:srgbClr val="013D4D"/>
      </a:dk2>
      <a:lt2>
        <a:srgbClr val="D3D3D3"/>
      </a:lt2>
      <a:accent1>
        <a:srgbClr val="00A891"/>
      </a:accent1>
      <a:accent2>
        <a:srgbClr val="D9126B"/>
      </a:accent2>
      <a:accent3>
        <a:srgbClr val="FE7600"/>
      </a:accent3>
      <a:accent4>
        <a:srgbClr val="B1DB15"/>
      </a:accent4>
      <a:accent5>
        <a:srgbClr val="854D82"/>
      </a:accent5>
      <a:accent6>
        <a:srgbClr val="FFE200"/>
      </a:accent6>
      <a:hlink>
        <a:srgbClr val="00B0F0"/>
      </a:hlink>
      <a:folHlink>
        <a:srgbClr val="0070C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74162</TotalTime>
  <Words>2209</Words>
  <Application>Microsoft Macintosh PowerPoint</Application>
  <PresentationFormat>Widescreen</PresentationFormat>
  <Paragraphs>453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22</vt:i4>
      </vt:variant>
    </vt:vector>
  </HeadingPairs>
  <TitlesOfParts>
    <vt:vector size="44" baseType="lpstr">
      <vt:lpstr>微软雅黑</vt:lpstr>
      <vt:lpstr>-apple-system</vt:lpstr>
      <vt:lpstr>Aptos</vt:lpstr>
      <vt:lpstr>Aptos Narrow</vt:lpstr>
      <vt:lpstr>Arial</vt:lpstr>
      <vt:lpstr>CabinSketch</vt:lpstr>
      <vt:lpstr>Calibri</vt:lpstr>
      <vt:lpstr>Calibri Light</vt:lpstr>
      <vt:lpstr>Helvetica</vt:lpstr>
      <vt:lpstr>Lato</vt:lpstr>
      <vt:lpstr>Lato Light</vt:lpstr>
      <vt:lpstr>Open Sans</vt:lpstr>
      <vt:lpstr>Symbol</vt:lpstr>
      <vt:lpstr>Tahoma</vt:lpstr>
      <vt:lpstr>Trebuchet MS</vt:lpstr>
      <vt:lpstr>Verdana</vt:lpstr>
      <vt:lpstr>Wingdings</vt:lpstr>
      <vt:lpstr>K-Pro Solutions Pvt. Ltd</vt:lpstr>
      <vt:lpstr>Template PresentationGo</vt:lpstr>
      <vt:lpstr>1_Template PresentationGo</vt:lpstr>
      <vt:lpstr>2_Template PresentationGo</vt:lpstr>
      <vt:lpstr>3_Template PresentationGo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Ranjan</dc:creator>
  <cp:lastModifiedBy>Alok Ranjan</cp:lastModifiedBy>
  <cp:revision>666</cp:revision>
  <dcterms:created xsi:type="dcterms:W3CDTF">2018-12-15T07:01:25Z</dcterms:created>
  <dcterms:modified xsi:type="dcterms:W3CDTF">2026-09-30T12:24:31Z</dcterms:modified>
</cp:coreProperties>
</file>